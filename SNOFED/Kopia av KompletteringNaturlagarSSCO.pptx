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E4AFEA5-0BF4-BE92-F517-B37FD2512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DA4EE363-533E-BFE1-29C5-268FC68E4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5FD8DA1-B432-060A-1194-4DDBED9E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D0E6C0D-45EC-C206-4035-EE91D170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7AB0AE0-AB7C-337C-FE85-D057CBBC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8650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96997A2-9D95-C651-23BE-2F41949A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768CBF0-AAFD-7A90-E6C2-11BC44A01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0FC3839-F470-D48A-9540-2B950754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01C8830-3A62-DCF1-D436-BE1A07C6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3776F54-9C15-0CFB-78CC-F750519C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6930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0818F1F-DECA-D8FB-D876-970833F8B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D8F5C90-C408-A02F-A62D-4FE86474D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0575EDA-E6F3-6465-1C31-4D186F6A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A785329-6167-F68D-5805-956BD3F5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B370B15-3F25-EADF-38E7-D255A224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394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CB22706-3BEC-2C4A-8173-4767FCA9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6C5F566-D562-D26E-F35D-D8CB64DBA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D5C3198-CCFC-096D-A69F-E70D3A74F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6BC3501-2DAB-5CAA-7917-A02B2B8C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E5A6802-5036-FB71-9368-939D08BD9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E0DF07F-6849-F58B-1052-A7F0000A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093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D5D99C4-C47E-3A28-76F5-AA2B8004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5D509D9-5DE6-F2DA-6E5C-3902CACBE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9B80AE4-5A1D-8D73-8E77-B7344425C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F6C36C8-8B79-4960-212B-378553B24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DA40ADED-BBAA-D08C-C768-814CA96F7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2E024C5F-C210-E198-E248-EF37202EE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C279DB49-8D34-730F-9408-E4052F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E936837E-F9D8-C3D9-B554-7AE05CF1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60513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4426FE2-C46A-CEEE-6363-A545042C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9D58B58-F4ED-59EB-7A16-11E5F770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1B86945-A57F-3D3E-CC5D-E22D1294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56948E4-9DBE-CB5E-0387-6C6F195B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310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78CA620F-6AF1-60F9-78D1-1794473F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4798908A-58C7-F527-5EB8-7677BDD7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CA2C522-1D26-E999-E6EC-FE594EBC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548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A4B52CB-613E-49A5-EFAC-98E29F399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233D122-8B99-B07F-4206-FB283D9D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96F3BF9-2FCF-9A02-2B6F-40336CD8F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C8E95AD-ACF0-5DD8-472D-F73BCCAA0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FAC9819-6EA1-2325-5282-1F0B22FE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A12D46CE-9566-0FC1-47EC-0B76C48A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021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8D63B85-70F9-61EC-3E44-05657C4E9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8CA83FDD-5449-96A6-E4EE-C3C0688DF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235E818-0838-B817-C439-4034D7CF5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85A6E66-19D6-47DD-C127-9045820B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34D0D61-8D5A-71CD-EB98-93FC4C18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319533E-050A-EAC8-15AD-13A679E7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602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50350F0-AB70-E96D-D035-DFA2709C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2C1BE2BF-DA91-0B16-9983-1C99DE465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E7DDD5D-5BD5-6A72-4DFC-4A5167EC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A428099-DD09-ED76-DD5E-E265DE84D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121B1FF-DE63-5A35-F02C-2C8DC30E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803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FE963359-59E8-C842-79AA-8019FFF5D6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847C1F89-2DC7-F022-E3BF-E36D9DFF1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471617A-CA77-E3A6-6E22-5B0ADBF3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4A6E55F-47CA-F3B2-6336-86A4B417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0AC7817-5B72-C7E4-4427-E1A0A5AB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989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15ED33B-8F8B-3783-093F-F1C5B943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DFFEF19-9A92-0EED-ACC5-35F5C4ACE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2D85A97-8EE1-15FC-B4BF-16C262BA6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B661C-ACE9-40A7-8C34-AD60790A4741}" type="datetimeFigureOut">
              <a:rPr lang="sv-SE" smtClean="0"/>
              <a:t>2025-10-12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A147A9B-03F5-36AE-DF27-6AAB44B44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7873E7-4705-810E-3D96-0009ABCFE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971F8-47DB-46EF-B040-FCB9AA26F07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184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Rak koppling 3">
            <a:extLst>
              <a:ext uri="{FF2B5EF4-FFF2-40B4-BE49-F238E27FC236}">
                <a16:creationId xmlns:a16="http://schemas.microsoft.com/office/drawing/2014/main" id="{C1DEE21F-3504-963C-798F-F222122545C7}"/>
              </a:ext>
            </a:extLst>
          </p:cNvPr>
          <p:cNvCxnSpPr/>
          <p:nvPr/>
        </p:nvCxnSpPr>
        <p:spPr>
          <a:xfrm>
            <a:off x="239748" y="170112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A6D241BA-D4FA-2F46-3C41-A2264CBFD2DA}"/>
              </a:ext>
            </a:extLst>
          </p:cNvPr>
          <p:cNvCxnSpPr>
            <a:cxnSpLocks/>
          </p:cNvCxnSpPr>
          <p:nvPr/>
        </p:nvCxnSpPr>
        <p:spPr>
          <a:xfrm>
            <a:off x="239748" y="178966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ak koppling 5">
            <a:extLst>
              <a:ext uri="{FF2B5EF4-FFF2-40B4-BE49-F238E27FC236}">
                <a16:creationId xmlns:a16="http://schemas.microsoft.com/office/drawing/2014/main" id="{A164D462-6F09-2C1F-2494-82EA905A646F}"/>
              </a:ext>
            </a:extLst>
          </p:cNvPr>
          <p:cNvCxnSpPr>
            <a:cxnSpLocks/>
          </p:cNvCxnSpPr>
          <p:nvPr/>
        </p:nvCxnSpPr>
        <p:spPr>
          <a:xfrm>
            <a:off x="11952252" y="170112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ak koppling 6">
            <a:extLst>
              <a:ext uri="{FF2B5EF4-FFF2-40B4-BE49-F238E27FC236}">
                <a16:creationId xmlns:a16="http://schemas.microsoft.com/office/drawing/2014/main" id="{A6D44004-80CF-506C-29B0-A0B0BDC92402}"/>
              </a:ext>
            </a:extLst>
          </p:cNvPr>
          <p:cNvCxnSpPr/>
          <p:nvPr/>
        </p:nvCxnSpPr>
        <p:spPr>
          <a:xfrm>
            <a:off x="239748" y="6696743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Bildobjekt 7">
            <a:extLst>
              <a:ext uri="{FF2B5EF4-FFF2-40B4-BE49-F238E27FC236}">
                <a16:creationId xmlns:a16="http://schemas.microsoft.com/office/drawing/2014/main" id="{33087F08-FBA4-E1B5-FC0B-C009F74A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latshållare för ClipArt 4" descr="Webbloggan.png">
            <a:extLst>
              <a:ext uri="{FF2B5EF4-FFF2-40B4-BE49-F238E27FC236}">
                <a16:creationId xmlns:a16="http://schemas.microsoft.com/office/drawing/2014/main" id="{6D4C9D83-F564-D7F9-B021-CBC03F940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79892" y="4405649"/>
            <a:ext cx="2412108" cy="2466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ubrik 15">
            <a:extLst>
              <a:ext uri="{FF2B5EF4-FFF2-40B4-BE49-F238E27FC236}">
                <a16:creationId xmlns:a16="http://schemas.microsoft.com/office/drawing/2014/main" id="{358AD634-2CA1-24BB-2DF4-8E2AE8272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8995" y="3499679"/>
            <a:ext cx="9966960" cy="3035808"/>
          </a:xfrm>
        </p:spPr>
        <p:txBody>
          <a:bodyPr/>
          <a:lstStyle/>
          <a:p>
            <a:pPr algn="ctr"/>
            <a:r>
              <a:rPr lang="sv-SE" dirty="0">
                <a:latin typeface="Rockwell Condensed" panose="02060603050405020104" pitchFamily="18" charset="0"/>
              </a:rPr>
              <a:t>N A T U R L A G A R</a:t>
            </a:r>
          </a:p>
        </p:txBody>
      </p:sp>
    </p:spTree>
    <p:extLst>
      <p:ext uri="{BB962C8B-B14F-4D97-AF65-F5344CB8AC3E}">
        <p14:creationId xmlns:p14="http://schemas.microsoft.com/office/powerpoint/2010/main" val="316111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ClipArt 4" descr="Webbloggan.png">
            <a:extLst>
              <a:ext uri="{FF2B5EF4-FFF2-40B4-BE49-F238E27FC236}">
                <a16:creationId xmlns:a16="http://schemas.microsoft.com/office/drawing/2014/main" id="{8827DF05-4004-A326-73F8-EB2DCB6F1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91677" y="4576481"/>
            <a:ext cx="2060575" cy="2106613"/>
          </a:xfrm>
          <a:prstGeom prst="rect">
            <a:avLst/>
          </a:prstGeom>
        </p:spPr>
      </p:pic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4CF34A22-A87F-4588-2C00-18125FEDC848}"/>
              </a:ext>
            </a:extLst>
          </p:cNvPr>
          <p:cNvCxnSpPr/>
          <p:nvPr/>
        </p:nvCxnSpPr>
        <p:spPr>
          <a:xfrm>
            <a:off x="239748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k koppling 3">
            <a:extLst>
              <a:ext uri="{FF2B5EF4-FFF2-40B4-BE49-F238E27FC236}">
                <a16:creationId xmlns:a16="http://schemas.microsoft.com/office/drawing/2014/main" id="{C37F5C83-21FB-09C4-9819-74C8778E1B4A}"/>
              </a:ext>
            </a:extLst>
          </p:cNvPr>
          <p:cNvCxnSpPr>
            <a:cxnSpLocks/>
          </p:cNvCxnSpPr>
          <p:nvPr/>
        </p:nvCxnSpPr>
        <p:spPr>
          <a:xfrm>
            <a:off x="239748" y="174171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3E99732F-83E6-8B90-AFD9-D76136895E1F}"/>
              </a:ext>
            </a:extLst>
          </p:cNvPr>
          <p:cNvCxnSpPr>
            <a:cxnSpLocks/>
          </p:cNvCxnSpPr>
          <p:nvPr/>
        </p:nvCxnSpPr>
        <p:spPr>
          <a:xfrm>
            <a:off x="11952252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ak koppling 5">
            <a:extLst>
              <a:ext uri="{FF2B5EF4-FFF2-40B4-BE49-F238E27FC236}">
                <a16:creationId xmlns:a16="http://schemas.microsoft.com/office/drawing/2014/main" id="{02E2E632-40DE-3FBF-C9FC-6A820648522F}"/>
              </a:ext>
            </a:extLst>
          </p:cNvPr>
          <p:cNvCxnSpPr/>
          <p:nvPr/>
        </p:nvCxnSpPr>
        <p:spPr>
          <a:xfrm>
            <a:off x="239748" y="6691948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ubrik 16">
            <a:extLst>
              <a:ext uri="{FF2B5EF4-FFF2-40B4-BE49-F238E27FC236}">
                <a16:creationId xmlns:a16="http://schemas.microsoft.com/office/drawing/2014/main" id="{54FC4644-4BE7-CFA3-ADE3-44D0C79774EB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>
                <a:latin typeface="Rockwell Condensed" panose="02060603050405020104" pitchFamily="18" charset="0"/>
              </a:rPr>
              <a:t>B R O M S S T R Ä C K A</a:t>
            </a:r>
            <a:br>
              <a:rPr lang="sv-SE">
                <a:latin typeface="Rockwell Condensed" panose="02060603050405020104" pitchFamily="18" charset="0"/>
              </a:rPr>
            </a:br>
            <a:r>
              <a:rPr lang="sv-SE" sz="2500">
                <a:latin typeface="Rockwell Condensed" panose="02060603050405020104" pitchFamily="18" charset="0"/>
              </a:rPr>
              <a:t>Faktorer som påverkar</a:t>
            </a:r>
            <a:endParaRPr lang="sv-SE" sz="2500" dirty="0">
              <a:latin typeface="Rockwell Condensed" panose="02060603050405020104" pitchFamily="18" charset="0"/>
            </a:endParaRPr>
          </a:p>
        </p:txBody>
      </p:sp>
      <p:sp>
        <p:nvSpPr>
          <p:cNvPr id="8" name="Platshållare för innehåll 2">
            <a:extLst>
              <a:ext uri="{FF2B5EF4-FFF2-40B4-BE49-F238E27FC236}">
                <a16:creationId xmlns:a16="http://schemas.microsoft.com/office/drawing/2014/main" id="{532C2051-F72D-9E78-38F1-F120DF7D8A01}"/>
              </a:ext>
            </a:extLst>
          </p:cNvPr>
          <p:cNvSpPr txBox="1">
            <a:spLocks/>
          </p:cNvSpPr>
          <p:nvPr/>
        </p:nvSpPr>
        <p:spPr>
          <a:xfrm>
            <a:off x="4638571" y="2404436"/>
            <a:ext cx="2914858" cy="30883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Blip>
                <a:blip r:embed="rId3"/>
              </a:buBlip>
            </a:pPr>
            <a:r>
              <a:rPr lang="sv-SE" sz="2500">
                <a:latin typeface="Rockwell" panose="02060603020205020403" pitchFamily="18" charset="0"/>
              </a:rPr>
              <a:t>Väglag</a:t>
            </a:r>
          </a:p>
          <a:p>
            <a:pPr>
              <a:buFont typeface="Arial" panose="020B0604020202020204" pitchFamily="34" charset="0"/>
              <a:buBlip>
                <a:blip r:embed="rId3"/>
              </a:buBlip>
            </a:pPr>
            <a:r>
              <a:rPr lang="sv-SE" sz="2500">
                <a:latin typeface="Rockwell" panose="02060603020205020403" pitchFamily="18" charset="0"/>
              </a:rPr>
              <a:t>Däckens grepp</a:t>
            </a:r>
          </a:p>
          <a:p>
            <a:pPr>
              <a:buFont typeface="Arial" panose="020B0604020202020204" pitchFamily="34" charset="0"/>
              <a:buBlip>
                <a:blip r:embed="rId3"/>
              </a:buBlip>
            </a:pPr>
            <a:r>
              <a:rPr lang="sv-SE" sz="2500">
                <a:latin typeface="Rockwell" panose="02060603020205020403" pitchFamily="18" charset="0"/>
              </a:rPr>
              <a:t>Bromsarna</a:t>
            </a:r>
          </a:p>
          <a:p>
            <a:pPr>
              <a:buFont typeface="Arial" panose="020B0604020202020204" pitchFamily="34" charset="0"/>
              <a:buBlip>
                <a:blip r:embed="rId3"/>
              </a:buBlip>
            </a:pPr>
            <a:r>
              <a:rPr lang="sv-SE" sz="2500">
                <a:latin typeface="Rockwell" panose="02060603020205020403" pitchFamily="18" charset="0"/>
              </a:rPr>
              <a:t>Vikt</a:t>
            </a:r>
          </a:p>
          <a:p>
            <a:pPr>
              <a:buFont typeface="Arial" panose="020B0604020202020204" pitchFamily="34" charset="0"/>
              <a:buBlip>
                <a:blip r:embed="rId3"/>
              </a:buBlip>
            </a:pPr>
            <a:r>
              <a:rPr lang="sv-SE" sz="2500">
                <a:latin typeface="Rockwell" panose="02060603020205020403" pitchFamily="18" charset="0"/>
              </a:rPr>
              <a:t>Lutning</a:t>
            </a:r>
          </a:p>
          <a:p>
            <a:pPr>
              <a:buFont typeface="Arial" panose="020B0604020202020204" pitchFamily="34" charset="0"/>
              <a:buBlip>
                <a:blip r:embed="rId3"/>
              </a:buBlip>
            </a:pPr>
            <a:r>
              <a:rPr lang="sv-SE" sz="2500">
                <a:latin typeface="Rockwell" panose="02060603020205020403" pitchFamily="18" charset="0"/>
              </a:rPr>
              <a:t>Hastighet</a:t>
            </a:r>
          </a:p>
          <a:p>
            <a:pPr>
              <a:buFont typeface="Arial" panose="020B0604020202020204" pitchFamily="34" charset="0"/>
              <a:buBlip>
                <a:blip r:embed="rId3"/>
              </a:buBlip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7701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ClipArt 4" descr="Webbloggan.png">
            <a:extLst>
              <a:ext uri="{FF2B5EF4-FFF2-40B4-BE49-F238E27FC236}">
                <a16:creationId xmlns:a16="http://schemas.microsoft.com/office/drawing/2014/main" id="{9730E931-B7CC-57C4-ABFC-6C23D7F09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91677" y="4576481"/>
            <a:ext cx="2060575" cy="2106613"/>
          </a:xfrm>
          <a:prstGeom prst="rect">
            <a:avLst/>
          </a:prstGeom>
        </p:spPr>
      </p:pic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9FF3BBD1-C9A3-94BD-4E2C-896E4C1951C0}"/>
              </a:ext>
            </a:extLst>
          </p:cNvPr>
          <p:cNvCxnSpPr/>
          <p:nvPr/>
        </p:nvCxnSpPr>
        <p:spPr>
          <a:xfrm>
            <a:off x="239748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k koppling 3">
            <a:extLst>
              <a:ext uri="{FF2B5EF4-FFF2-40B4-BE49-F238E27FC236}">
                <a16:creationId xmlns:a16="http://schemas.microsoft.com/office/drawing/2014/main" id="{6E957B6C-993F-E895-37EC-C4BC4F0C655A}"/>
              </a:ext>
            </a:extLst>
          </p:cNvPr>
          <p:cNvCxnSpPr>
            <a:cxnSpLocks/>
          </p:cNvCxnSpPr>
          <p:nvPr/>
        </p:nvCxnSpPr>
        <p:spPr>
          <a:xfrm>
            <a:off x="239748" y="174171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29D80DB3-0C71-B495-C516-88E8AB01091C}"/>
              </a:ext>
            </a:extLst>
          </p:cNvPr>
          <p:cNvCxnSpPr>
            <a:cxnSpLocks/>
          </p:cNvCxnSpPr>
          <p:nvPr/>
        </p:nvCxnSpPr>
        <p:spPr>
          <a:xfrm>
            <a:off x="11952252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ak koppling 5">
            <a:extLst>
              <a:ext uri="{FF2B5EF4-FFF2-40B4-BE49-F238E27FC236}">
                <a16:creationId xmlns:a16="http://schemas.microsoft.com/office/drawing/2014/main" id="{79DABFDB-F1A3-A1F2-8FEC-5763C988D1ED}"/>
              </a:ext>
            </a:extLst>
          </p:cNvPr>
          <p:cNvCxnSpPr/>
          <p:nvPr/>
        </p:nvCxnSpPr>
        <p:spPr>
          <a:xfrm>
            <a:off x="239748" y="6691948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ldobjekt 6">
            <a:extLst>
              <a:ext uri="{FF2B5EF4-FFF2-40B4-BE49-F238E27FC236}">
                <a16:creationId xmlns:a16="http://schemas.microsoft.com/office/drawing/2014/main" id="{3433A007-9A06-305D-DEEF-7448D2BFE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595" y="875094"/>
            <a:ext cx="4724809" cy="50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7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ClipArt 4" descr="Webbloggan.png">
            <a:extLst>
              <a:ext uri="{FF2B5EF4-FFF2-40B4-BE49-F238E27FC236}">
                <a16:creationId xmlns:a16="http://schemas.microsoft.com/office/drawing/2014/main" id="{7A79188B-10EF-AA66-511A-81D584D3E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91677" y="4576481"/>
            <a:ext cx="2060575" cy="2106613"/>
          </a:xfrm>
          <a:prstGeom prst="rect">
            <a:avLst/>
          </a:prstGeom>
        </p:spPr>
      </p:pic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5FDA2C73-EBC8-D3CB-6472-D8414F709B71}"/>
              </a:ext>
            </a:extLst>
          </p:cNvPr>
          <p:cNvCxnSpPr/>
          <p:nvPr/>
        </p:nvCxnSpPr>
        <p:spPr>
          <a:xfrm>
            <a:off x="239748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k koppling 3">
            <a:extLst>
              <a:ext uri="{FF2B5EF4-FFF2-40B4-BE49-F238E27FC236}">
                <a16:creationId xmlns:a16="http://schemas.microsoft.com/office/drawing/2014/main" id="{445F954B-1718-9CA8-206A-24311BD58C8D}"/>
              </a:ext>
            </a:extLst>
          </p:cNvPr>
          <p:cNvCxnSpPr>
            <a:cxnSpLocks/>
          </p:cNvCxnSpPr>
          <p:nvPr/>
        </p:nvCxnSpPr>
        <p:spPr>
          <a:xfrm>
            <a:off x="239748" y="174171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F11AF10D-44A2-B93F-DD7B-566599A82BE1}"/>
              </a:ext>
            </a:extLst>
          </p:cNvPr>
          <p:cNvCxnSpPr>
            <a:cxnSpLocks/>
          </p:cNvCxnSpPr>
          <p:nvPr/>
        </p:nvCxnSpPr>
        <p:spPr>
          <a:xfrm>
            <a:off x="11952252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ak koppling 5">
            <a:extLst>
              <a:ext uri="{FF2B5EF4-FFF2-40B4-BE49-F238E27FC236}">
                <a16:creationId xmlns:a16="http://schemas.microsoft.com/office/drawing/2014/main" id="{CE3DFAC7-5B07-8F44-6C79-14458DA8FF11}"/>
              </a:ext>
            </a:extLst>
          </p:cNvPr>
          <p:cNvCxnSpPr/>
          <p:nvPr/>
        </p:nvCxnSpPr>
        <p:spPr>
          <a:xfrm>
            <a:off x="239748" y="6691948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ubrik 16">
            <a:extLst>
              <a:ext uri="{FF2B5EF4-FFF2-40B4-BE49-F238E27FC236}">
                <a16:creationId xmlns:a16="http://schemas.microsoft.com/office/drawing/2014/main" id="{94696932-E158-3FF9-AE1F-29B2FE222C4E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 dirty="0">
                <a:latin typeface="Rockwell Condensed" panose="02060603050405020104" pitchFamily="18" charset="0"/>
              </a:rPr>
              <a:t>R Ä K N A  U T  B R O M S </a:t>
            </a:r>
            <a:r>
              <a:rPr lang="sv-SE" dirty="0" err="1">
                <a:latin typeface="Rockwell Condensed" panose="02060603050405020104" pitchFamily="18" charset="0"/>
              </a:rPr>
              <a:t>S</a:t>
            </a:r>
            <a:r>
              <a:rPr lang="sv-SE" dirty="0">
                <a:latin typeface="Rockwell Condensed" panose="02060603050405020104" pitchFamily="18" charset="0"/>
              </a:rPr>
              <a:t> T R Ä C K A N</a:t>
            </a: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DBC099F4-1602-DB41-7A33-8B170A223C25}"/>
              </a:ext>
            </a:extLst>
          </p:cNvPr>
          <p:cNvSpPr txBox="1"/>
          <p:nvPr/>
        </p:nvSpPr>
        <p:spPr>
          <a:xfrm>
            <a:off x="861721" y="2009665"/>
            <a:ext cx="102665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Bromssträckan ökar kvadratiskt mot hastigheten: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solidFill>
                  <a:srgbClr val="4B5563"/>
                </a:solidFill>
                <a:latin typeface="Rockwell" panose="02060603020205020403" pitchFamily="18" charset="0"/>
              </a:rPr>
              <a:t> </a:t>
            </a:r>
            <a:r>
              <a:rPr lang="sv-SE" dirty="0">
                <a:latin typeface="Rockwell" panose="02060603020205020403" pitchFamily="18" charset="0"/>
              </a:rPr>
              <a:t>2 gånger så hög hastighet =&gt; 4 gånger så lång bromssträcka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solidFill>
                  <a:srgbClr val="4B5563"/>
                </a:solidFill>
                <a:latin typeface="Rockwell" panose="02060603020205020403" pitchFamily="18" charset="0"/>
              </a:rPr>
              <a:t> </a:t>
            </a:r>
            <a:r>
              <a:rPr lang="sv-SE" dirty="0">
                <a:latin typeface="Rockwell" panose="02060603020205020403" pitchFamily="18" charset="0"/>
              </a:rPr>
              <a:t>3 gånger så hög hastighet =&gt; 9 gånger så lång bromssträcka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 Ungefärlig bromssträcka i meter: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 Ta bort 0:an från hastigheten. Multiplicera talet med sig själv och multiplicera sedan med 0,4</a:t>
            </a:r>
          </a:p>
          <a:p>
            <a:pPr>
              <a:buBlip>
                <a:blip r:embed="rId4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endParaRPr lang="sv-SE" sz="1800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5215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ClipArt 4" descr="Webbloggan.png">
            <a:extLst>
              <a:ext uri="{FF2B5EF4-FFF2-40B4-BE49-F238E27FC236}">
                <a16:creationId xmlns:a16="http://schemas.microsoft.com/office/drawing/2014/main" id="{C3A229F8-C950-3613-3489-71E6E754B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91677" y="4576481"/>
            <a:ext cx="2060575" cy="2106613"/>
          </a:xfrm>
          <a:prstGeom prst="rect">
            <a:avLst/>
          </a:prstGeom>
        </p:spPr>
      </p:pic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E8900DD3-B744-35CF-2272-C47988D5CE5D}"/>
              </a:ext>
            </a:extLst>
          </p:cNvPr>
          <p:cNvCxnSpPr/>
          <p:nvPr/>
        </p:nvCxnSpPr>
        <p:spPr>
          <a:xfrm>
            <a:off x="239748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k koppling 3">
            <a:extLst>
              <a:ext uri="{FF2B5EF4-FFF2-40B4-BE49-F238E27FC236}">
                <a16:creationId xmlns:a16="http://schemas.microsoft.com/office/drawing/2014/main" id="{DEC9EFC0-07EB-3874-18F2-2A03DEF5769A}"/>
              </a:ext>
            </a:extLst>
          </p:cNvPr>
          <p:cNvCxnSpPr>
            <a:cxnSpLocks/>
          </p:cNvCxnSpPr>
          <p:nvPr/>
        </p:nvCxnSpPr>
        <p:spPr>
          <a:xfrm>
            <a:off x="239748" y="174171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DDC0CBAE-091C-AA53-F533-74B119527964}"/>
              </a:ext>
            </a:extLst>
          </p:cNvPr>
          <p:cNvCxnSpPr>
            <a:cxnSpLocks/>
          </p:cNvCxnSpPr>
          <p:nvPr/>
        </p:nvCxnSpPr>
        <p:spPr>
          <a:xfrm>
            <a:off x="11952252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ak koppling 5">
            <a:extLst>
              <a:ext uri="{FF2B5EF4-FFF2-40B4-BE49-F238E27FC236}">
                <a16:creationId xmlns:a16="http://schemas.microsoft.com/office/drawing/2014/main" id="{AF2CC749-7380-6EEA-1FA3-AD637852C12B}"/>
              </a:ext>
            </a:extLst>
          </p:cNvPr>
          <p:cNvCxnSpPr/>
          <p:nvPr/>
        </p:nvCxnSpPr>
        <p:spPr>
          <a:xfrm>
            <a:off x="239748" y="6691948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latshållare för ClipArt 4" descr="Webbloggan.png">
            <a:extLst>
              <a:ext uri="{FF2B5EF4-FFF2-40B4-BE49-F238E27FC236}">
                <a16:creationId xmlns:a16="http://schemas.microsoft.com/office/drawing/2014/main" id="{32D181EE-311B-0D19-D2C8-527C0A7AB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91677" y="4576481"/>
            <a:ext cx="2060575" cy="2106613"/>
          </a:xfrm>
          <a:prstGeom prst="rect">
            <a:avLst/>
          </a:prstGeom>
        </p:spPr>
      </p:pic>
      <p:cxnSp>
        <p:nvCxnSpPr>
          <p:cNvPr id="8" name="Rak koppling 7">
            <a:extLst>
              <a:ext uri="{FF2B5EF4-FFF2-40B4-BE49-F238E27FC236}">
                <a16:creationId xmlns:a16="http://schemas.microsoft.com/office/drawing/2014/main" id="{AC5CF897-514F-805C-2AD8-D1AFE24352C9}"/>
              </a:ext>
            </a:extLst>
          </p:cNvPr>
          <p:cNvCxnSpPr/>
          <p:nvPr/>
        </p:nvCxnSpPr>
        <p:spPr>
          <a:xfrm>
            <a:off x="239748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koppling 8">
            <a:extLst>
              <a:ext uri="{FF2B5EF4-FFF2-40B4-BE49-F238E27FC236}">
                <a16:creationId xmlns:a16="http://schemas.microsoft.com/office/drawing/2014/main" id="{6B807FD2-72C5-8CC2-9B9C-9CC1EA66FA43}"/>
              </a:ext>
            </a:extLst>
          </p:cNvPr>
          <p:cNvCxnSpPr>
            <a:cxnSpLocks/>
          </p:cNvCxnSpPr>
          <p:nvPr/>
        </p:nvCxnSpPr>
        <p:spPr>
          <a:xfrm>
            <a:off x="239748" y="174171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ak koppling 9">
            <a:extLst>
              <a:ext uri="{FF2B5EF4-FFF2-40B4-BE49-F238E27FC236}">
                <a16:creationId xmlns:a16="http://schemas.microsoft.com/office/drawing/2014/main" id="{5DA8587F-8694-CDF0-65A6-D23713D8FEE6}"/>
              </a:ext>
            </a:extLst>
          </p:cNvPr>
          <p:cNvCxnSpPr>
            <a:cxnSpLocks/>
          </p:cNvCxnSpPr>
          <p:nvPr/>
        </p:nvCxnSpPr>
        <p:spPr>
          <a:xfrm>
            <a:off x="11952252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k koppling 10">
            <a:extLst>
              <a:ext uri="{FF2B5EF4-FFF2-40B4-BE49-F238E27FC236}">
                <a16:creationId xmlns:a16="http://schemas.microsoft.com/office/drawing/2014/main" id="{7A16EF1F-38E2-B5D6-AF38-DCF2B92829C0}"/>
              </a:ext>
            </a:extLst>
          </p:cNvPr>
          <p:cNvCxnSpPr/>
          <p:nvPr/>
        </p:nvCxnSpPr>
        <p:spPr>
          <a:xfrm>
            <a:off x="239748" y="6691948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ubrik 16">
            <a:extLst>
              <a:ext uri="{FF2B5EF4-FFF2-40B4-BE49-F238E27FC236}">
                <a16:creationId xmlns:a16="http://schemas.microsoft.com/office/drawing/2014/main" id="{12924356-A163-0ABA-3629-E1C5CB8F5E6A}"/>
              </a:ext>
            </a:extLst>
          </p:cNvPr>
          <p:cNvSpPr txBox="1">
            <a:spLocks/>
          </p:cNvSpPr>
          <p:nvPr/>
        </p:nvSpPr>
        <p:spPr>
          <a:xfrm>
            <a:off x="239745" y="484632"/>
            <a:ext cx="11712504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 dirty="0">
                <a:latin typeface="Rockwell Condensed" panose="02060603050405020104" pitchFamily="18" charset="0"/>
              </a:rPr>
              <a:t>R Ä K N A  U T  R E A K T I O N S </a:t>
            </a:r>
            <a:r>
              <a:rPr lang="sv-SE" dirty="0" err="1">
                <a:latin typeface="Rockwell Condensed" panose="02060603050405020104" pitchFamily="18" charset="0"/>
              </a:rPr>
              <a:t>S</a:t>
            </a:r>
            <a:r>
              <a:rPr lang="sv-SE" dirty="0">
                <a:latin typeface="Rockwell Condensed" panose="02060603050405020104" pitchFamily="18" charset="0"/>
              </a:rPr>
              <a:t> T R Ä C K A N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EBFF179F-4D70-67CD-8123-F27ECF997754}"/>
              </a:ext>
            </a:extLst>
          </p:cNvPr>
          <p:cNvSpPr txBox="1"/>
          <p:nvPr/>
        </p:nvSpPr>
        <p:spPr>
          <a:xfrm>
            <a:off x="651755" y="2083321"/>
            <a:ext cx="1164400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Reaktionssträckan är den sträcka snöskotern rör sig från det att du ser faran tills du börjar bromsa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Vanligtvis har en människa 1 sekund i reaktionstid 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Reaktionssträckan förändras proportionellt mot hastigheten: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2 gånger så hög hastighet =&gt; 2 gånger så lång reaktionssträcka</a:t>
            </a:r>
            <a:br>
              <a:rPr lang="sv-SE" dirty="0">
                <a:latin typeface="Rockwell" panose="02060603020205020403" pitchFamily="18" charset="0"/>
              </a:rPr>
            </a:br>
            <a:r>
              <a:rPr lang="sv-SE" dirty="0">
                <a:latin typeface="Rockwell" panose="02060603020205020403" pitchFamily="18" charset="0"/>
              </a:rPr>
              <a:t> </a:t>
            </a:r>
          </a:p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4 gånger så hög hastighet =&gt; 4 gånger så lång reaktionssträcka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r>
              <a:rPr lang="sv-SE" dirty="0">
                <a:latin typeface="Rockwell" panose="02060603020205020403" pitchFamily="18" charset="0"/>
              </a:rPr>
              <a:t> Stryk 0:an i hastigheten och multiplicera sedan med 3</a:t>
            </a:r>
          </a:p>
          <a:p>
            <a:pPr>
              <a:buBlip>
                <a:blip r:embed="rId4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endParaRPr lang="sv-SE" sz="1800" dirty="0">
              <a:latin typeface="Rockwell" panose="02060603020205020403" pitchFamily="18" charset="0"/>
            </a:endParaRPr>
          </a:p>
          <a:p>
            <a:pPr>
              <a:buBlip>
                <a:blip r:embed="rId4"/>
              </a:buBlip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3959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Rak koppling 1">
            <a:extLst>
              <a:ext uri="{FF2B5EF4-FFF2-40B4-BE49-F238E27FC236}">
                <a16:creationId xmlns:a16="http://schemas.microsoft.com/office/drawing/2014/main" id="{54E21D02-70A1-F564-5059-C89EAFF2C299}"/>
              </a:ext>
            </a:extLst>
          </p:cNvPr>
          <p:cNvCxnSpPr/>
          <p:nvPr/>
        </p:nvCxnSpPr>
        <p:spPr>
          <a:xfrm>
            <a:off x="239748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45B544A8-B259-1B0D-8B7A-127BC3CB7759}"/>
              </a:ext>
            </a:extLst>
          </p:cNvPr>
          <p:cNvCxnSpPr>
            <a:cxnSpLocks/>
          </p:cNvCxnSpPr>
          <p:nvPr/>
        </p:nvCxnSpPr>
        <p:spPr>
          <a:xfrm>
            <a:off x="239748" y="174171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k koppling 3">
            <a:extLst>
              <a:ext uri="{FF2B5EF4-FFF2-40B4-BE49-F238E27FC236}">
                <a16:creationId xmlns:a16="http://schemas.microsoft.com/office/drawing/2014/main" id="{8F8E1CD0-52B1-9596-F6CB-1F352A4ACD81}"/>
              </a:ext>
            </a:extLst>
          </p:cNvPr>
          <p:cNvCxnSpPr>
            <a:cxnSpLocks/>
          </p:cNvCxnSpPr>
          <p:nvPr/>
        </p:nvCxnSpPr>
        <p:spPr>
          <a:xfrm>
            <a:off x="11952252" y="165317"/>
            <a:ext cx="0" cy="6517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D646A1C4-C71C-9916-D93F-A459C12FB430}"/>
              </a:ext>
            </a:extLst>
          </p:cNvPr>
          <p:cNvCxnSpPr/>
          <p:nvPr/>
        </p:nvCxnSpPr>
        <p:spPr>
          <a:xfrm>
            <a:off x="239748" y="6691948"/>
            <a:ext cx="11712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latshållare för ClipArt 4" descr="Webbloggan.png">
            <a:extLst>
              <a:ext uri="{FF2B5EF4-FFF2-40B4-BE49-F238E27FC236}">
                <a16:creationId xmlns:a16="http://schemas.microsoft.com/office/drawing/2014/main" id="{73A3CFA5-A97E-C322-9DC5-453F17146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93355" y="4576481"/>
            <a:ext cx="2060575" cy="2106613"/>
          </a:xfrm>
          <a:prstGeom prst="rect">
            <a:avLst/>
          </a:prstGeom>
        </p:spPr>
      </p:pic>
      <p:sp>
        <p:nvSpPr>
          <p:cNvPr id="7" name="Rubrik 16">
            <a:extLst>
              <a:ext uri="{FF2B5EF4-FFF2-40B4-BE49-F238E27FC236}">
                <a16:creationId xmlns:a16="http://schemas.microsoft.com/office/drawing/2014/main" id="{ABA35D92-94F5-C175-7FAC-605390DE0FA9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>
                <a:latin typeface="Rockwell Condensed" panose="02060603050405020104" pitchFamily="18" charset="0"/>
              </a:rPr>
              <a:t>S T O P P S T R Ä C K A</a:t>
            </a:r>
            <a:endParaRPr lang="sv-SE" dirty="0">
              <a:latin typeface="Rockwell Condensed" panose="02060603050405020104" pitchFamily="18" charset="0"/>
            </a:endParaRP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45856F10-BBC0-97E9-EB44-29B682398EFD}"/>
              </a:ext>
            </a:extLst>
          </p:cNvPr>
          <p:cNvSpPr txBox="1"/>
          <p:nvPr/>
        </p:nvSpPr>
        <p:spPr>
          <a:xfrm>
            <a:off x="571535" y="2314009"/>
            <a:ext cx="11515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Blip>
                <a:blip r:embed="rId3"/>
              </a:buBlip>
            </a:pPr>
            <a:r>
              <a:rPr lang="sv-SE" dirty="0">
                <a:latin typeface="Rockwell" panose="02060603020205020403" pitchFamily="18" charset="0"/>
              </a:rPr>
              <a:t> Stoppsträckan är den sammanlagda sträckan från att du upptäcker faran till att snöskotern står helt stilla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r>
              <a:rPr lang="sv-SE" dirty="0">
                <a:latin typeface="Rockwell" panose="02060603020205020403" pitchFamily="18" charset="0"/>
              </a:rPr>
              <a:t> För att få fram den totala stoppsträckan behöver du då ha;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r>
              <a:rPr lang="sv-SE" dirty="0">
                <a:latin typeface="Rockwell" panose="02060603020205020403" pitchFamily="18" charset="0"/>
              </a:rPr>
              <a:t> Reaktionssträckan uträknad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r>
              <a:rPr lang="sv-SE" dirty="0">
                <a:latin typeface="Rockwell" panose="02060603020205020403" pitchFamily="18" charset="0"/>
              </a:rPr>
              <a:t> Bromssträckan uträknad</a:t>
            </a:r>
            <a:br>
              <a:rPr lang="sv-SE" dirty="0">
                <a:latin typeface="Rockwell" panose="02060603020205020403" pitchFamily="18" charset="0"/>
              </a:rPr>
            </a:b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r>
              <a:rPr lang="sv-SE" dirty="0">
                <a:latin typeface="Rockwell" panose="02060603020205020403" pitchFamily="18" charset="0"/>
              </a:rPr>
              <a:t> Reaktionssträcka + Bromssträcka = Stoppsträckan</a:t>
            </a:r>
          </a:p>
          <a:p>
            <a:pPr>
              <a:buBlip>
                <a:blip r:embed="rId3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endParaRPr lang="sv-SE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endParaRPr lang="sv-SE" dirty="0">
              <a:latin typeface="Rockwell" panose="02060603020205020403" pitchFamily="18" charset="0"/>
            </a:endParaRPr>
          </a:p>
          <a:p>
            <a:endParaRPr lang="sv-SE" sz="1800" dirty="0">
              <a:latin typeface="Rockwell" panose="02060603020205020403" pitchFamily="18" charset="0"/>
            </a:endParaRPr>
          </a:p>
          <a:p>
            <a:pPr>
              <a:buBlip>
                <a:blip r:embed="rId3"/>
              </a:buBlip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1771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Bredbild</PresentationFormat>
  <Paragraphs>37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Rockwell</vt:lpstr>
      <vt:lpstr>Rockwell Condensed</vt:lpstr>
      <vt:lpstr>Office-tema</vt:lpstr>
      <vt:lpstr>N A T U R L A G A R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Ida Wikström</dc:creator>
  <cp:lastModifiedBy>Ida Wikström</cp:lastModifiedBy>
  <cp:revision>1</cp:revision>
  <dcterms:created xsi:type="dcterms:W3CDTF">2025-10-12T08:53:42Z</dcterms:created>
  <dcterms:modified xsi:type="dcterms:W3CDTF">2025-10-12T08:54:10Z</dcterms:modified>
</cp:coreProperties>
</file>