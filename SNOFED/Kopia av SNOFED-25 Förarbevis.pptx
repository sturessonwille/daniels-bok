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69" roundtripDataSignature="AMtx7mhnNAWS2TJXnlKbmUsPUskvoSqa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774B6B-D313-4BBB-818F-FE93282032EB}">
  <a:tblStyle styleId="{23774B6B-D313-4BBB-818F-FE93282032E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customschemas.google.com/relationships/presentationmetadata" Target="metadata"/><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0" name="Google Shape;54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3" name="Google Shape;583;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2" name="Google Shape;652;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9" name="Google Shape;659;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4" name="Google Shape;674;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9" name="Google Shape;679;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8" name="Google Shape;708;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3" name="Google Shape;713;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9" name="Google Shape;729;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87070b61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87070b61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1" name="Google Shape;771;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8" name="Google Shape;778;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5" name="Google Shape;785;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5" name="Google Shape;815;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0" name="Google Shape;820;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7" name="Google Shape;827;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7" name="Google Shape;837;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7" name="Google Shape;857;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p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9" name="Google Shape;869;p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7" name="Google Shape;887;p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4" name="Google Shape;894;p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3" name="Google Shape;903;p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p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8" name="Google Shape;918;p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5" name="Google Shape;925;p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2" name="Google Shape;932;p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8" name="Google Shape;948;p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7" name="Google Shape;957;p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9" name="Google Shape;969;p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8" name="Google Shape;978;p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6" name="Google Shape;986;p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2" name="Google Shape;992;p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7" name="Google Shape;997;p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8" name="Google Shape;1008;p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8" name="Google Shape;1018;p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0" name="Google Shape;1030;p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2" name="Google Shape;1042;p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2" name="Google Shape;1052;p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7" name="Google Shape;1057;p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6" name="Google Shape;1066;p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4" name="Google Shape;1074;p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1" name="Google Shape;1081;p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8" name="Google Shape;1088;p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4" name="Google Shape;1094;p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9" name="Google Shape;1099;p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4" name="Google Shape;1104;p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9" name="Google Shape;1109;p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1" name="Google Shape;1121;p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9" name="Google Shape;1129;p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6" name="Google Shape;1156;p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3" name="Google Shape;1173;p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4" name="Google Shape;1184;p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1" name="Google Shape;1191;p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8" name="Google Shape;1198;p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6" name="Google Shape;1216;p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p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5" name="Google Shape;1245;p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6" name="Google Shape;1256;p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6" name="Google Shape;1266;p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p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2" name="Google Shape;1272;p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7" name="Google Shape;1277;p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5" name="Google Shape;1285;p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2" name="Google Shape;1292;p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7" name="Google Shape;1297;p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p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3" name="Google Shape;1303;p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8" name="Google Shape;1308;p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3" name="Google Shape;1313;p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8" name="Google Shape;1318;p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3" name="Google Shape;1323;p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8" name="Google Shape;1328;p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3" name="Google Shape;1333;p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8" name="Google Shape;1338;p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3" name="Google Shape;1343;p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8" name="Google Shape;1348;p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3" name="Google Shape;1353;p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0" name="Google Shape;1360;p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6" name="Google Shape;1366;p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9.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163"/>
          <p:cNvPicPr preferRelativeResize="0"/>
          <p:nvPr/>
        </p:nvPicPr>
        <p:blipFill rotWithShape="1">
          <a:blip r:embed="rId2">
            <a:alphaModFix/>
          </a:blip>
          <a:srcRect b="0" l="0" r="0" t="0"/>
          <a:stretch/>
        </p:blipFill>
        <p:spPr>
          <a:xfrm>
            <a:off x="0" y="0"/>
            <a:ext cx="9144003" cy="5107700"/>
          </a:xfrm>
          <a:prstGeom prst="rect">
            <a:avLst/>
          </a:prstGeom>
          <a:noFill/>
          <a:ln>
            <a:noFill/>
          </a:ln>
        </p:spPr>
      </p:pic>
      <p:sp>
        <p:nvSpPr>
          <p:cNvPr id="11" name="Google Shape;11;p163"/>
          <p:cNvSpPr txBox="1"/>
          <p:nvPr>
            <p:ph type="ctrTitle"/>
          </p:nvPr>
        </p:nvSpPr>
        <p:spPr>
          <a:xfrm>
            <a:off x="311708" y="186800"/>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16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1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64"/>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005281"/>
              </a:buClr>
              <a:buSzPts val="3000"/>
              <a:buNone/>
              <a:defRPr b="1" sz="3000">
                <a:solidFill>
                  <a:srgbClr val="00528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6" name="Google Shape;16;p164"/>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600"/>
              </a:spcBef>
              <a:spcAft>
                <a:spcPts val="0"/>
              </a:spcAft>
              <a:buSzPts val="1800"/>
              <a:buChar char="●"/>
              <a:defRPr b="1" sz="1800"/>
            </a:lvl1pPr>
            <a:lvl2pPr indent="-330200" lvl="1" marL="914400" algn="l">
              <a:lnSpc>
                <a:spcPct val="115000"/>
              </a:lnSpc>
              <a:spcBef>
                <a:spcPts val="600"/>
              </a:spcBef>
              <a:spcAft>
                <a:spcPts val="0"/>
              </a:spcAft>
              <a:buSzPts val="1600"/>
              <a:buChar char="○"/>
              <a:defRPr b="1"/>
            </a:lvl2pPr>
            <a:lvl3pPr indent="-317500" lvl="2" marL="1371600" algn="l">
              <a:lnSpc>
                <a:spcPct val="115000"/>
              </a:lnSpc>
              <a:spcBef>
                <a:spcPts val="600"/>
              </a:spcBef>
              <a:spcAft>
                <a:spcPts val="0"/>
              </a:spcAft>
              <a:buSzPts val="1400"/>
              <a:buChar char="■"/>
              <a:defRPr b="1"/>
            </a:lvl3pPr>
            <a:lvl4pPr indent="-304800" lvl="3" marL="1828800" algn="l">
              <a:lnSpc>
                <a:spcPct val="115000"/>
              </a:lnSpc>
              <a:spcBef>
                <a:spcPts val="600"/>
              </a:spcBef>
              <a:spcAft>
                <a:spcPts val="0"/>
              </a:spcAft>
              <a:buSzPts val="1200"/>
              <a:buChar char="●"/>
              <a:defRPr b="1" sz="1200"/>
            </a:lvl4pPr>
            <a:lvl5pPr indent="-292100" lvl="4" marL="2286000" algn="l">
              <a:lnSpc>
                <a:spcPct val="115000"/>
              </a:lnSpc>
              <a:spcBef>
                <a:spcPts val="600"/>
              </a:spcBef>
              <a:spcAft>
                <a:spcPts val="0"/>
              </a:spcAft>
              <a:buSzPts val="1000"/>
              <a:buChar char="○"/>
              <a:defRPr b="1" sz="1000"/>
            </a:lvl5pPr>
            <a:lvl6pPr indent="-292100" lvl="5" marL="2743200" algn="l">
              <a:lnSpc>
                <a:spcPct val="115000"/>
              </a:lnSpc>
              <a:spcBef>
                <a:spcPts val="600"/>
              </a:spcBef>
              <a:spcAft>
                <a:spcPts val="0"/>
              </a:spcAft>
              <a:buSzPts val="1000"/>
              <a:buChar char="■"/>
              <a:defRPr b="1" sz="1000"/>
            </a:lvl6pPr>
            <a:lvl7pPr indent="-292100" lvl="6" marL="3200400" algn="l">
              <a:lnSpc>
                <a:spcPct val="115000"/>
              </a:lnSpc>
              <a:spcBef>
                <a:spcPts val="600"/>
              </a:spcBef>
              <a:spcAft>
                <a:spcPts val="0"/>
              </a:spcAft>
              <a:buSzPts val="1000"/>
              <a:buChar char="●"/>
              <a:defRPr b="1" sz="1000"/>
            </a:lvl7pPr>
            <a:lvl8pPr indent="-292100" lvl="7" marL="3657600" algn="l">
              <a:lnSpc>
                <a:spcPct val="115000"/>
              </a:lnSpc>
              <a:spcBef>
                <a:spcPts val="600"/>
              </a:spcBef>
              <a:spcAft>
                <a:spcPts val="0"/>
              </a:spcAft>
              <a:buSzPts val="1000"/>
              <a:buChar char="○"/>
              <a:defRPr b="1" sz="1000"/>
            </a:lvl8pPr>
            <a:lvl9pPr indent="-292100" lvl="8" marL="4114800" algn="l">
              <a:lnSpc>
                <a:spcPct val="115000"/>
              </a:lnSpc>
              <a:spcBef>
                <a:spcPts val="600"/>
              </a:spcBef>
              <a:spcAft>
                <a:spcPts val="0"/>
              </a:spcAft>
              <a:buSzPts val="1000"/>
              <a:buChar char="■"/>
              <a:defRPr b="1" sz="1000"/>
            </a:lvl9pPr>
          </a:lstStyle>
          <a:p/>
        </p:txBody>
      </p:sp>
      <p:sp>
        <p:nvSpPr>
          <p:cNvPr id="17" name="Google Shape;17;p1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pic>
        <p:nvPicPr>
          <p:cNvPr id="18" name="Google Shape;18;p164"/>
          <p:cNvPicPr preferRelativeResize="0"/>
          <p:nvPr/>
        </p:nvPicPr>
        <p:blipFill rotWithShape="1">
          <a:blip r:embed="rId2">
            <a:alphaModFix/>
          </a:blip>
          <a:srcRect b="0" l="0" r="0" t="0"/>
          <a:stretch/>
        </p:blipFill>
        <p:spPr>
          <a:xfrm>
            <a:off x="0" y="12"/>
            <a:ext cx="9144000" cy="792225"/>
          </a:xfrm>
          <a:prstGeom prst="rect">
            <a:avLst/>
          </a:prstGeom>
          <a:noFill/>
          <a:ln>
            <a:noFill/>
          </a:ln>
        </p:spPr>
      </p:pic>
      <p:pic>
        <p:nvPicPr>
          <p:cNvPr id="19" name="Google Shape;19;p164"/>
          <p:cNvPicPr preferRelativeResize="0"/>
          <p:nvPr/>
        </p:nvPicPr>
        <p:blipFill rotWithShape="1">
          <a:blip r:embed="rId3">
            <a:alphaModFix/>
          </a:blip>
          <a:srcRect b="0" l="0" r="0" t="0"/>
          <a:stretch/>
        </p:blipFill>
        <p:spPr>
          <a:xfrm>
            <a:off x="0" y="4762750"/>
            <a:ext cx="9143999" cy="380750"/>
          </a:xfrm>
          <a:prstGeom prst="rect">
            <a:avLst/>
          </a:prstGeom>
          <a:noFill/>
          <a:ln>
            <a:noFill/>
          </a:ln>
        </p:spPr>
      </p:pic>
      <p:pic>
        <p:nvPicPr>
          <p:cNvPr id="20" name="Google Shape;20;p164"/>
          <p:cNvPicPr preferRelativeResize="0"/>
          <p:nvPr/>
        </p:nvPicPr>
        <p:blipFill rotWithShape="1">
          <a:blip r:embed="rId4">
            <a:alphaModFix/>
          </a:blip>
          <a:srcRect b="9360" l="0" r="0" t="-9360"/>
          <a:stretch/>
        </p:blipFill>
        <p:spPr>
          <a:xfrm>
            <a:off x="4297651" y="16601"/>
            <a:ext cx="670475" cy="670475"/>
          </a:xfrm>
          <a:prstGeom prst="rect">
            <a:avLst/>
          </a:prstGeom>
          <a:noFill/>
          <a:ln>
            <a:noFill/>
          </a:ln>
        </p:spPr>
      </p:pic>
      <p:sp>
        <p:nvSpPr>
          <p:cNvPr id="21" name="Google Shape;21;p164"/>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16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5281"/>
              </a:buClr>
              <a:buSzPts val="2800"/>
              <a:buNone/>
              <a:defRPr sz="2800">
                <a:solidFill>
                  <a:srgbClr val="005281"/>
                </a:solidFill>
              </a:defRPr>
            </a:lvl1pPr>
            <a:lvl2pPr lvl="1" algn="ctr">
              <a:lnSpc>
                <a:spcPct val="100000"/>
              </a:lnSpc>
              <a:spcBef>
                <a:spcPts val="0"/>
              </a:spcBef>
              <a:spcAft>
                <a:spcPts val="0"/>
              </a:spcAft>
              <a:buClr>
                <a:srgbClr val="005281"/>
              </a:buClr>
              <a:buSzPts val="3200"/>
              <a:buNone/>
              <a:defRPr sz="3200">
                <a:solidFill>
                  <a:srgbClr val="005281"/>
                </a:solidFill>
              </a:defRPr>
            </a:lvl2pPr>
            <a:lvl3pPr lvl="2" algn="ctr">
              <a:lnSpc>
                <a:spcPct val="100000"/>
              </a:lnSpc>
              <a:spcBef>
                <a:spcPts val="0"/>
              </a:spcBef>
              <a:spcAft>
                <a:spcPts val="0"/>
              </a:spcAft>
              <a:buClr>
                <a:srgbClr val="005281"/>
              </a:buClr>
              <a:buSzPts val="3200"/>
              <a:buNone/>
              <a:defRPr sz="3200">
                <a:solidFill>
                  <a:srgbClr val="005281"/>
                </a:solidFill>
              </a:defRPr>
            </a:lvl3pPr>
            <a:lvl4pPr lvl="3" algn="ctr">
              <a:lnSpc>
                <a:spcPct val="100000"/>
              </a:lnSpc>
              <a:spcBef>
                <a:spcPts val="0"/>
              </a:spcBef>
              <a:spcAft>
                <a:spcPts val="0"/>
              </a:spcAft>
              <a:buClr>
                <a:srgbClr val="005281"/>
              </a:buClr>
              <a:buSzPts val="3200"/>
              <a:buNone/>
              <a:defRPr sz="3200">
                <a:solidFill>
                  <a:srgbClr val="005281"/>
                </a:solidFill>
              </a:defRPr>
            </a:lvl4pPr>
            <a:lvl5pPr lvl="4" algn="ctr">
              <a:lnSpc>
                <a:spcPct val="100000"/>
              </a:lnSpc>
              <a:spcBef>
                <a:spcPts val="0"/>
              </a:spcBef>
              <a:spcAft>
                <a:spcPts val="0"/>
              </a:spcAft>
              <a:buClr>
                <a:srgbClr val="005281"/>
              </a:buClr>
              <a:buSzPts val="3200"/>
              <a:buNone/>
              <a:defRPr sz="3200">
                <a:solidFill>
                  <a:srgbClr val="005281"/>
                </a:solidFill>
              </a:defRPr>
            </a:lvl5pPr>
            <a:lvl6pPr lvl="5" algn="ctr">
              <a:lnSpc>
                <a:spcPct val="100000"/>
              </a:lnSpc>
              <a:spcBef>
                <a:spcPts val="0"/>
              </a:spcBef>
              <a:spcAft>
                <a:spcPts val="0"/>
              </a:spcAft>
              <a:buClr>
                <a:srgbClr val="005281"/>
              </a:buClr>
              <a:buSzPts val="3200"/>
              <a:buNone/>
              <a:defRPr sz="3200">
                <a:solidFill>
                  <a:srgbClr val="005281"/>
                </a:solidFill>
              </a:defRPr>
            </a:lvl6pPr>
            <a:lvl7pPr lvl="6" algn="ctr">
              <a:lnSpc>
                <a:spcPct val="100000"/>
              </a:lnSpc>
              <a:spcBef>
                <a:spcPts val="0"/>
              </a:spcBef>
              <a:spcAft>
                <a:spcPts val="0"/>
              </a:spcAft>
              <a:buClr>
                <a:srgbClr val="005281"/>
              </a:buClr>
              <a:buSzPts val="3200"/>
              <a:buNone/>
              <a:defRPr sz="3200">
                <a:solidFill>
                  <a:srgbClr val="005281"/>
                </a:solidFill>
              </a:defRPr>
            </a:lvl7pPr>
            <a:lvl8pPr lvl="7" algn="ctr">
              <a:lnSpc>
                <a:spcPct val="100000"/>
              </a:lnSpc>
              <a:spcBef>
                <a:spcPts val="0"/>
              </a:spcBef>
              <a:spcAft>
                <a:spcPts val="0"/>
              </a:spcAft>
              <a:buClr>
                <a:srgbClr val="005281"/>
              </a:buClr>
              <a:buSzPts val="3200"/>
              <a:buNone/>
              <a:defRPr sz="3200">
                <a:solidFill>
                  <a:srgbClr val="005281"/>
                </a:solidFill>
              </a:defRPr>
            </a:lvl8pPr>
            <a:lvl9pPr lvl="8" algn="ctr">
              <a:lnSpc>
                <a:spcPct val="100000"/>
              </a:lnSpc>
              <a:spcBef>
                <a:spcPts val="0"/>
              </a:spcBef>
              <a:spcAft>
                <a:spcPts val="0"/>
              </a:spcAft>
              <a:buClr>
                <a:srgbClr val="005281"/>
              </a:buClr>
              <a:buSzPts val="3200"/>
              <a:buNone/>
              <a:defRPr sz="3200">
                <a:solidFill>
                  <a:srgbClr val="005281"/>
                </a:solidFill>
              </a:defRPr>
            </a:lvl9pPr>
          </a:lstStyle>
          <a:p/>
        </p:txBody>
      </p:sp>
      <p:sp>
        <p:nvSpPr>
          <p:cNvPr id="24" name="Google Shape;24;p1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pic>
        <p:nvPicPr>
          <p:cNvPr id="25" name="Google Shape;25;p165"/>
          <p:cNvPicPr preferRelativeResize="0"/>
          <p:nvPr/>
        </p:nvPicPr>
        <p:blipFill rotWithShape="1">
          <a:blip r:embed="rId2">
            <a:alphaModFix/>
          </a:blip>
          <a:srcRect b="0" l="0" r="0" t="0"/>
          <a:stretch/>
        </p:blipFill>
        <p:spPr>
          <a:xfrm>
            <a:off x="0" y="12"/>
            <a:ext cx="9144000" cy="792225"/>
          </a:xfrm>
          <a:prstGeom prst="rect">
            <a:avLst/>
          </a:prstGeom>
          <a:noFill/>
          <a:ln>
            <a:noFill/>
          </a:ln>
        </p:spPr>
      </p:pic>
      <p:pic>
        <p:nvPicPr>
          <p:cNvPr id="26" name="Google Shape;26;p165"/>
          <p:cNvPicPr preferRelativeResize="0"/>
          <p:nvPr/>
        </p:nvPicPr>
        <p:blipFill rotWithShape="1">
          <a:blip r:embed="rId3">
            <a:alphaModFix/>
          </a:blip>
          <a:srcRect b="0" l="0" r="0" t="0"/>
          <a:stretch/>
        </p:blipFill>
        <p:spPr>
          <a:xfrm>
            <a:off x="0" y="4762750"/>
            <a:ext cx="9143999" cy="380750"/>
          </a:xfrm>
          <a:prstGeom prst="rect">
            <a:avLst/>
          </a:prstGeom>
          <a:noFill/>
          <a:ln>
            <a:noFill/>
          </a:ln>
        </p:spPr>
      </p:pic>
      <p:pic>
        <p:nvPicPr>
          <p:cNvPr id="27" name="Google Shape;27;p165"/>
          <p:cNvPicPr preferRelativeResize="0"/>
          <p:nvPr/>
        </p:nvPicPr>
        <p:blipFill rotWithShape="1">
          <a:blip r:embed="rId4">
            <a:alphaModFix/>
          </a:blip>
          <a:srcRect b="9360" l="0" r="0" t="-9360"/>
          <a:stretch/>
        </p:blipFill>
        <p:spPr>
          <a:xfrm>
            <a:off x="4297651" y="16601"/>
            <a:ext cx="670475" cy="670475"/>
          </a:xfrm>
          <a:prstGeom prst="rect">
            <a:avLst/>
          </a:prstGeom>
          <a:noFill/>
          <a:ln>
            <a:noFill/>
          </a:ln>
        </p:spPr>
      </p:pic>
      <p:sp>
        <p:nvSpPr>
          <p:cNvPr id="28" name="Google Shape;28;p165"/>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1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167"/>
          <p:cNvSpPr txBox="1"/>
          <p:nvPr>
            <p:ph type="title"/>
          </p:nvPr>
        </p:nvSpPr>
        <p:spPr>
          <a:xfrm>
            <a:off x="716250" y="821825"/>
            <a:ext cx="83049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9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16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16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1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168"/>
          <p:cNvSpPr txBox="1"/>
          <p:nvPr>
            <p:ph type="title"/>
          </p:nvPr>
        </p:nvSpPr>
        <p:spPr>
          <a:xfrm>
            <a:off x="716250" y="821825"/>
            <a:ext cx="83049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9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p1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16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1" name="Google Shape;41;p16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2" name="Google Shape;42;p1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17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5" name="Google Shape;45;p1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17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7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17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17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55600" lvl="0" marL="457200" algn="l">
              <a:lnSpc>
                <a:spcPct val="115000"/>
              </a:lnSpc>
              <a:spcBef>
                <a:spcPts val="0"/>
              </a:spcBef>
              <a:spcAft>
                <a:spcPts val="0"/>
              </a:spcAft>
              <a:buSzPts val="2000"/>
              <a:buChar char="●"/>
              <a:defRPr/>
            </a:lvl1pPr>
            <a:lvl2pPr indent="-330200" lvl="1" marL="914400" algn="l">
              <a:lnSpc>
                <a:spcPct val="115000"/>
              </a:lnSpc>
              <a:spcBef>
                <a:spcPts val="0"/>
              </a:spcBef>
              <a:spcAft>
                <a:spcPts val="0"/>
              </a:spcAft>
              <a:buSzPts val="16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1" name="Google Shape;51;p1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7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None/>
              <a:defRPr/>
            </a:lvl1pPr>
          </a:lstStyle>
          <a:p/>
        </p:txBody>
      </p:sp>
      <p:sp>
        <p:nvSpPr>
          <p:cNvPr id="54" name="Google Shape;54;p1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p1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55600" lvl="0" marL="457200" algn="ctr">
              <a:lnSpc>
                <a:spcPct val="115000"/>
              </a:lnSpc>
              <a:spcBef>
                <a:spcPts val="0"/>
              </a:spcBef>
              <a:spcAft>
                <a:spcPts val="0"/>
              </a:spcAft>
              <a:buSzPts val="2000"/>
              <a:buChar char="●"/>
              <a:defRPr/>
            </a:lvl1pPr>
            <a:lvl2pPr indent="-330200" lvl="1" marL="914400" algn="ctr">
              <a:lnSpc>
                <a:spcPct val="115000"/>
              </a:lnSpc>
              <a:spcBef>
                <a:spcPts val="0"/>
              </a:spcBef>
              <a:spcAft>
                <a:spcPts val="0"/>
              </a:spcAft>
              <a:buSzPts val="16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8" name="Google Shape;58;p1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2"/>
          <p:cNvSpPr txBox="1"/>
          <p:nvPr>
            <p:ph type="title"/>
          </p:nvPr>
        </p:nvSpPr>
        <p:spPr>
          <a:xfrm>
            <a:off x="716250" y="821825"/>
            <a:ext cx="83049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900"/>
              <a:buFont typeface="Arial"/>
              <a:buNone/>
              <a:defRPr b="1" i="0" sz="2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2"/>
          <p:cNvSpPr txBox="1"/>
          <p:nvPr>
            <p:ph idx="1" type="body"/>
          </p:nvPr>
        </p:nvSpPr>
        <p:spPr>
          <a:xfrm>
            <a:off x="653425" y="1529275"/>
            <a:ext cx="8367600" cy="3416400"/>
          </a:xfrm>
          <a:prstGeom prst="rect">
            <a:avLst/>
          </a:prstGeom>
          <a:noFill/>
          <a:ln>
            <a:noFill/>
          </a:ln>
        </p:spPr>
        <p:txBody>
          <a:bodyPr anchorCtr="0" anchor="t" bIns="91425" lIns="91425" spcFirstLastPara="1" rIns="91425" wrap="square" tIns="91425">
            <a:normAutofit/>
          </a:bodyPr>
          <a:lstStyle>
            <a:lvl1pPr indent="-355600" lvl="0" marL="457200" marR="0" rtl="0" algn="l">
              <a:lnSpc>
                <a:spcPct val="115000"/>
              </a:lnSpc>
              <a:spcBef>
                <a:spcPts val="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1pPr>
            <a:lvl2pPr indent="-330200" lvl="1" marL="9144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8.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www.youtube.com/watch?v=RDF0vBUpFHc" TargetMode="External"/><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35.jpg"/><Relationship Id="rId5" Type="http://schemas.openxmlformats.org/officeDocument/2006/relationships/image" Target="../media/image3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jp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3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www.youtube.com/watch?v=0jhJVXH4IhQ" TargetMode="External"/><Relationship Id="rId4"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www.youtube.com/watch?v=AuYJ-HCnHKE" TargetMode="External"/><Relationship Id="rId4" Type="http://schemas.openxmlformats.org/officeDocument/2006/relationships/image" Target="../media/image3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www.youtube.com/watch?v=jUJBrP6cMHM" TargetMode="External"/><Relationship Id="rId4" Type="http://schemas.openxmlformats.org/officeDocument/2006/relationships/image" Target="../media/image3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jpg"/><Relationship Id="rId4" Type="http://schemas.openxmlformats.org/officeDocument/2006/relationships/image" Target="../media/image3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1.jpg"/><Relationship Id="rId4" Type="http://schemas.openxmlformats.org/officeDocument/2006/relationships/image" Target="../media/image42.jpg"/><Relationship Id="rId5" Type="http://schemas.openxmlformats.org/officeDocument/2006/relationships/image" Target="../media/image60.jpg"/><Relationship Id="rId6" Type="http://schemas.openxmlformats.org/officeDocument/2006/relationships/image" Target="../media/image3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hyperlink" Target="http://www.youtube.com/watch?v=C7OmE1QRbDw" TargetMode="External"/><Relationship Id="rId4" Type="http://schemas.openxmlformats.org/officeDocument/2006/relationships/image" Target="../media/image5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7.png"/><Relationship Id="rId4" Type="http://schemas.openxmlformats.org/officeDocument/2006/relationships/image" Target="../media/image4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www.youtube.com/watch?v=SM8C0VsucTk" TargetMode="External"/><Relationship Id="rId4" Type="http://schemas.openxmlformats.org/officeDocument/2006/relationships/image" Target="../media/image4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6.jpg"/><Relationship Id="rId4" Type="http://schemas.openxmlformats.org/officeDocument/2006/relationships/image" Target="../media/image53.jpg"/><Relationship Id="rId5" Type="http://schemas.openxmlformats.org/officeDocument/2006/relationships/image" Target="../media/image58.jpg"/><Relationship Id="rId6" Type="http://schemas.openxmlformats.org/officeDocument/2006/relationships/image" Target="../media/image52.jpg"/><Relationship Id="rId7"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hyperlink" Target="http://www.youtube.com/watch?v=Urjuas4FwgE" TargetMode="External"/><Relationship Id="rId4" Type="http://schemas.openxmlformats.org/officeDocument/2006/relationships/image" Target="../media/image4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7.png"/><Relationship Id="rId4" Type="http://schemas.openxmlformats.org/officeDocument/2006/relationships/image" Target="../media/image61.png"/><Relationship Id="rId5" Type="http://schemas.openxmlformats.org/officeDocument/2006/relationships/image" Target="../media/image5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hyperlink" Target="http://www.youtube.com/watch?v=pmZGYh1aWng" TargetMode="External"/><Relationship Id="rId4" Type="http://schemas.openxmlformats.org/officeDocument/2006/relationships/image" Target="../media/image7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hyperlink" Target="http://www.youtube.com/watch?v=ul-dM9r-uYc" TargetMode="External"/><Relationship Id="rId4" Type="http://schemas.openxmlformats.org/officeDocument/2006/relationships/image" Target="../media/image5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2.jpg"/><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hyperlink" Target="http://www.youtube.com/watch?v=X6DBUjid88E" TargetMode="External"/><Relationship Id="rId4" Type="http://schemas.openxmlformats.org/officeDocument/2006/relationships/image" Target="../media/image6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5.jpg"/><Relationship Id="rId4" Type="http://schemas.openxmlformats.org/officeDocument/2006/relationships/hyperlink" Target="http://www.skfr.no"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79.png"/><Relationship Id="rId4" Type="http://schemas.openxmlformats.org/officeDocument/2006/relationships/image" Target="../media/image69.jpg"/><Relationship Id="rId5" Type="http://schemas.openxmlformats.org/officeDocument/2006/relationships/image" Target="../media/image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www.youtube.com/watch?v=qW9lReY3fIs" TargetMode="External"/><Relationship Id="rId4" Type="http://schemas.openxmlformats.org/officeDocument/2006/relationships/image" Target="../media/image7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hyperlink" Target="http://www.youtube.com/watch?v=PYWoF4-NAtY" TargetMode="External"/><Relationship Id="rId4" Type="http://schemas.openxmlformats.org/officeDocument/2006/relationships/image" Target="../media/image72.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7.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02.png"/><Relationship Id="rId4" Type="http://schemas.openxmlformats.org/officeDocument/2006/relationships/image" Target="../media/image8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7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hyperlink" Target="http://www.youtube.com/watch?v=6aQqK9CCNjA" TargetMode="External"/><Relationship Id="rId4" Type="http://schemas.openxmlformats.org/officeDocument/2006/relationships/image" Target="../media/image8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hyperlink" Target="http://www.youtube.com/watch?v=mWeV9zpwT4M" TargetMode="External"/><Relationship Id="rId4" Type="http://schemas.openxmlformats.org/officeDocument/2006/relationships/image" Target="../media/image86.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7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78.png"/><Relationship Id="rId4" Type="http://schemas.openxmlformats.org/officeDocument/2006/relationships/image" Target="../media/image73.png"/><Relationship Id="rId5" Type="http://schemas.openxmlformats.org/officeDocument/2006/relationships/image" Target="../media/image90.png"/><Relationship Id="rId6" Type="http://schemas.openxmlformats.org/officeDocument/2006/relationships/image" Target="../media/image8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83.png"/><Relationship Id="rId4" Type="http://schemas.openxmlformats.org/officeDocument/2006/relationships/image" Target="../media/image74.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91.jpg"/><Relationship Id="rId4" Type="http://schemas.openxmlformats.org/officeDocument/2006/relationships/image" Target="../media/image85.jpg"/><Relationship Id="rId11" Type="http://schemas.openxmlformats.org/officeDocument/2006/relationships/image" Target="../media/image100.png"/><Relationship Id="rId10" Type="http://schemas.openxmlformats.org/officeDocument/2006/relationships/image" Target="../media/image92.png"/><Relationship Id="rId9" Type="http://schemas.openxmlformats.org/officeDocument/2006/relationships/image" Target="../media/image106.png"/><Relationship Id="rId5" Type="http://schemas.openxmlformats.org/officeDocument/2006/relationships/image" Target="../media/image94.jpg"/><Relationship Id="rId6" Type="http://schemas.openxmlformats.org/officeDocument/2006/relationships/image" Target="../media/image98.jpg"/><Relationship Id="rId7" Type="http://schemas.openxmlformats.org/officeDocument/2006/relationships/image" Target="../media/image89.jpg"/><Relationship Id="rId8" Type="http://schemas.openxmlformats.org/officeDocument/2006/relationships/image" Target="../media/image10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07.jpg"/><Relationship Id="rId4" Type="http://schemas.openxmlformats.org/officeDocument/2006/relationships/image" Target="../media/image97.png"/><Relationship Id="rId10" Type="http://schemas.openxmlformats.org/officeDocument/2006/relationships/image" Target="../media/image88.png"/><Relationship Id="rId9" Type="http://schemas.openxmlformats.org/officeDocument/2006/relationships/image" Target="../media/image104.png"/><Relationship Id="rId5" Type="http://schemas.openxmlformats.org/officeDocument/2006/relationships/image" Target="../media/image93.png"/><Relationship Id="rId6" Type="http://schemas.openxmlformats.org/officeDocument/2006/relationships/image" Target="../media/image96.png"/><Relationship Id="rId7" Type="http://schemas.openxmlformats.org/officeDocument/2006/relationships/image" Target="../media/image108.png"/><Relationship Id="rId8" Type="http://schemas.openxmlformats.org/officeDocument/2006/relationships/image" Target="../media/image10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95.jpg"/><Relationship Id="rId4"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20.jpg"/><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hyperlink" Target="http://www.youtube.com/watch?v=yFwrPc2aPmE" TargetMode="External"/><Relationship Id="rId4" Type="http://schemas.openxmlformats.org/officeDocument/2006/relationships/image" Target="../media/image103.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10.png"/><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hyperlink" Target="http://www.youtube.com/watch?v=l3Ka8GjvD5I" TargetMode="External"/><Relationship Id="rId4" Type="http://schemas.openxmlformats.org/officeDocument/2006/relationships/image" Target="../media/image129.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11.jpg"/><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hyperlink" Target="http://www.youtube.com/watch?v=872WGZISppk" TargetMode="External"/><Relationship Id="rId4" Type="http://schemas.openxmlformats.org/officeDocument/2006/relationships/image" Target="../media/image119.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99.png"/><Relationship Id="rId4" Type="http://schemas.openxmlformats.org/officeDocument/2006/relationships/image" Target="../media/image1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hyperlink" Target="http://www.youtube.com/watch?v=0-TFpt-hBFs" TargetMode="External"/><Relationship Id="rId4" Type="http://schemas.openxmlformats.org/officeDocument/2006/relationships/image" Target="../media/image112.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hyperlink" Target="http://www.youtube.com/watch?v=cjoGWUk0_PY" TargetMode="External"/><Relationship Id="rId4" Type="http://schemas.openxmlformats.org/officeDocument/2006/relationships/image" Target="../media/image113.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3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0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1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11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 Id="rId3" Type="http://schemas.openxmlformats.org/officeDocument/2006/relationships/hyperlink" Target="http://www.youtube.com/watch?v=fhorvNVSuTk" TargetMode="External"/><Relationship Id="rId4" Type="http://schemas.openxmlformats.org/officeDocument/2006/relationships/image" Target="../media/image117.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 Id="rId3" Type="http://schemas.openxmlformats.org/officeDocument/2006/relationships/hyperlink" Target="http://www.youtube.com/watch?v=G6xV_srXkrU" TargetMode="External"/><Relationship Id="rId4" Type="http://schemas.openxmlformats.org/officeDocument/2006/relationships/image" Target="../media/image130.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28.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hyperlink" Target="https://www.youtube.com/watch?v=a1V1oMAUsE8&amp;list=PL86xsQeQvuXpKefPDPtnjL3e4cgccM4dr&amp;index=2" TargetMode="External"/><Relationship Id="rId4" Type="http://schemas.openxmlformats.org/officeDocument/2006/relationships/hyperlink" Target="https://www.youtube.com/watch?v=1GiAZgC_pew&amp;list=PL86xsQeQvuXpKefPDPtnjL3e4cgccM4dr&amp;index=3"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37.jpg"/><Relationship Id="rId4"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1.png"/><Relationship Id="rId4" Type="http://schemas.openxmlformats.org/officeDocument/2006/relationships/image" Target="../media/image12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27.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118.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15.jpg"/><Relationship Id="rId4"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44.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68.png"/><Relationship Id="rId4" Type="http://schemas.openxmlformats.org/officeDocument/2006/relationships/image" Target="../media/image1.png"/><Relationship Id="rId5" Type="http://schemas.openxmlformats.org/officeDocument/2006/relationships/image" Target="../media/image12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145.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png"/><Relationship Id="rId4" Type="http://schemas.openxmlformats.org/officeDocument/2006/relationships/image" Target="../media/image13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23.png"/><Relationship Id="rId4" Type="http://schemas.openxmlformats.org/officeDocument/2006/relationships/image" Target="../media/image126.png"/><Relationship Id="rId5" Type="http://schemas.openxmlformats.org/officeDocument/2006/relationships/image" Target="../media/image13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hyperlink" Target="http://www.youtube.com/watch?v=LX-s56mK-II" TargetMode="External"/><Relationship Id="rId4" Type="http://schemas.openxmlformats.org/officeDocument/2006/relationships/image" Target="../media/image135.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7.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7.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7.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 Id="rId3" Type="http://schemas.openxmlformats.org/officeDocument/2006/relationships/hyperlink" Target="http://www.youtube.com/watch?v=q3EQZU6QzEU" TargetMode="External"/><Relationship Id="rId4" Type="http://schemas.openxmlformats.org/officeDocument/2006/relationships/image" Target="../media/image140.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149.png"/><Relationship Id="rId4" Type="http://schemas.openxmlformats.org/officeDocument/2006/relationships/hyperlink" Target="http://t.ex"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79.png"/><Relationship Id="rId4" Type="http://schemas.openxmlformats.org/officeDocument/2006/relationships/image" Target="../media/image15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7.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7.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7.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7.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138.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14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15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7.xml"/><Relationship Id="rId3" Type="http://schemas.openxmlformats.org/officeDocument/2006/relationships/hyperlink" Target="http://www.youtube.com/watch?v=YQCZYkb_blk" TargetMode="External"/><Relationship Id="rId4" Type="http://schemas.openxmlformats.org/officeDocument/2006/relationships/image" Target="../media/image143.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132.png"/><Relationship Id="rId4" Type="http://schemas.openxmlformats.org/officeDocument/2006/relationships/image" Target="../media/image146.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139.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150.jpg"/><Relationship Id="rId4"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hyperlink" Target="http://www.youtube.com/watch?v=oqBG3ZwSEM4" TargetMode="External"/><Relationship Id="rId4" Type="http://schemas.openxmlformats.org/officeDocument/2006/relationships/image" Target="../media/image136.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147.jpg"/><Relationship Id="rId4" Type="http://schemas.openxmlformats.org/officeDocument/2006/relationships/image" Target="../media/image148.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7.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7.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7.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57.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185.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142.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153.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156.png"/><Relationship Id="rId4" Type="http://schemas.openxmlformats.org/officeDocument/2006/relationships/image" Target="../media/image16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152.png"/><Relationship Id="rId4" Type="http://schemas.openxmlformats.org/officeDocument/2006/relationships/image" Target="../media/image18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151.jpg"/><Relationship Id="rId4" Type="http://schemas.openxmlformats.org/officeDocument/2006/relationships/image" Target="../media/image162.jpg"/><Relationship Id="rId5" Type="http://schemas.openxmlformats.org/officeDocument/2006/relationships/image" Target="../media/image186.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16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155.png"/><Relationship Id="rId4" Type="http://schemas.openxmlformats.org/officeDocument/2006/relationships/image" Target="../media/image15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164.png"/><Relationship Id="rId4" Type="http://schemas.openxmlformats.org/officeDocument/2006/relationships/image" Target="../media/image17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17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17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17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17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18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17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180.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7.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7.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8.xml"/><Relationship Id="rId3" Type="http://schemas.openxmlformats.org/officeDocument/2006/relationships/hyperlink" Target="http://www.youtube.com/watch?v=yZMJrGrpmV4" TargetMode="External"/><Relationship Id="rId4" Type="http://schemas.openxmlformats.org/officeDocument/2006/relationships/image" Target="../media/image17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167.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165.jp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1.xml"/><Relationship Id="rId3" Type="http://schemas.openxmlformats.org/officeDocument/2006/relationships/hyperlink" Target="http://www.youtube.com/watch?v=1cUgNbpepbc" TargetMode="External"/><Relationship Id="rId4" Type="http://schemas.openxmlformats.org/officeDocument/2006/relationships/image" Target="../media/image173.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183.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3.xml"/><Relationship Id="rId3" Type="http://schemas.openxmlformats.org/officeDocument/2006/relationships/hyperlink" Target="http://www.youtube.com/watch?v=VIexZmVfQJI" TargetMode="External"/><Relationship Id="rId4" Type="http://schemas.openxmlformats.org/officeDocument/2006/relationships/image" Target="../media/image18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188.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166.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176.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190.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8.xml"/><Relationship Id="rId3" Type="http://schemas.openxmlformats.org/officeDocument/2006/relationships/hyperlink" Target="http://www.youtube.com/watch?v=3WgWFKEMuYA" TargetMode="External"/><Relationship Id="rId4" Type="http://schemas.openxmlformats.org/officeDocument/2006/relationships/image" Target="../media/image170.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9.xml"/><Relationship Id="rId3" Type="http://schemas.openxmlformats.org/officeDocument/2006/relationships/hyperlink" Target="http://www.youtube.com/watch?v=tLOOETvN8Xc" TargetMode="External"/><Relationship Id="rId4" Type="http://schemas.openxmlformats.org/officeDocument/2006/relationships/image" Target="../media/image182.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image" Target="../media/image179.jpg"/><Relationship Id="rId4"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187.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352900" y="339800"/>
            <a:ext cx="8520600" cy="1935900"/>
          </a:xfrm>
          <a:prstGeom prst="rect">
            <a:avLst/>
          </a:prstGeom>
          <a:noFill/>
          <a:ln>
            <a:noFill/>
          </a:ln>
          <a:effectLst>
            <a:outerShdw blurRad="42863" rotWithShape="0" algn="bl" dir="5400000" dist="19050">
              <a:schemeClr val="dk2">
                <a:alpha val="50196"/>
              </a:schemeClr>
            </a:outerShdw>
          </a:effectLst>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37566"/>
              <a:buNone/>
            </a:pPr>
            <a:r>
              <a:rPr lang="sv" sz="4200">
                <a:solidFill>
                  <a:srgbClr val="05A0D6"/>
                </a:solidFill>
              </a:rPr>
              <a:t>Välkommen till</a:t>
            </a:r>
            <a:br>
              <a:rPr lang="sv" sz="4200">
                <a:solidFill>
                  <a:srgbClr val="05A0D6"/>
                </a:solidFill>
              </a:rPr>
            </a:br>
            <a:r>
              <a:rPr lang="sv" sz="4200">
                <a:solidFill>
                  <a:srgbClr val="05A0D6"/>
                </a:solidFill>
              </a:rPr>
              <a:t>förarbevis- </a:t>
            </a:r>
            <a:endParaRPr sz="4200">
              <a:solidFill>
                <a:srgbClr val="05A0D6"/>
              </a:solidFill>
            </a:endParaRPr>
          </a:p>
          <a:p>
            <a:pPr indent="0" lvl="0" marL="0" rtl="0" algn="l">
              <a:lnSpc>
                <a:spcPct val="100000"/>
              </a:lnSpc>
              <a:spcBef>
                <a:spcPts val="0"/>
              </a:spcBef>
              <a:spcAft>
                <a:spcPts val="0"/>
              </a:spcAft>
              <a:buSzPct val="137566"/>
              <a:buNone/>
            </a:pPr>
            <a:r>
              <a:rPr lang="sv" sz="4200">
                <a:solidFill>
                  <a:srgbClr val="05A0D6"/>
                </a:solidFill>
              </a:rPr>
              <a:t>utbildningen!</a:t>
            </a:r>
            <a:endParaRPr sz="4200">
              <a:solidFill>
                <a:srgbClr val="05A0D6"/>
              </a:solidFill>
            </a:endParaRPr>
          </a:p>
        </p:txBody>
      </p:sp>
      <p:pic>
        <p:nvPicPr>
          <p:cNvPr id="64" name="Google Shape;64;p1"/>
          <p:cNvPicPr preferRelativeResize="0"/>
          <p:nvPr/>
        </p:nvPicPr>
        <p:blipFill rotWithShape="1">
          <a:blip r:embed="rId3">
            <a:alphaModFix/>
          </a:blip>
          <a:srcRect b="0" l="0" r="0" t="0"/>
          <a:stretch/>
        </p:blipFill>
        <p:spPr>
          <a:xfrm>
            <a:off x="6562175" y="609975"/>
            <a:ext cx="1849675" cy="1531900"/>
          </a:xfrm>
          <a:prstGeom prst="rect">
            <a:avLst/>
          </a:prstGeom>
          <a:noFill/>
          <a:ln>
            <a:noFill/>
          </a:ln>
        </p:spPr>
      </p:pic>
      <p:pic>
        <p:nvPicPr>
          <p:cNvPr id="65" name="Google Shape;65;p1"/>
          <p:cNvPicPr preferRelativeResize="0"/>
          <p:nvPr/>
        </p:nvPicPr>
        <p:blipFill rotWithShape="1">
          <a:blip r:embed="rId4">
            <a:alphaModFix/>
          </a:blip>
          <a:srcRect b="0" l="0" r="0" t="0"/>
          <a:stretch/>
        </p:blipFill>
        <p:spPr>
          <a:xfrm>
            <a:off x="434975" y="3519563"/>
            <a:ext cx="1935873" cy="972174"/>
          </a:xfrm>
          <a:prstGeom prst="rect">
            <a:avLst/>
          </a:prstGeom>
          <a:noFill/>
          <a:ln>
            <a:noFill/>
          </a:ln>
        </p:spPr>
      </p:pic>
      <p:pic>
        <p:nvPicPr>
          <p:cNvPr id="66" name="Google Shape;66;p1"/>
          <p:cNvPicPr preferRelativeResize="0"/>
          <p:nvPr/>
        </p:nvPicPr>
        <p:blipFill rotWithShape="1">
          <a:blip r:embed="rId5">
            <a:alphaModFix/>
          </a:blip>
          <a:srcRect b="0" l="0" r="0" t="0"/>
          <a:stretch/>
        </p:blipFill>
        <p:spPr>
          <a:xfrm>
            <a:off x="4023125" y="3065175"/>
            <a:ext cx="3287950" cy="1661275"/>
          </a:xfrm>
          <a:prstGeom prst="rect">
            <a:avLst/>
          </a:prstGeom>
          <a:noFill/>
          <a:ln>
            <a:noFill/>
          </a:ln>
          <a:effectLst>
            <a:outerShdw blurRad="314325" rotWithShape="0" algn="bl" dir="5400000" dist="47625">
              <a:srgbClr val="000000">
                <a:alpha val="89019"/>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2"/>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72" name="Google Shape;72;p2"/>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Kursinnehåll</a:t>
            </a:r>
            <a:endParaRPr/>
          </a:p>
        </p:txBody>
      </p:sp>
      <p:sp>
        <p:nvSpPr>
          <p:cNvPr id="73" name="Google Shape;73;p2"/>
          <p:cNvSpPr txBox="1"/>
          <p:nvPr>
            <p:ph idx="1" type="body"/>
          </p:nvPr>
        </p:nvSpPr>
        <p:spPr>
          <a:xfrm>
            <a:off x="2738275" y="1720800"/>
            <a:ext cx="1139700" cy="342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60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p:txBody>
      </p:sp>
      <p:sp>
        <p:nvSpPr>
          <p:cNvPr id="74" name="Google Shape;74;p2"/>
          <p:cNvSpPr txBox="1"/>
          <p:nvPr>
            <p:ph idx="1" type="body"/>
          </p:nvPr>
        </p:nvSpPr>
        <p:spPr>
          <a:xfrm>
            <a:off x="2738275" y="1720800"/>
            <a:ext cx="4885200" cy="2924100"/>
          </a:xfrm>
          <a:prstGeom prst="rect">
            <a:avLst/>
          </a:prstGeom>
          <a:noFill/>
          <a:ln>
            <a:noFill/>
          </a:ln>
          <a:effectLst>
            <a:outerShdw blurRad="57150" rotWithShape="0" algn="bl" dir="5400000" dist="19050">
              <a:srgbClr val="000000">
                <a:alpha val="50196"/>
              </a:srgbClr>
            </a:outerShdw>
            <a:reflection blurRad="0" dir="5400000" dist="38100" endA="0" fadeDir="5400012" kx="0" rotWithShape="0" algn="bl" stPos="0" sy="-100000" ky="0"/>
          </a:effectLst>
        </p:spPr>
        <p:txBody>
          <a:bodyPr anchorCtr="0" anchor="t" bIns="91425" lIns="91425" spcFirstLastPara="1" rIns="91425" wrap="square" tIns="91425">
            <a:normAutofit lnSpcReduction="10000"/>
          </a:bodyPr>
          <a:lstStyle/>
          <a:p>
            <a:pPr indent="-342900" lvl="0" marL="457200" rtl="0" algn="l">
              <a:lnSpc>
                <a:spcPct val="115000"/>
              </a:lnSpc>
              <a:spcBef>
                <a:spcPts val="600"/>
              </a:spcBef>
              <a:spcAft>
                <a:spcPts val="0"/>
              </a:spcAft>
              <a:buSzPts val="1800"/>
              <a:buChar char="➔"/>
            </a:pPr>
            <a:r>
              <a:rPr lang="sv"/>
              <a:t>Förare och fordonskännedom</a:t>
            </a:r>
            <a:endParaRPr/>
          </a:p>
          <a:p>
            <a:pPr indent="-342900" lvl="0" marL="457200" rtl="0" algn="l">
              <a:lnSpc>
                <a:spcPct val="115000"/>
              </a:lnSpc>
              <a:spcBef>
                <a:spcPts val="0"/>
              </a:spcBef>
              <a:spcAft>
                <a:spcPts val="0"/>
              </a:spcAft>
              <a:buSzPts val="1800"/>
              <a:buChar char="➔"/>
            </a:pPr>
            <a:r>
              <a:rPr lang="sv"/>
              <a:t>Miljö (påverkan, buller &amp; utsläpp)</a:t>
            </a:r>
            <a:endParaRPr/>
          </a:p>
          <a:p>
            <a:pPr indent="-342900" lvl="0" marL="457200" rtl="0" algn="l">
              <a:lnSpc>
                <a:spcPct val="115000"/>
              </a:lnSpc>
              <a:spcBef>
                <a:spcPts val="0"/>
              </a:spcBef>
              <a:spcAft>
                <a:spcPts val="0"/>
              </a:spcAft>
              <a:buSzPts val="1800"/>
              <a:buChar char="➔"/>
            </a:pPr>
            <a:r>
              <a:rPr lang="sv"/>
              <a:t>Trafikregler</a:t>
            </a:r>
            <a:endParaRPr/>
          </a:p>
          <a:p>
            <a:pPr indent="-342900" lvl="0" marL="457200" rtl="0" algn="l">
              <a:lnSpc>
                <a:spcPct val="115000"/>
              </a:lnSpc>
              <a:spcBef>
                <a:spcPts val="0"/>
              </a:spcBef>
              <a:spcAft>
                <a:spcPts val="0"/>
              </a:spcAft>
              <a:buSzPts val="1800"/>
              <a:buChar char="➔"/>
            </a:pPr>
            <a:r>
              <a:rPr lang="sv"/>
              <a:t>Straff &amp; Påföljder</a:t>
            </a:r>
            <a:endParaRPr/>
          </a:p>
          <a:p>
            <a:pPr indent="-342900" lvl="0" marL="457200" rtl="0" algn="l">
              <a:lnSpc>
                <a:spcPct val="115000"/>
              </a:lnSpc>
              <a:spcBef>
                <a:spcPts val="0"/>
              </a:spcBef>
              <a:spcAft>
                <a:spcPts val="0"/>
              </a:spcAft>
              <a:buSzPts val="1800"/>
              <a:buChar char="➔"/>
            </a:pPr>
            <a:r>
              <a:rPr lang="sv"/>
              <a:t>Trafiksäkerhet</a:t>
            </a:r>
            <a:endParaRPr/>
          </a:p>
          <a:p>
            <a:pPr indent="-342900" lvl="0" marL="457200" rtl="0" algn="l">
              <a:lnSpc>
                <a:spcPct val="115000"/>
              </a:lnSpc>
              <a:spcBef>
                <a:spcPts val="0"/>
              </a:spcBef>
              <a:spcAft>
                <a:spcPts val="0"/>
              </a:spcAft>
              <a:buSzPts val="1800"/>
              <a:buChar char="➔"/>
            </a:pPr>
            <a:r>
              <a:rPr lang="sv"/>
              <a:t>Åtgärder vid trafikolycka</a:t>
            </a:r>
            <a:endParaRPr/>
          </a:p>
          <a:p>
            <a:pPr indent="-342900" lvl="0" marL="457200" rtl="0" algn="l">
              <a:lnSpc>
                <a:spcPct val="115000"/>
              </a:lnSpc>
              <a:spcBef>
                <a:spcPts val="0"/>
              </a:spcBef>
              <a:spcAft>
                <a:spcPts val="0"/>
              </a:spcAft>
              <a:buSzPts val="1800"/>
              <a:buChar char="➔"/>
            </a:pPr>
            <a:r>
              <a:rPr lang="sv"/>
              <a:t>Personliga förutsättningar</a:t>
            </a:r>
            <a:endParaRPr/>
          </a:p>
          <a:p>
            <a:pPr indent="-342900" lvl="0" marL="457200" rtl="0" algn="l">
              <a:lnSpc>
                <a:spcPct val="115000"/>
              </a:lnSpc>
              <a:spcBef>
                <a:spcPts val="0"/>
              </a:spcBef>
              <a:spcAft>
                <a:spcPts val="0"/>
              </a:spcAft>
              <a:buSzPts val="1800"/>
              <a:buChar char="➔"/>
            </a:pPr>
            <a:r>
              <a:rPr lang="sv"/>
              <a:t>Manöverträning &amp; praktisk träning</a:t>
            </a:r>
            <a:endParaRPr/>
          </a:p>
          <a:p>
            <a:pPr indent="-342900" lvl="0" marL="457200" rtl="0" algn="l">
              <a:lnSpc>
                <a:spcPct val="115000"/>
              </a:lnSpc>
              <a:spcBef>
                <a:spcPts val="0"/>
              </a:spcBef>
              <a:spcAft>
                <a:spcPts val="0"/>
              </a:spcAft>
              <a:buSzPts val="1800"/>
              <a:buChar char="➔"/>
            </a:pPr>
            <a:r>
              <a:rPr lang="sv"/>
              <a:t>Examination (teoretiskt prov)</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Effect filter="fade" transition="in">
                                      <p:cBhvr>
                                        <p:cTn dur="1000"/>
                                        <p:tgtEl>
                                          <p:spTgt spid="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animEffect filter="fade" transition="in">
                                      <p:cBhvr>
                                        <p:cTn dur="1000"/>
                                        <p:tgtEl>
                                          <p:spTgt spid="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animEffect filter="fade" transition="in">
                                      <p:cBhvr>
                                        <p:cTn dur="1000"/>
                                        <p:tgtEl>
                                          <p:spTgt spid="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3" st="3"/>
                                            </p:txEl>
                                          </p:spTgt>
                                        </p:tgtEl>
                                        <p:attrNameLst>
                                          <p:attrName>style.visibility</p:attrName>
                                        </p:attrNameLst>
                                      </p:cBhvr>
                                      <p:to>
                                        <p:strVal val="visible"/>
                                      </p:to>
                                    </p:set>
                                    <p:animEffect filter="fade" transition="in">
                                      <p:cBhvr>
                                        <p:cTn dur="1000"/>
                                        <p:tgtEl>
                                          <p:spTgt spid="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4" st="4"/>
                                            </p:txEl>
                                          </p:spTgt>
                                        </p:tgtEl>
                                        <p:attrNameLst>
                                          <p:attrName>style.visibility</p:attrName>
                                        </p:attrNameLst>
                                      </p:cBhvr>
                                      <p:to>
                                        <p:strVal val="visible"/>
                                      </p:to>
                                    </p:set>
                                    <p:animEffect filter="fade" transition="in">
                                      <p:cBhvr>
                                        <p:cTn dur="1000"/>
                                        <p:tgtEl>
                                          <p:spTgt spid="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5" st="5"/>
                                            </p:txEl>
                                          </p:spTgt>
                                        </p:tgtEl>
                                        <p:attrNameLst>
                                          <p:attrName>style.visibility</p:attrName>
                                        </p:attrNameLst>
                                      </p:cBhvr>
                                      <p:to>
                                        <p:strVal val="visible"/>
                                      </p:to>
                                    </p:set>
                                    <p:animEffect filter="fade" transition="in">
                                      <p:cBhvr>
                                        <p:cTn dur="1000"/>
                                        <p:tgtEl>
                                          <p:spTgt spid="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6" st="6"/>
                                            </p:txEl>
                                          </p:spTgt>
                                        </p:tgtEl>
                                        <p:attrNameLst>
                                          <p:attrName>style.visibility</p:attrName>
                                        </p:attrNameLst>
                                      </p:cBhvr>
                                      <p:to>
                                        <p:strVal val="visible"/>
                                      </p:to>
                                    </p:set>
                                    <p:animEffect filter="fade" transition="in">
                                      <p:cBhvr>
                                        <p:cTn dur="1000"/>
                                        <p:tgtEl>
                                          <p:spTgt spid="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7" st="7"/>
                                            </p:txEl>
                                          </p:spTgt>
                                        </p:tgtEl>
                                        <p:attrNameLst>
                                          <p:attrName>style.visibility</p:attrName>
                                        </p:attrNameLst>
                                      </p:cBhvr>
                                      <p:to>
                                        <p:strVal val="visible"/>
                                      </p:to>
                                    </p:set>
                                    <p:animEffect filter="fade" transition="in">
                                      <p:cBhvr>
                                        <p:cTn dur="1000"/>
                                        <p:tgtEl>
                                          <p:spTgt spid="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8" st="8"/>
                                            </p:txEl>
                                          </p:spTgt>
                                        </p:tgtEl>
                                        <p:attrNameLst>
                                          <p:attrName>style.visibility</p:attrName>
                                        </p:attrNameLst>
                                      </p:cBhvr>
                                      <p:to>
                                        <p:strVal val="visible"/>
                                      </p:to>
                                    </p:set>
                                    <p:animEffect filter="fade" transition="in">
                                      <p:cBhvr>
                                        <p:cTn dur="1000"/>
                                        <p:tgtEl>
                                          <p:spTgt spid="7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3"/>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80" name="Google Shape;80;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sv"/>
              <a:t>FÖRARE OCH FORDONSKÄNNEDOM</a:t>
            </a:r>
            <a:endParaRPr/>
          </a:p>
        </p:txBody>
      </p:sp>
      <p:cxnSp>
        <p:nvCxnSpPr>
          <p:cNvPr id="81" name="Google Shape;81;p3"/>
          <p:cNvCxnSpPr/>
          <p:nvPr/>
        </p:nvCxnSpPr>
        <p:spPr>
          <a:xfrm>
            <a:off x="1135075" y="2957525"/>
            <a:ext cx="6897600" cy="0"/>
          </a:xfrm>
          <a:prstGeom prst="straightConnector1">
            <a:avLst/>
          </a:prstGeom>
          <a:noFill/>
          <a:ln cap="flat" cmpd="sng" w="19050">
            <a:solidFill>
              <a:srgbClr val="999999"/>
            </a:solidFill>
            <a:prstDash val="solid"/>
            <a:round/>
            <a:headEnd len="med" w="med" type="diamond"/>
            <a:tailEnd len="med" w="med" type="diamond"/>
          </a:ln>
        </p:spPr>
      </p:cxnSp>
      <p:sp>
        <p:nvSpPr>
          <p:cNvPr id="82" name="Google Shape;82;p3"/>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4"/>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88" name="Google Shape;88;p4"/>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89" name="Google Shape;89;p4"/>
          <p:cNvSpPr txBox="1"/>
          <p:nvPr>
            <p:ph idx="1" type="body"/>
          </p:nvPr>
        </p:nvSpPr>
        <p:spPr>
          <a:xfrm>
            <a:off x="703375" y="1651118"/>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Ge kunskap om snöskoterns konstruktion och funktion i stort, </a:t>
            </a:r>
            <a:br>
              <a:rPr lang="sv">
                <a:solidFill>
                  <a:schemeClr val="dk1"/>
                </a:solidFill>
              </a:rPr>
            </a:br>
            <a:r>
              <a:rPr lang="sv">
                <a:solidFill>
                  <a:schemeClr val="dk1"/>
                </a:solidFill>
              </a:rPr>
              <a:t>vikten av personlig utrustning samt belysa de miljömässiga- </a:t>
            </a:r>
            <a:br>
              <a:rPr lang="sv">
                <a:solidFill>
                  <a:schemeClr val="dk1"/>
                </a:solidFill>
              </a:rPr>
            </a:br>
            <a:r>
              <a:rPr lang="sv">
                <a:solidFill>
                  <a:schemeClr val="dk1"/>
                </a:solidFill>
              </a:rPr>
              <a:t>och ekonomiska faktorer som är kopplade till terrängtrafiken samt hantering av last.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5"/>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95" name="Google Shape;95;p5"/>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Målet är uppnått när eleven kan redogöra för:</a:t>
            </a:r>
            <a:endParaRPr/>
          </a:p>
        </p:txBody>
      </p:sp>
      <p:sp>
        <p:nvSpPr>
          <p:cNvPr id="96" name="Google Shape;96;p5"/>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konstruktion och funktion i stort, och har kunskap om lämplig klädsel &amp; utrustning samt hur man lastsäkrar medhavd last.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6"/>
          <p:cNvPicPr preferRelativeResize="0"/>
          <p:nvPr/>
        </p:nvPicPr>
        <p:blipFill rotWithShape="1">
          <a:blip r:embed="rId3">
            <a:alphaModFix/>
          </a:blip>
          <a:srcRect b="0" l="0" r="0" t="0"/>
          <a:stretch/>
        </p:blipFill>
        <p:spPr>
          <a:xfrm>
            <a:off x="5353200" y="1174000"/>
            <a:ext cx="3228825" cy="2344700"/>
          </a:xfrm>
          <a:prstGeom prst="rect">
            <a:avLst/>
          </a:prstGeom>
          <a:noFill/>
          <a:ln>
            <a:noFill/>
          </a:ln>
        </p:spPr>
      </p:pic>
      <p:pic>
        <p:nvPicPr>
          <p:cNvPr id="102" name="Google Shape;102;p6"/>
          <p:cNvPicPr preferRelativeResize="0"/>
          <p:nvPr/>
        </p:nvPicPr>
        <p:blipFill rotWithShape="1">
          <a:blip r:embed="rId4">
            <a:alphaModFix/>
          </a:blip>
          <a:srcRect b="0" l="0" r="0" t="0"/>
          <a:stretch/>
        </p:blipFill>
        <p:spPr>
          <a:xfrm>
            <a:off x="304725" y="1374875"/>
            <a:ext cx="3267150" cy="2178100"/>
          </a:xfrm>
          <a:prstGeom prst="rect">
            <a:avLst/>
          </a:prstGeom>
          <a:noFill/>
          <a:ln>
            <a:noFill/>
          </a:ln>
        </p:spPr>
      </p:pic>
      <p:sp>
        <p:nvSpPr>
          <p:cNvPr id="103" name="Google Shape;103;p6"/>
          <p:cNvSpPr txBox="1"/>
          <p:nvPr>
            <p:ph type="title"/>
          </p:nvPr>
        </p:nvSpPr>
        <p:spPr>
          <a:xfrm>
            <a:off x="1227600" y="932975"/>
            <a:ext cx="14679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Sport</a:t>
            </a:r>
            <a:endParaRPr/>
          </a:p>
        </p:txBody>
      </p:sp>
      <p:sp>
        <p:nvSpPr>
          <p:cNvPr id="104" name="Google Shape;104;p6"/>
          <p:cNvSpPr txBox="1"/>
          <p:nvPr>
            <p:ph idx="1" type="body"/>
          </p:nvPr>
        </p:nvSpPr>
        <p:spPr>
          <a:xfrm>
            <a:off x="377175" y="3306175"/>
            <a:ext cx="3802500" cy="1472400"/>
          </a:xfrm>
          <a:prstGeom prst="rect">
            <a:avLst/>
          </a:prstGeom>
          <a:noFill/>
          <a:ln>
            <a:noFill/>
          </a:ln>
        </p:spPr>
        <p:txBody>
          <a:bodyPr anchorCtr="0" anchor="t" bIns="91425" lIns="91425" spcFirstLastPara="1" rIns="91425" wrap="square" tIns="91425">
            <a:noAutofit/>
          </a:bodyPr>
          <a:lstStyle/>
          <a:p>
            <a:pPr indent="-172800" lvl="0" marL="172800" marR="0" rtl="0" algn="l">
              <a:lnSpc>
                <a:spcPct val="115000"/>
              </a:lnSpc>
              <a:spcBef>
                <a:spcPts val="0"/>
              </a:spcBef>
              <a:spcAft>
                <a:spcPts val="0"/>
              </a:spcAft>
              <a:buSzPts val="1400"/>
              <a:buChar char="●"/>
            </a:pPr>
            <a:r>
              <a:rPr lang="sv" sz="1400"/>
              <a:t>Kamhöjd 32-45 mm</a:t>
            </a:r>
            <a:endParaRPr sz="1400"/>
          </a:p>
          <a:p>
            <a:pPr indent="-172800" lvl="0" marL="172800" marR="0" rtl="0" algn="l">
              <a:lnSpc>
                <a:spcPct val="115000"/>
              </a:lnSpc>
              <a:spcBef>
                <a:spcPts val="0"/>
              </a:spcBef>
              <a:spcAft>
                <a:spcPts val="0"/>
              </a:spcAft>
              <a:buSzPts val="1400"/>
              <a:buChar char="●"/>
            </a:pPr>
            <a:r>
              <a:rPr lang="sv" sz="1400"/>
              <a:t>Mattlängd 137” (348 cm)</a:t>
            </a:r>
            <a:endParaRPr sz="1400"/>
          </a:p>
          <a:p>
            <a:pPr indent="-172800" lvl="0" marL="172800" marR="0" rtl="0" algn="l">
              <a:lnSpc>
                <a:spcPct val="115000"/>
              </a:lnSpc>
              <a:spcBef>
                <a:spcPts val="0"/>
              </a:spcBef>
              <a:spcAft>
                <a:spcPts val="0"/>
              </a:spcAft>
              <a:buSzPts val="1400"/>
              <a:buChar char="●"/>
            </a:pPr>
            <a:r>
              <a:rPr lang="sv" sz="1400"/>
              <a:t>Både 2 &amp; 4-takt förekommer</a:t>
            </a:r>
            <a:endParaRPr sz="1400"/>
          </a:p>
          <a:p>
            <a:pPr indent="-172800" lvl="0" marL="172800" marR="0" rtl="0" algn="l">
              <a:lnSpc>
                <a:spcPct val="115000"/>
              </a:lnSpc>
              <a:spcBef>
                <a:spcPts val="0"/>
              </a:spcBef>
              <a:spcAft>
                <a:spcPts val="0"/>
              </a:spcAft>
              <a:buSzPts val="1400"/>
              <a:buChar char="●"/>
            </a:pPr>
            <a:r>
              <a:rPr lang="sv" sz="1400"/>
              <a:t>Lämpar sig för sportigare körning </a:t>
            </a:r>
            <a:br>
              <a:rPr lang="sv" sz="1400"/>
            </a:br>
            <a:r>
              <a:rPr lang="sv" sz="1400"/>
              <a:t>på hårt &amp; ojämnt underlag samt tävling</a:t>
            </a:r>
            <a:endParaRPr sz="1400"/>
          </a:p>
        </p:txBody>
      </p:sp>
      <p:sp>
        <p:nvSpPr>
          <p:cNvPr id="105" name="Google Shape;105;p6"/>
          <p:cNvSpPr txBox="1"/>
          <p:nvPr>
            <p:ph type="title"/>
          </p:nvPr>
        </p:nvSpPr>
        <p:spPr>
          <a:xfrm>
            <a:off x="6036000" y="932975"/>
            <a:ext cx="14679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Touring</a:t>
            </a:r>
            <a:endParaRPr/>
          </a:p>
        </p:txBody>
      </p:sp>
      <p:sp>
        <p:nvSpPr>
          <p:cNvPr id="106" name="Google Shape;106;p6"/>
          <p:cNvSpPr txBox="1"/>
          <p:nvPr>
            <p:ph idx="1" type="body"/>
          </p:nvPr>
        </p:nvSpPr>
        <p:spPr>
          <a:xfrm>
            <a:off x="4466800" y="3306175"/>
            <a:ext cx="4503000" cy="1349700"/>
          </a:xfrm>
          <a:prstGeom prst="rect">
            <a:avLst/>
          </a:prstGeom>
          <a:noFill/>
          <a:ln>
            <a:noFill/>
          </a:ln>
        </p:spPr>
        <p:txBody>
          <a:bodyPr anchorCtr="0" anchor="t" bIns="91425" lIns="91425" spcFirstLastPara="1" rIns="91425" wrap="square" tIns="91425">
            <a:noAutofit/>
          </a:bodyPr>
          <a:lstStyle/>
          <a:p>
            <a:pPr indent="-139299" lvl="0" marL="280799" rtl="0" algn="l">
              <a:lnSpc>
                <a:spcPct val="115000"/>
              </a:lnSpc>
              <a:spcBef>
                <a:spcPts val="0"/>
              </a:spcBef>
              <a:spcAft>
                <a:spcPts val="0"/>
              </a:spcAft>
              <a:buSzPts val="1400"/>
              <a:buChar char="●"/>
            </a:pPr>
            <a:r>
              <a:rPr lang="sv" sz="1400"/>
              <a:t>Dubbeldyna &amp; ryggstöd med upp till </a:t>
            </a:r>
            <a:br>
              <a:rPr lang="sv" sz="1400"/>
            </a:br>
            <a:r>
              <a:rPr lang="sv" sz="1400"/>
              <a:t>två och ibland tre passagerare</a:t>
            </a:r>
            <a:endParaRPr sz="1400"/>
          </a:p>
          <a:p>
            <a:pPr indent="-139299" lvl="0" marL="280799" rtl="0" algn="l">
              <a:lnSpc>
                <a:spcPct val="115000"/>
              </a:lnSpc>
              <a:spcBef>
                <a:spcPts val="0"/>
              </a:spcBef>
              <a:spcAft>
                <a:spcPts val="0"/>
              </a:spcAft>
              <a:buSzPts val="1400"/>
              <a:buChar char="●"/>
            </a:pPr>
            <a:r>
              <a:rPr lang="sv" sz="1400"/>
              <a:t>Mattlängd 137-146” med kamhöjd 30-40 mm</a:t>
            </a:r>
            <a:endParaRPr sz="1400"/>
          </a:p>
          <a:p>
            <a:pPr indent="-139299" lvl="0" marL="280799" rtl="0" algn="l">
              <a:lnSpc>
                <a:spcPct val="115000"/>
              </a:lnSpc>
              <a:spcBef>
                <a:spcPts val="0"/>
              </a:spcBef>
              <a:spcAft>
                <a:spcPts val="0"/>
              </a:spcAft>
              <a:buSzPts val="1400"/>
              <a:buChar char="●"/>
            </a:pPr>
            <a:r>
              <a:rPr lang="sv" sz="1400"/>
              <a:t>Vanligtvis 4-takt</a:t>
            </a:r>
            <a:endParaRPr sz="1400"/>
          </a:p>
          <a:p>
            <a:pPr indent="-139299" lvl="0" marL="280799" rtl="0" algn="l">
              <a:lnSpc>
                <a:spcPct val="115000"/>
              </a:lnSpc>
              <a:spcBef>
                <a:spcPts val="0"/>
              </a:spcBef>
              <a:spcAft>
                <a:spcPts val="0"/>
              </a:spcAft>
              <a:buSzPts val="1400"/>
              <a:buChar char="●"/>
            </a:pPr>
            <a:r>
              <a:rPr lang="sv" sz="1400"/>
              <a:t>Extra komfortabel fjädring och dämpning</a:t>
            </a:r>
            <a:endParaRPr sz="1400"/>
          </a:p>
        </p:txBody>
      </p:sp>
      <p:sp>
        <p:nvSpPr>
          <p:cNvPr id="107" name="Google Shape;107;p6"/>
          <p:cNvSpPr txBox="1"/>
          <p:nvPr/>
        </p:nvSpPr>
        <p:spPr>
          <a:xfrm>
            <a:off x="3228900" y="1697075"/>
            <a:ext cx="2686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Skoter anpassad för led</a:t>
            </a:r>
            <a:endParaRPr b="1" i="0" sz="14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7"/>
          <p:cNvPicPr preferRelativeResize="0"/>
          <p:nvPr/>
        </p:nvPicPr>
        <p:blipFill rotWithShape="1">
          <a:blip r:embed="rId3">
            <a:alphaModFix/>
          </a:blip>
          <a:srcRect b="0" l="1214" r="3155" t="0"/>
          <a:stretch/>
        </p:blipFill>
        <p:spPr>
          <a:xfrm>
            <a:off x="4886900" y="1231150"/>
            <a:ext cx="3819600" cy="1907188"/>
          </a:xfrm>
          <a:prstGeom prst="rect">
            <a:avLst/>
          </a:prstGeom>
          <a:noFill/>
          <a:ln>
            <a:noFill/>
          </a:ln>
        </p:spPr>
      </p:pic>
      <p:pic>
        <p:nvPicPr>
          <p:cNvPr id="113" name="Google Shape;113;p7"/>
          <p:cNvPicPr preferRelativeResize="0"/>
          <p:nvPr/>
        </p:nvPicPr>
        <p:blipFill rotWithShape="1">
          <a:blip r:embed="rId4">
            <a:alphaModFix/>
          </a:blip>
          <a:srcRect b="0" l="9851" r="9859" t="0"/>
          <a:stretch/>
        </p:blipFill>
        <p:spPr>
          <a:xfrm>
            <a:off x="524703" y="1527275"/>
            <a:ext cx="3828223" cy="1907200"/>
          </a:xfrm>
          <a:prstGeom prst="rect">
            <a:avLst/>
          </a:prstGeom>
          <a:noFill/>
          <a:ln>
            <a:noFill/>
          </a:ln>
        </p:spPr>
      </p:pic>
      <p:sp>
        <p:nvSpPr>
          <p:cNvPr id="114" name="Google Shape;114;p7"/>
          <p:cNvSpPr txBox="1"/>
          <p:nvPr>
            <p:ph type="title"/>
          </p:nvPr>
        </p:nvSpPr>
        <p:spPr>
          <a:xfrm>
            <a:off x="0" y="9520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Clr>
                <a:schemeClr val="dk1"/>
              </a:buClr>
              <a:buSzPct val="36666"/>
              <a:buFont typeface="Arial"/>
              <a:buNone/>
            </a:pPr>
            <a:r>
              <a:rPr lang="sv"/>
              <a:t>Crossover</a:t>
            </a:r>
            <a:endParaRPr/>
          </a:p>
          <a:p>
            <a:pPr indent="0" lvl="0" marL="0" rtl="0" algn="ctr">
              <a:lnSpc>
                <a:spcPct val="115000"/>
              </a:lnSpc>
              <a:spcBef>
                <a:spcPts val="0"/>
              </a:spcBef>
              <a:spcAft>
                <a:spcPts val="0"/>
              </a:spcAft>
              <a:buClr>
                <a:schemeClr val="dk1"/>
              </a:buClr>
              <a:buSzPct val="36666"/>
              <a:buFont typeface="Arial"/>
              <a:buNone/>
            </a:pPr>
            <a:r>
              <a:t/>
            </a:r>
            <a:endParaRPr/>
          </a:p>
          <a:p>
            <a:pPr indent="0" lvl="0" marL="0" rtl="0" algn="ctr">
              <a:lnSpc>
                <a:spcPct val="100000"/>
              </a:lnSpc>
              <a:spcBef>
                <a:spcPts val="0"/>
              </a:spcBef>
              <a:spcAft>
                <a:spcPts val="0"/>
              </a:spcAft>
              <a:buSzPct val="111111"/>
              <a:buNone/>
            </a:pPr>
            <a:r>
              <a:t/>
            </a:r>
            <a:endParaRPr/>
          </a:p>
        </p:txBody>
      </p:sp>
      <p:sp>
        <p:nvSpPr>
          <p:cNvPr id="115" name="Google Shape;115;p7"/>
          <p:cNvSpPr txBox="1"/>
          <p:nvPr>
            <p:ph idx="1" type="body"/>
          </p:nvPr>
        </p:nvSpPr>
        <p:spPr>
          <a:xfrm>
            <a:off x="3454800" y="3655600"/>
            <a:ext cx="3122100" cy="1128600"/>
          </a:xfrm>
          <a:prstGeom prst="rect">
            <a:avLst/>
          </a:prstGeom>
          <a:noFill/>
          <a:ln>
            <a:noFill/>
          </a:ln>
        </p:spPr>
        <p:txBody>
          <a:bodyPr anchorCtr="0" anchor="t" bIns="91425" lIns="91425" spcFirstLastPara="1" rIns="91425" wrap="square" tIns="91425">
            <a:noAutofit/>
          </a:bodyPr>
          <a:lstStyle/>
          <a:p>
            <a:pPr indent="-172800" lvl="0" marL="172800" marR="0" rtl="0" algn="l">
              <a:lnSpc>
                <a:spcPct val="115000"/>
              </a:lnSpc>
              <a:spcBef>
                <a:spcPts val="0"/>
              </a:spcBef>
              <a:spcAft>
                <a:spcPts val="0"/>
              </a:spcAft>
              <a:buSzPts val="1400"/>
              <a:buChar char="●"/>
            </a:pPr>
            <a:r>
              <a:rPr lang="sv" sz="1400"/>
              <a:t>Mattlängder från 146” (371 cm)</a:t>
            </a:r>
            <a:endParaRPr sz="1400"/>
          </a:p>
          <a:p>
            <a:pPr indent="-172800" lvl="0" marL="172800" marR="0" rtl="0" algn="l">
              <a:lnSpc>
                <a:spcPct val="115000"/>
              </a:lnSpc>
              <a:spcBef>
                <a:spcPts val="0"/>
              </a:spcBef>
              <a:spcAft>
                <a:spcPts val="0"/>
              </a:spcAft>
              <a:buSzPts val="1400"/>
              <a:buChar char="●"/>
            </a:pPr>
            <a:r>
              <a:rPr lang="sv" sz="1400"/>
              <a:t>Kamhöjd 40-60 mm</a:t>
            </a:r>
            <a:endParaRPr sz="1400"/>
          </a:p>
          <a:p>
            <a:pPr indent="-172800" lvl="0" marL="172800" marR="0" rtl="0" algn="l">
              <a:lnSpc>
                <a:spcPct val="115000"/>
              </a:lnSpc>
              <a:spcBef>
                <a:spcPts val="0"/>
              </a:spcBef>
              <a:spcAft>
                <a:spcPts val="0"/>
              </a:spcAft>
              <a:buSzPts val="1400"/>
              <a:buChar char="●"/>
            </a:pPr>
            <a:r>
              <a:rPr lang="sv" sz="1400"/>
              <a:t>Både 2 &amp; 4-takt</a:t>
            </a:r>
            <a:endParaRPr sz="1400"/>
          </a:p>
          <a:p>
            <a:pPr indent="-172800" lvl="0" marL="172800" marR="0" rtl="0" algn="l">
              <a:lnSpc>
                <a:spcPct val="115000"/>
              </a:lnSpc>
              <a:spcBef>
                <a:spcPts val="0"/>
              </a:spcBef>
              <a:spcAft>
                <a:spcPts val="0"/>
              </a:spcAft>
              <a:buSzPts val="1400"/>
              <a:buChar char="●"/>
            </a:pPr>
            <a:r>
              <a:rPr lang="sv" sz="1400"/>
              <a:t>Mångsidig användning</a:t>
            </a:r>
            <a:endParaRPr sz="1400"/>
          </a:p>
        </p:txBody>
      </p:sp>
      <p:sp>
        <p:nvSpPr>
          <p:cNvPr id="116" name="Google Shape;116;p7"/>
          <p:cNvSpPr txBox="1"/>
          <p:nvPr/>
        </p:nvSpPr>
        <p:spPr>
          <a:xfrm>
            <a:off x="2662200" y="3138350"/>
            <a:ext cx="3819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Mellanting mellan led- &amp; mountainmaskin</a:t>
            </a:r>
            <a:endParaRPr b="1" i="0" sz="14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8"/>
          <p:cNvPicPr preferRelativeResize="0"/>
          <p:nvPr/>
        </p:nvPicPr>
        <p:blipFill rotWithShape="1">
          <a:blip r:embed="rId3">
            <a:alphaModFix/>
          </a:blip>
          <a:srcRect b="69" l="0" r="0" t="69"/>
          <a:stretch/>
        </p:blipFill>
        <p:spPr>
          <a:xfrm>
            <a:off x="4886900" y="1231150"/>
            <a:ext cx="3819600" cy="1907188"/>
          </a:xfrm>
          <a:prstGeom prst="rect">
            <a:avLst/>
          </a:prstGeom>
          <a:noFill/>
          <a:ln>
            <a:noFill/>
          </a:ln>
        </p:spPr>
      </p:pic>
      <p:pic>
        <p:nvPicPr>
          <p:cNvPr id="122" name="Google Shape;122;p8"/>
          <p:cNvPicPr preferRelativeResize="0"/>
          <p:nvPr/>
        </p:nvPicPr>
        <p:blipFill rotWithShape="1">
          <a:blip r:embed="rId4">
            <a:alphaModFix/>
          </a:blip>
          <a:srcRect b="17769" l="0" r="0" t="17776"/>
          <a:stretch/>
        </p:blipFill>
        <p:spPr>
          <a:xfrm>
            <a:off x="155425" y="1419225"/>
            <a:ext cx="4148823" cy="2066923"/>
          </a:xfrm>
          <a:prstGeom prst="rect">
            <a:avLst/>
          </a:prstGeom>
          <a:noFill/>
          <a:ln>
            <a:noFill/>
          </a:ln>
        </p:spPr>
      </p:pic>
      <p:sp>
        <p:nvSpPr>
          <p:cNvPr id="123" name="Google Shape;123;p8"/>
          <p:cNvSpPr txBox="1"/>
          <p:nvPr>
            <p:ph type="title"/>
          </p:nvPr>
        </p:nvSpPr>
        <p:spPr>
          <a:xfrm>
            <a:off x="0" y="9520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Mountain</a:t>
            </a:r>
            <a:endParaRPr/>
          </a:p>
          <a:p>
            <a:pPr indent="0" lvl="0" marL="0" rtl="0" algn="ctr">
              <a:lnSpc>
                <a:spcPct val="115000"/>
              </a:lnSpc>
              <a:spcBef>
                <a:spcPts val="0"/>
              </a:spcBef>
              <a:spcAft>
                <a:spcPts val="0"/>
              </a:spcAft>
              <a:buSzPct val="111111"/>
              <a:buNone/>
            </a:pPr>
            <a:r>
              <a:t/>
            </a:r>
            <a:endParaRPr/>
          </a:p>
          <a:p>
            <a:pPr indent="0" lvl="0" marL="0" rtl="0" algn="ctr">
              <a:lnSpc>
                <a:spcPct val="100000"/>
              </a:lnSpc>
              <a:spcBef>
                <a:spcPts val="0"/>
              </a:spcBef>
              <a:spcAft>
                <a:spcPts val="0"/>
              </a:spcAft>
              <a:buSzPct val="111111"/>
              <a:buNone/>
            </a:pPr>
            <a:r>
              <a:t/>
            </a:r>
            <a:endParaRPr/>
          </a:p>
        </p:txBody>
      </p:sp>
      <p:sp>
        <p:nvSpPr>
          <p:cNvPr id="124" name="Google Shape;124;p8"/>
          <p:cNvSpPr txBox="1"/>
          <p:nvPr>
            <p:ph idx="1" type="body"/>
          </p:nvPr>
        </p:nvSpPr>
        <p:spPr>
          <a:xfrm>
            <a:off x="2180400" y="3402275"/>
            <a:ext cx="4966800" cy="1521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sv" sz="1400"/>
              <a:t>Smalare mellan skidorna</a:t>
            </a:r>
            <a:endParaRPr sz="1400"/>
          </a:p>
          <a:p>
            <a:pPr indent="-317500" lvl="0" marL="457200" rtl="0" algn="l">
              <a:lnSpc>
                <a:spcPct val="115000"/>
              </a:lnSpc>
              <a:spcBef>
                <a:spcPts val="0"/>
              </a:spcBef>
              <a:spcAft>
                <a:spcPts val="0"/>
              </a:spcAft>
              <a:buSzPts val="1400"/>
              <a:buChar char="●"/>
            </a:pPr>
            <a:r>
              <a:rPr lang="sv" sz="1400"/>
              <a:t>Mattlängder 154” (391 cm) vanligt förekommande</a:t>
            </a:r>
            <a:endParaRPr sz="1400"/>
          </a:p>
          <a:p>
            <a:pPr indent="-317500" lvl="0" marL="457200" rtl="0" algn="l">
              <a:lnSpc>
                <a:spcPct val="115000"/>
              </a:lnSpc>
              <a:spcBef>
                <a:spcPts val="0"/>
              </a:spcBef>
              <a:spcAft>
                <a:spcPts val="0"/>
              </a:spcAft>
              <a:buSzPts val="1400"/>
              <a:buChar char="●"/>
            </a:pPr>
            <a:r>
              <a:rPr lang="sv" sz="1400"/>
              <a:t>Kamhöjd 57-85 mm</a:t>
            </a:r>
            <a:endParaRPr sz="1400"/>
          </a:p>
          <a:p>
            <a:pPr indent="-317500" lvl="0" marL="457200" rtl="0" algn="l">
              <a:lnSpc>
                <a:spcPct val="115000"/>
              </a:lnSpc>
              <a:spcBef>
                <a:spcPts val="0"/>
              </a:spcBef>
              <a:spcAft>
                <a:spcPts val="0"/>
              </a:spcAft>
              <a:buSzPts val="1400"/>
              <a:buChar char="●"/>
            </a:pPr>
            <a:r>
              <a:rPr lang="sv" sz="1400"/>
              <a:t>2-takt vanligast</a:t>
            </a:r>
            <a:endParaRPr sz="1400"/>
          </a:p>
          <a:p>
            <a:pPr indent="-317500" lvl="0" marL="457200" rtl="0" algn="l">
              <a:lnSpc>
                <a:spcPct val="115000"/>
              </a:lnSpc>
              <a:spcBef>
                <a:spcPts val="0"/>
              </a:spcBef>
              <a:spcAft>
                <a:spcPts val="0"/>
              </a:spcAft>
              <a:buSzPts val="1400"/>
              <a:buChar char="●"/>
            </a:pPr>
            <a:r>
              <a:rPr lang="sv" sz="1400"/>
              <a:t>Mjukare fjädring för att lättare kliva upp på snön</a:t>
            </a:r>
            <a:endParaRPr sz="1400"/>
          </a:p>
          <a:p>
            <a:pPr indent="-317500" lvl="0" marL="457200" rtl="0" algn="l">
              <a:lnSpc>
                <a:spcPct val="115000"/>
              </a:lnSpc>
              <a:spcBef>
                <a:spcPts val="0"/>
              </a:spcBef>
              <a:spcAft>
                <a:spcPts val="0"/>
              </a:spcAft>
              <a:buSzPts val="1400"/>
              <a:buChar char="●"/>
            </a:pPr>
            <a:r>
              <a:rPr lang="sv" sz="1400"/>
              <a:t>Flackare attackvinkel</a:t>
            </a:r>
            <a:endParaRPr sz="1400"/>
          </a:p>
        </p:txBody>
      </p:sp>
      <p:sp>
        <p:nvSpPr>
          <p:cNvPr id="125" name="Google Shape;125;p8"/>
          <p:cNvSpPr txBox="1"/>
          <p:nvPr/>
        </p:nvSpPr>
        <p:spPr>
          <a:xfrm>
            <a:off x="2662200" y="3002075"/>
            <a:ext cx="3819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Teknisk åkning med mycket snö</a:t>
            </a:r>
            <a:endParaRPr b="1" i="0" sz="14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nvPicPr>
        <p:blipFill rotWithShape="1">
          <a:blip r:embed="rId3">
            <a:alphaModFix/>
          </a:blip>
          <a:srcRect b="17754" l="0" r="0" t="17754"/>
          <a:stretch/>
        </p:blipFill>
        <p:spPr>
          <a:xfrm>
            <a:off x="231625" y="1419225"/>
            <a:ext cx="4148823" cy="2066923"/>
          </a:xfrm>
          <a:prstGeom prst="rect">
            <a:avLst/>
          </a:prstGeom>
          <a:noFill/>
          <a:ln>
            <a:noFill/>
          </a:ln>
        </p:spPr>
      </p:pic>
      <p:sp>
        <p:nvSpPr>
          <p:cNvPr id="131" name="Google Shape;131;p9"/>
          <p:cNvSpPr txBox="1"/>
          <p:nvPr>
            <p:ph type="title"/>
          </p:nvPr>
        </p:nvSpPr>
        <p:spPr>
          <a:xfrm>
            <a:off x="0" y="9520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Widetrack</a:t>
            </a:r>
            <a:endParaRPr/>
          </a:p>
        </p:txBody>
      </p:sp>
      <p:sp>
        <p:nvSpPr>
          <p:cNvPr id="132" name="Google Shape;132;p9"/>
          <p:cNvSpPr txBox="1"/>
          <p:nvPr>
            <p:ph idx="1" type="body"/>
          </p:nvPr>
        </p:nvSpPr>
        <p:spPr>
          <a:xfrm>
            <a:off x="2738550" y="3443375"/>
            <a:ext cx="4408500" cy="1340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sv" sz="1400"/>
              <a:t>Kamhöjd 30-50 mm</a:t>
            </a:r>
            <a:endParaRPr sz="1400"/>
          </a:p>
          <a:p>
            <a:pPr indent="-317500" lvl="0" marL="457200" rtl="0" algn="l">
              <a:lnSpc>
                <a:spcPct val="115000"/>
              </a:lnSpc>
              <a:spcBef>
                <a:spcPts val="0"/>
              </a:spcBef>
              <a:spcAft>
                <a:spcPts val="0"/>
              </a:spcAft>
              <a:buSzPts val="1400"/>
              <a:buChar char="●"/>
            </a:pPr>
            <a:r>
              <a:rPr lang="sv" sz="1400"/>
              <a:t>Ofta lite längre mattor 146-154” (371-391 cm)</a:t>
            </a:r>
            <a:endParaRPr sz="1400"/>
          </a:p>
          <a:p>
            <a:pPr indent="-317500" lvl="0" marL="457200" rtl="0" algn="l">
              <a:lnSpc>
                <a:spcPct val="115000"/>
              </a:lnSpc>
              <a:spcBef>
                <a:spcPts val="0"/>
              </a:spcBef>
              <a:spcAft>
                <a:spcPts val="0"/>
              </a:spcAft>
              <a:buSzPts val="1400"/>
              <a:buChar char="●"/>
            </a:pPr>
            <a:r>
              <a:rPr lang="sv" sz="1400"/>
              <a:t>Bredare mattor (50-60 cm)</a:t>
            </a:r>
            <a:endParaRPr sz="1400"/>
          </a:p>
          <a:p>
            <a:pPr indent="-317500" lvl="0" marL="457200" rtl="0" algn="l">
              <a:lnSpc>
                <a:spcPct val="115000"/>
              </a:lnSpc>
              <a:spcBef>
                <a:spcPts val="0"/>
              </a:spcBef>
              <a:spcAft>
                <a:spcPts val="0"/>
              </a:spcAft>
              <a:buSzPts val="1400"/>
              <a:buChar char="●"/>
            </a:pPr>
            <a:r>
              <a:rPr lang="sv" sz="1400"/>
              <a:t>Vanligast med 4-takt</a:t>
            </a:r>
            <a:endParaRPr sz="1400"/>
          </a:p>
          <a:p>
            <a:pPr indent="-317500" lvl="0" marL="457200" rtl="0" algn="l">
              <a:lnSpc>
                <a:spcPct val="115000"/>
              </a:lnSpc>
              <a:spcBef>
                <a:spcPts val="0"/>
              </a:spcBef>
              <a:spcAft>
                <a:spcPts val="0"/>
              </a:spcAft>
              <a:buSzPts val="1400"/>
              <a:buChar char="●"/>
            </a:pPr>
            <a:r>
              <a:rPr lang="sv" sz="1400"/>
              <a:t>Växellåda med låg- &amp; hög växel</a:t>
            </a:r>
            <a:endParaRPr sz="1400"/>
          </a:p>
        </p:txBody>
      </p:sp>
      <p:sp>
        <p:nvSpPr>
          <p:cNvPr id="133" name="Google Shape;133;p9"/>
          <p:cNvSpPr txBox="1"/>
          <p:nvPr/>
        </p:nvSpPr>
        <p:spPr>
          <a:xfrm>
            <a:off x="2662200" y="3043163"/>
            <a:ext cx="3819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Framtagna för hög arbetskapacitet</a:t>
            </a:r>
            <a:endParaRPr b="1" i="0" sz="1400" u="none" cap="none" strike="noStrike">
              <a:solidFill>
                <a:schemeClr val="dk2"/>
              </a:solidFill>
              <a:latin typeface="Arial"/>
              <a:ea typeface="Arial"/>
              <a:cs typeface="Arial"/>
              <a:sym typeface="Arial"/>
            </a:endParaRPr>
          </a:p>
        </p:txBody>
      </p:sp>
      <p:pic>
        <p:nvPicPr>
          <p:cNvPr id="134" name="Google Shape;134;p9"/>
          <p:cNvPicPr preferRelativeResize="0"/>
          <p:nvPr/>
        </p:nvPicPr>
        <p:blipFill rotWithShape="1">
          <a:blip r:embed="rId4">
            <a:alphaModFix/>
          </a:blip>
          <a:srcRect b="0" l="0" r="0" t="0"/>
          <a:stretch/>
        </p:blipFill>
        <p:spPr>
          <a:xfrm>
            <a:off x="4953175" y="1419225"/>
            <a:ext cx="3666851" cy="164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0"/>
          <p:cNvPicPr preferRelativeResize="0"/>
          <p:nvPr/>
        </p:nvPicPr>
        <p:blipFill rotWithShape="1">
          <a:blip r:embed="rId3">
            <a:alphaModFix/>
          </a:blip>
          <a:srcRect b="0" l="10744" r="11337" t="0"/>
          <a:stretch/>
        </p:blipFill>
        <p:spPr>
          <a:xfrm>
            <a:off x="1343024" y="1698250"/>
            <a:ext cx="6162674" cy="2823200"/>
          </a:xfrm>
          <a:prstGeom prst="rect">
            <a:avLst/>
          </a:prstGeom>
          <a:noFill/>
          <a:ln>
            <a:noFill/>
          </a:ln>
        </p:spPr>
      </p:pic>
      <p:sp>
        <p:nvSpPr>
          <p:cNvPr id="140" name="Google Shape;140;p10"/>
          <p:cNvSpPr txBox="1"/>
          <p:nvPr>
            <p:ph type="title"/>
          </p:nvPr>
        </p:nvSpPr>
        <p:spPr>
          <a:xfrm>
            <a:off x="0" y="9520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Skoterns reglage</a:t>
            </a:r>
            <a:endParaRPr/>
          </a:p>
        </p:txBody>
      </p:sp>
      <p:sp>
        <p:nvSpPr>
          <p:cNvPr id="141" name="Google Shape;141;p10"/>
          <p:cNvSpPr txBox="1"/>
          <p:nvPr/>
        </p:nvSpPr>
        <p:spPr>
          <a:xfrm>
            <a:off x="148300" y="4572025"/>
            <a:ext cx="665400" cy="2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sz="1000">
                <a:solidFill>
                  <a:schemeClr val="dk2"/>
                </a:solidFill>
              </a:rPr>
              <a:t>sid 10</a:t>
            </a:r>
            <a:endParaRPr sz="10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1" title="kontroll innan körning 3 rätt anpassad skoter 1080p">
            <a:hlinkClick r:id="rId3"/>
          </p:cNvPr>
          <p:cNvPicPr preferRelativeResize="0"/>
          <p:nvPr/>
        </p:nvPicPr>
        <p:blipFill rotWithShape="1">
          <a:blip r:embed="rId4">
            <a:alphaModFix/>
          </a:blip>
          <a:srcRect b="0" l="0" r="0" t="0"/>
          <a:stretch/>
        </p:blipFill>
        <p:spPr>
          <a:xfrm>
            <a:off x="0" y="0"/>
            <a:ext cx="9144000" cy="521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2"/>
          <p:cNvPicPr preferRelativeResize="0"/>
          <p:nvPr/>
        </p:nvPicPr>
        <p:blipFill rotWithShape="1">
          <a:blip r:embed="rId3">
            <a:alphaModFix/>
          </a:blip>
          <a:srcRect b="0" l="0" r="0" t="0"/>
          <a:stretch/>
        </p:blipFill>
        <p:spPr>
          <a:xfrm>
            <a:off x="2687150" y="1800225"/>
            <a:ext cx="4342299" cy="2874725"/>
          </a:xfrm>
          <a:prstGeom prst="rect">
            <a:avLst/>
          </a:prstGeom>
          <a:noFill/>
          <a:ln>
            <a:noFill/>
          </a:ln>
        </p:spPr>
      </p:pic>
      <p:sp>
        <p:nvSpPr>
          <p:cNvPr id="152" name="Google Shape;152;p12"/>
          <p:cNvSpPr txBox="1"/>
          <p:nvPr>
            <p:ph type="title"/>
          </p:nvPr>
        </p:nvSpPr>
        <p:spPr>
          <a:xfrm>
            <a:off x="0" y="9520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Styrskida</a:t>
            </a:r>
            <a:endParaRPr/>
          </a:p>
        </p:txBody>
      </p:sp>
      <p:sp>
        <p:nvSpPr>
          <p:cNvPr id="153" name="Google Shape;153;p12"/>
          <p:cNvSpPr txBox="1"/>
          <p:nvPr/>
        </p:nvSpPr>
        <p:spPr>
          <a:xfrm>
            <a:off x="1996425" y="1895475"/>
            <a:ext cx="1323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Styrstål</a:t>
            </a:r>
            <a:endParaRPr b="1" i="0" sz="1400" u="none" cap="none" strike="noStrike">
              <a:solidFill>
                <a:schemeClr val="dk2"/>
              </a:solidFill>
              <a:latin typeface="Arial"/>
              <a:ea typeface="Arial"/>
              <a:cs typeface="Arial"/>
              <a:sym typeface="Arial"/>
            </a:endParaRPr>
          </a:p>
        </p:txBody>
      </p:sp>
      <p:cxnSp>
        <p:nvCxnSpPr>
          <p:cNvPr id="154" name="Google Shape;154;p12"/>
          <p:cNvCxnSpPr>
            <a:stCxn id="153" idx="2"/>
          </p:cNvCxnSpPr>
          <p:nvPr/>
        </p:nvCxnSpPr>
        <p:spPr>
          <a:xfrm>
            <a:off x="2658375" y="2295675"/>
            <a:ext cx="871500" cy="399900"/>
          </a:xfrm>
          <a:prstGeom prst="straightConnector1">
            <a:avLst/>
          </a:prstGeom>
          <a:noFill/>
          <a:ln cap="flat" cmpd="sng" w="28575">
            <a:solidFill>
              <a:srgbClr val="199CCA"/>
            </a:solidFill>
            <a:prstDash val="solid"/>
            <a:round/>
            <a:headEnd len="sm" w="sm" type="none"/>
            <a:tailEnd len="med" w="med" type="triangle"/>
          </a:ln>
        </p:spPr>
      </p:cxnSp>
      <p:pic>
        <p:nvPicPr>
          <p:cNvPr id="155" name="Google Shape;155;p12" title="20251125_165737.jpg"/>
          <p:cNvPicPr preferRelativeResize="0"/>
          <p:nvPr/>
        </p:nvPicPr>
        <p:blipFill rotWithShape="1">
          <a:blip r:embed="rId4">
            <a:alphaModFix/>
          </a:blip>
          <a:srcRect b="0" l="0" r="0" t="0"/>
          <a:stretch/>
        </p:blipFill>
        <p:spPr>
          <a:xfrm>
            <a:off x="137050" y="2737466"/>
            <a:ext cx="2349148" cy="1000234"/>
          </a:xfrm>
          <a:prstGeom prst="rect">
            <a:avLst/>
          </a:prstGeom>
          <a:noFill/>
          <a:ln>
            <a:noFill/>
          </a:ln>
        </p:spPr>
      </p:pic>
      <p:pic>
        <p:nvPicPr>
          <p:cNvPr id="156" name="Google Shape;156;p12" title="20251125_165800.jpg"/>
          <p:cNvPicPr preferRelativeResize="0"/>
          <p:nvPr/>
        </p:nvPicPr>
        <p:blipFill rotWithShape="1">
          <a:blip r:embed="rId5">
            <a:alphaModFix/>
          </a:blip>
          <a:srcRect b="0" l="0" r="0" t="0"/>
          <a:stretch/>
        </p:blipFill>
        <p:spPr>
          <a:xfrm flipH="1" rot="-5400000">
            <a:off x="6171914" y="2228637"/>
            <a:ext cx="3761874" cy="1208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3"/>
          <p:cNvPicPr preferRelativeResize="0"/>
          <p:nvPr/>
        </p:nvPicPr>
        <p:blipFill rotWithShape="1">
          <a:blip r:embed="rId3">
            <a:alphaModFix/>
          </a:blip>
          <a:srcRect b="0" l="0" r="0" t="0"/>
          <a:stretch/>
        </p:blipFill>
        <p:spPr>
          <a:xfrm>
            <a:off x="365147" y="1550425"/>
            <a:ext cx="3926900" cy="2454300"/>
          </a:xfrm>
          <a:prstGeom prst="rect">
            <a:avLst/>
          </a:prstGeom>
          <a:noFill/>
          <a:ln>
            <a:noFill/>
          </a:ln>
        </p:spPr>
      </p:pic>
      <p:sp>
        <p:nvSpPr>
          <p:cNvPr id="162" name="Google Shape;162;p13"/>
          <p:cNvSpPr txBox="1"/>
          <p:nvPr>
            <p:ph type="title"/>
          </p:nvPr>
        </p:nvSpPr>
        <p:spPr>
          <a:xfrm>
            <a:off x="0" y="8417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“Toe out” inte “Toe in” på styrskidorna!?</a:t>
            </a:r>
            <a:endParaRPr/>
          </a:p>
        </p:txBody>
      </p:sp>
      <p:sp>
        <p:nvSpPr>
          <p:cNvPr id="163" name="Google Shape;163;p13"/>
          <p:cNvSpPr/>
          <p:nvPr/>
        </p:nvSpPr>
        <p:spPr>
          <a:xfrm rot="2700000">
            <a:off x="256481" y="2960273"/>
            <a:ext cx="411960" cy="178615"/>
          </a:xfrm>
          <a:prstGeom prst="lef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3"/>
          <p:cNvSpPr/>
          <p:nvPr/>
        </p:nvSpPr>
        <p:spPr>
          <a:xfrm rot="8100000">
            <a:off x="4017131" y="2960273"/>
            <a:ext cx="411960" cy="178615"/>
          </a:xfrm>
          <a:prstGeom prst="lef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 name="Google Shape;165;p13" title="ChatGPT Image 27 okt. 2025 14_38_08.png"/>
          <p:cNvPicPr preferRelativeResize="0"/>
          <p:nvPr/>
        </p:nvPicPr>
        <p:blipFill rotWithShape="1">
          <a:blip r:embed="rId4">
            <a:alphaModFix/>
          </a:blip>
          <a:srcRect b="0" l="0" r="0" t="0"/>
          <a:stretch/>
        </p:blipFill>
        <p:spPr>
          <a:xfrm>
            <a:off x="5279701" y="1405450"/>
            <a:ext cx="3288300" cy="3288274"/>
          </a:xfrm>
          <a:prstGeom prst="rect">
            <a:avLst/>
          </a:prstGeom>
          <a:noFill/>
          <a:ln>
            <a:noFill/>
          </a:ln>
        </p:spPr>
      </p:pic>
      <p:sp>
        <p:nvSpPr>
          <p:cNvPr id="166" name="Google Shape;166;p13"/>
          <p:cNvSpPr txBox="1"/>
          <p:nvPr/>
        </p:nvSpPr>
        <p:spPr>
          <a:xfrm>
            <a:off x="186375" y="3776050"/>
            <a:ext cx="4685400" cy="86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“Toe out”</a:t>
            </a:r>
            <a:r>
              <a:rPr b="0" i="0" lang="sv" sz="1400" u="none" cap="none" strike="noStrike">
                <a:solidFill>
                  <a:schemeClr val="dk2"/>
                </a:solidFill>
                <a:latin typeface="Arial"/>
                <a:ea typeface="Arial"/>
                <a:cs typeface="Arial"/>
                <a:sym typeface="Arial"/>
              </a:rPr>
              <a:t> kan ge ett tydligare och mer förutsägbart styrsvar när du svänger – särskilt i lös snö där skidorna inte har samma grepp som på hårt underlag</a:t>
            </a:r>
            <a:endParaRPr b="0" i="0" sz="14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4"/>
          <p:cNvPicPr preferRelativeResize="0"/>
          <p:nvPr/>
        </p:nvPicPr>
        <p:blipFill rotWithShape="1">
          <a:blip r:embed="rId3">
            <a:alphaModFix/>
          </a:blip>
          <a:srcRect b="0" l="0" r="0" t="0"/>
          <a:stretch/>
        </p:blipFill>
        <p:spPr>
          <a:xfrm>
            <a:off x="1469050" y="740200"/>
            <a:ext cx="5989001" cy="2874725"/>
          </a:xfrm>
          <a:prstGeom prst="rect">
            <a:avLst/>
          </a:prstGeom>
          <a:noFill/>
          <a:ln>
            <a:noFill/>
          </a:ln>
        </p:spPr>
      </p:pic>
      <p:sp>
        <p:nvSpPr>
          <p:cNvPr id="172" name="Google Shape;172;p14"/>
          <p:cNvSpPr txBox="1"/>
          <p:nvPr>
            <p:ph type="title"/>
          </p:nvPr>
        </p:nvSpPr>
        <p:spPr>
          <a:xfrm>
            <a:off x="0" y="74020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Boggie</a:t>
            </a:r>
            <a:endParaRPr/>
          </a:p>
        </p:txBody>
      </p:sp>
      <p:sp>
        <p:nvSpPr>
          <p:cNvPr id="173" name="Google Shape;173;p14"/>
          <p:cNvSpPr txBox="1"/>
          <p:nvPr/>
        </p:nvSpPr>
        <p:spPr>
          <a:xfrm>
            <a:off x="1604275" y="2614800"/>
            <a:ext cx="67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Slide</a:t>
            </a:r>
            <a:endParaRPr b="1" i="0" sz="1400" u="none" cap="none" strike="noStrike">
              <a:solidFill>
                <a:schemeClr val="dk2"/>
              </a:solidFill>
              <a:latin typeface="Arial"/>
              <a:ea typeface="Arial"/>
              <a:cs typeface="Arial"/>
              <a:sym typeface="Arial"/>
            </a:endParaRPr>
          </a:p>
        </p:txBody>
      </p:sp>
      <p:cxnSp>
        <p:nvCxnSpPr>
          <p:cNvPr id="174" name="Google Shape;174;p14"/>
          <p:cNvCxnSpPr/>
          <p:nvPr/>
        </p:nvCxnSpPr>
        <p:spPr>
          <a:xfrm flipH="1" rot="10800000">
            <a:off x="909675" y="1877563"/>
            <a:ext cx="814800" cy="368100"/>
          </a:xfrm>
          <a:prstGeom prst="straightConnector1">
            <a:avLst/>
          </a:prstGeom>
          <a:noFill/>
          <a:ln cap="flat" cmpd="sng" w="28575">
            <a:solidFill>
              <a:srgbClr val="199CCA"/>
            </a:solidFill>
            <a:prstDash val="solid"/>
            <a:round/>
            <a:headEnd len="sm" w="sm" type="none"/>
            <a:tailEnd len="med" w="med" type="triangle"/>
          </a:ln>
        </p:spPr>
      </p:cxnSp>
      <p:sp>
        <p:nvSpPr>
          <p:cNvPr id="175" name="Google Shape;175;p14"/>
          <p:cNvSpPr txBox="1"/>
          <p:nvPr/>
        </p:nvSpPr>
        <p:spPr>
          <a:xfrm>
            <a:off x="105350" y="2054625"/>
            <a:ext cx="72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Skena</a:t>
            </a:r>
            <a:endParaRPr b="1" i="0" sz="1400" u="none" cap="none" strike="noStrike">
              <a:solidFill>
                <a:schemeClr val="dk2"/>
              </a:solidFill>
              <a:latin typeface="Arial"/>
              <a:ea typeface="Arial"/>
              <a:cs typeface="Arial"/>
              <a:sym typeface="Arial"/>
            </a:endParaRPr>
          </a:p>
        </p:txBody>
      </p:sp>
      <p:cxnSp>
        <p:nvCxnSpPr>
          <p:cNvPr id="176" name="Google Shape;176;p14"/>
          <p:cNvCxnSpPr/>
          <p:nvPr/>
        </p:nvCxnSpPr>
        <p:spPr>
          <a:xfrm flipH="1" rot="10800000">
            <a:off x="2235325" y="2519412"/>
            <a:ext cx="467700" cy="300600"/>
          </a:xfrm>
          <a:prstGeom prst="straightConnector1">
            <a:avLst/>
          </a:prstGeom>
          <a:noFill/>
          <a:ln cap="flat" cmpd="sng" w="28575">
            <a:solidFill>
              <a:srgbClr val="199CCA"/>
            </a:solidFill>
            <a:prstDash val="solid"/>
            <a:round/>
            <a:headEnd len="sm" w="sm" type="none"/>
            <a:tailEnd len="med" w="med" type="triangle"/>
          </a:ln>
        </p:spPr>
      </p:cxnSp>
      <p:pic>
        <p:nvPicPr>
          <p:cNvPr id="177" name="Google Shape;177;p14" title="20251125_165831.jpg"/>
          <p:cNvPicPr preferRelativeResize="0"/>
          <p:nvPr/>
        </p:nvPicPr>
        <p:blipFill rotWithShape="1">
          <a:blip r:embed="rId4">
            <a:alphaModFix/>
          </a:blip>
          <a:srcRect b="0" l="0" r="0" t="0"/>
          <a:stretch/>
        </p:blipFill>
        <p:spPr>
          <a:xfrm>
            <a:off x="0" y="3549350"/>
            <a:ext cx="5608351" cy="1267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5"/>
          <p:cNvPicPr preferRelativeResize="0"/>
          <p:nvPr/>
        </p:nvPicPr>
        <p:blipFill rotWithShape="1">
          <a:blip r:embed="rId3">
            <a:alphaModFix/>
          </a:blip>
          <a:srcRect b="0" l="0" r="0" t="0"/>
          <a:stretch/>
        </p:blipFill>
        <p:spPr>
          <a:xfrm>
            <a:off x="0" y="0"/>
            <a:ext cx="9144001" cy="637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16" title="kontroll innan körnin 2 rätt mattval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17" title="kylelement_skoter.png"/>
          <p:cNvPicPr preferRelativeResize="0"/>
          <p:nvPr/>
        </p:nvPicPr>
        <p:blipFill rotWithShape="1">
          <a:blip r:embed="rId3">
            <a:alphaModFix/>
          </a:blip>
          <a:srcRect b="0" l="0" r="0" t="0"/>
          <a:stretch/>
        </p:blipFill>
        <p:spPr>
          <a:xfrm>
            <a:off x="4088950" y="819375"/>
            <a:ext cx="5055050" cy="3956925"/>
          </a:xfrm>
          <a:prstGeom prst="rect">
            <a:avLst/>
          </a:prstGeom>
          <a:noFill/>
          <a:ln>
            <a:noFill/>
          </a:ln>
        </p:spPr>
      </p:pic>
      <p:sp>
        <p:nvSpPr>
          <p:cNvPr id="193" name="Google Shape;193;p17"/>
          <p:cNvSpPr txBox="1"/>
          <p:nvPr>
            <p:ph type="title"/>
          </p:nvPr>
        </p:nvSpPr>
        <p:spPr>
          <a:xfrm>
            <a:off x="4088950" y="3470050"/>
            <a:ext cx="17859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Kylning</a:t>
            </a:r>
            <a:endParaRPr/>
          </a:p>
        </p:txBody>
      </p:sp>
      <p:cxnSp>
        <p:nvCxnSpPr>
          <p:cNvPr id="194" name="Google Shape;194;p17"/>
          <p:cNvCxnSpPr/>
          <p:nvPr/>
        </p:nvCxnSpPr>
        <p:spPr>
          <a:xfrm flipH="1" rot="10800000">
            <a:off x="4489750" y="1626850"/>
            <a:ext cx="827400" cy="1843200"/>
          </a:xfrm>
          <a:prstGeom prst="straightConnector1">
            <a:avLst/>
          </a:prstGeom>
          <a:noFill/>
          <a:ln cap="flat" cmpd="sng" w="9525">
            <a:solidFill>
              <a:srgbClr val="FF0000"/>
            </a:solidFill>
            <a:prstDash val="solid"/>
            <a:round/>
            <a:headEnd len="sm" w="sm" type="none"/>
            <a:tailEnd len="med" w="med" type="triangle"/>
          </a:ln>
        </p:spPr>
      </p:cxnSp>
      <p:sp>
        <p:nvSpPr>
          <p:cNvPr id="195" name="Google Shape;195;p17"/>
          <p:cNvSpPr txBox="1"/>
          <p:nvPr/>
        </p:nvSpPr>
        <p:spPr>
          <a:xfrm>
            <a:off x="87075" y="819375"/>
            <a:ext cx="39381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sv" sz="2200" u="none" cap="none" strike="noStrike">
                <a:solidFill>
                  <a:srgbClr val="005281"/>
                </a:solidFill>
                <a:latin typeface="Arial"/>
                <a:ea typeface="Arial"/>
                <a:cs typeface="Arial"/>
                <a:sym typeface="Arial"/>
              </a:rPr>
              <a:t>Kylelement &amp; överhettning,  </a:t>
            </a:r>
            <a:br>
              <a:rPr b="1" i="0" lang="sv" sz="2200" u="none" cap="none" strike="noStrike">
                <a:solidFill>
                  <a:srgbClr val="005281"/>
                </a:solidFill>
                <a:latin typeface="Arial"/>
                <a:ea typeface="Arial"/>
                <a:cs typeface="Arial"/>
                <a:sym typeface="Arial"/>
              </a:rPr>
            </a:br>
            <a:r>
              <a:rPr b="1" i="0" lang="sv" sz="2200" u="none" cap="none" strike="noStrike">
                <a:solidFill>
                  <a:srgbClr val="005281"/>
                </a:solidFill>
                <a:latin typeface="Arial"/>
                <a:ea typeface="Arial"/>
                <a:cs typeface="Arial"/>
                <a:sym typeface="Arial"/>
              </a:rPr>
              <a:t>3 saker att komma ihåg</a:t>
            </a:r>
            <a:endParaRPr b="1" i="0" sz="2200" u="none" cap="none" strike="noStrike">
              <a:solidFill>
                <a:srgbClr val="005281"/>
              </a:solidFill>
              <a:latin typeface="Arial"/>
              <a:ea typeface="Arial"/>
              <a:cs typeface="Arial"/>
              <a:sym typeface="Arial"/>
            </a:endParaRPr>
          </a:p>
        </p:txBody>
      </p:sp>
      <p:sp>
        <p:nvSpPr>
          <p:cNvPr id="196" name="Google Shape;196;p17"/>
          <p:cNvSpPr txBox="1"/>
          <p:nvPr/>
        </p:nvSpPr>
        <p:spPr>
          <a:xfrm>
            <a:off x="87075" y="1626850"/>
            <a:ext cx="3938100" cy="1215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rgbClr val="005281"/>
                </a:solidFill>
                <a:latin typeface="Arial"/>
                <a:ea typeface="Arial"/>
                <a:cs typeface="Arial"/>
                <a:sym typeface="Arial"/>
              </a:rPr>
              <a:t>Kylningen kräver snö mot tunneln</a:t>
            </a:r>
            <a:endParaRPr b="1" i="0" sz="1500" u="none" cap="none" strike="noStrike">
              <a:solidFill>
                <a:srgbClr val="00528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sv" sz="1500" u="none" cap="none" strike="noStrike">
                <a:solidFill>
                  <a:srgbClr val="005281"/>
                </a:solidFill>
                <a:latin typeface="Arial"/>
                <a:ea typeface="Arial"/>
                <a:cs typeface="Arial"/>
                <a:sym typeface="Arial"/>
              </a:rPr>
              <a:t>Lite snö, isiga leder eller hårt underlag ger nästan ingen kylning.</a:t>
            </a:r>
            <a:endParaRPr b="1" i="0" sz="2600" u="none" cap="none" strike="noStrike">
              <a:solidFill>
                <a:srgbClr val="00528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5281"/>
              </a:solidFill>
              <a:latin typeface="Arial"/>
              <a:ea typeface="Arial"/>
              <a:cs typeface="Arial"/>
              <a:sym typeface="Arial"/>
            </a:endParaRPr>
          </a:p>
        </p:txBody>
      </p:sp>
      <p:sp>
        <p:nvSpPr>
          <p:cNvPr id="197" name="Google Shape;197;p17"/>
          <p:cNvSpPr txBox="1"/>
          <p:nvPr/>
        </p:nvSpPr>
        <p:spPr>
          <a:xfrm>
            <a:off x="87075" y="2455625"/>
            <a:ext cx="3938100" cy="1677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rgbClr val="005281"/>
                </a:solidFill>
                <a:latin typeface="Arial"/>
                <a:ea typeface="Arial"/>
                <a:cs typeface="Arial"/>
                <a:sym typeface="Arial"/>
              </a:rPr>
              <a:t>Håll fart och sök snö vid behov</a:t>
            </a:r>
            <a:endParaRPr b="1" i="0" sz="1500" u="none" cap="none" strike="noStrike">
              <a:solidFill>
                <a:srgbClr val="00528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sv" sz="1500" u="none" cap="none" strike="noStrike">
                <a:solidFill>
                  <a:srgbClr val="005281"/>
                </a:solidFill>
                <a:latin typeface="Arial"/>
                <a:ea typeface="Arial"/>
                <a:cs typeface="Arial"/>
                <a:sym typeface="Arial"/>
              </a:rPr>
              <a:t>Långsam körning eller tomgång på snöfattigt underlag ger dålig kylning – </a:t>
            </a:r>
            <a:br>
              <a:rPr b="0" i="0" lang="sv" sz="1500" u="none" cap="none" strike="noStrike">
                <a:solidFill>
                  <a:srgbClr val="005281"/>
                </a:solidFill>
                <a:latin typeface="Arial"/>
                <a:ea typeface="Arial"/>
                <a:cs typeface="Arial"/>
                <a:sym typeface="Arial"/>
              </a:rPr>
            </a:br>
            <a:r>
              <a:rPr b="1" i="1" lang="sv" sz="1500" u="none" cap="none" strike="noStrike">
                <a:solidFill>
                  <a:srgbClr val="005281"/>
                </a:solidFill>
                <a:latin typeface="Arial"/>
                <a:ea typeface="Arial"/>
                <a:cs typeface="Arial"/>
                <a:sym typeface="Arial"/>
              </a:rPr>
              <a:t>leta upp lössnö eller mjukare snö</a:t>
            </a:r>
            <a:r>
              <a:rPr b="0" i="0" lang="sv" sz="1500" u="none" cap="none" strike="noStrike">
                <a:solidFill>
                  <a:srgbClr val="005281"/>
                </a:solidFill>
                <a:latin typeface="Arial"/>
                <a:ea typeface="Arial"/>
                <a:cs typeface="Arial"/>
                <a:sym typeface="Arial"/>
              </a:rPr>
              <a:t> för att kyla tunneln.</a:t>
            </a:r>
            <a:endParaRPr b="1" i="0" sz="1900" u="none" cap="none" strike="noStrike">
              <a:solidFill>
                <a:srgbClr val="00528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5281"/>
              </a:solidFill>
              <a:latin typeface="Arial"/>
              <a:ea typeface="Arial"/>
              <a:cs typeface="Arial"/>
              <a:sym typeface="Arial"/>
            </a:endParaRPr>
          </a:p>
        </p:txBody>
      </p:sp>
      <p:sp>
        <p:nvSpPr>
          <p:cNvPr id="198" name="Google Shape;198;p17"/>
          <p:cNvSpPr txBox="1"/>
          <p:nvPr/>
        </p:nvSpPr>
        <p:spPr>
          <a:xfrm>
            <a:off x="87075" y="3744700"/>
            <a:ext cx="39381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rgbClr val="005281"/>
                </a:solidFill>
                <a:latin typeface="Arial"/>
                <a:ea typeface="Arial"/>
                <a:cs typeface="Arial"/>
                <a:sym typeface="Arial"/>
              </a:rPr>
              <a:t>Reagera direkt på temperaturvarningar</a:t>
            </a:r>
            <a:endParaRPr b="1" i="0" sz="1500" u="none" cap="none" strike="noStrike">
              <a:solidFill>
                <a:srgbClr val="00528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sv" sz="1500" u="none" cap="none" strike="noStrike">
                <a:solidFill>
                  <a:srgbClr val="005281"/>
                </a:solidFill>
                <a:latin typeface="Arial"/>
                <a:ea typeface="Arial"/>
                <a:cs typeface="Arial"/>
                <a:sym typeface="Arial"/>
              </a:rPr>
              <a:t>Stanna, låt motorn svalna och säkerställ snökontakt innan du kör vidare.</a:t>
            </a:r>
            <a:endParaRPr b="0" i="0" sz="1800" u="none" cap="none" strike="noStrike">
              <a:solidFill>
                <a:srgbClr val="00528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18" title="kontroll innan körnin 4 isrivare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2814475" y="932975"/>
            <a:ext cx="2919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Tvåtaktsmotor</a:t>
            </a:r>
            <a:endParaRPr/>
          </a:p>
        </p:txBody>
      </p:sp>
      <p:pic>
        <p:nvPicPr>
          <p:cNvPr id="209" name="Google Shape;209;p19"/>
          <p:cNvPicPr preferRelativeResize="0"/>
          <p:nvPr/>
        </p:nvPicPr>
        <p:blipFill rotWithShape="1">
          <a:blip r:embed="rId3">
            <a:alphaModFix/>
          </a:blip>
          <a:srcRect b="0" l="0" r="0" t="0"/>
          <a:stretch/>
        </p:blipFill>
        <p:spPr>
          <a:xfrm>
            <a:off x="-2315462" y="1458775"/>
            <a:ext cx="7572784" cy="2576850"/>
          </a:xfrm>
          <a:prstGeom prst="rect">
            <a:avLst/>
          </a:prstGeom>
          <a:noFill/>
          <a:ln>
            <a:noFill/>
          </a:ln>
        </p:spPr>
      </p:pic>
      <p:sp>
        <p:nvSpPr>
          <p:cNvPr id="210" name="Google Shape;210;p19"/>
          <p:cNvSpPr txBox="1"/>
          <p:nvPr/>
        </p:nvSpPr>
        <p:spPr>
          <a:xfrm>
            <a:off x="3039050" y="1505675"/>
            <a:ext cx="6105000" cy="181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Moderna 2-taktsmotorer (med oljeinsprutning):</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Både bränsle och olja blandas och bränns tillsammans.</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Blandningsförhållande: </a:t>
            </a:r>
            <a:r>
              <a:rPr b="1" i="0" lang="sv" sz="1400" u="none" cap="none" strike="noStrike">
                <a:solidFill>
                  <a:srgbClr val="000000"/>
                </a:solidFill>
                <a:latin typeface="Arial"/>
                <a:ea typeface="Arial"/>
                <a:cs typeface="Arial"/>
                <a:sym typeface="Arial"/>
              </a:rPr>
              <a:t>1:50</a:t>
            </a:r>
            <a:r>
              <a:rPr b="0" i="0" lang="sv" sz="1400" u="none" cap="none" strike="noStrike">
                <a:solidFill>
                  <a:srgbClr val="000000"/>
                </a:solidFill>
                <a:latin typeface="Arial"/>
                <a:ea typeface="Arial"/>
                <a:cs typeface="Arial"/>
                <a:sym typeface="Arial"/>
              </a:rPr>
              <a:t> (1 del olja per 50 delar bensin), motsvarande </a:t>
            </a:r>
            <a:r>
              <a:rPr b="1" i="0" lang="sv" sz="1400" u="none" cap="none" strike="noStrike">
                <a:solidFill>
                  <a:srgbClr val="000000"/>
                </a:solidFill>
                <a:latin typeface="Arial"/>
                <a:ea typeface="Arial"/>
                <a:cs typeface="Arial"/>
                <a:sym typeface="Arial"/>
              </a:rPr>
              <a:t>2 % olja</a:t>
            </a:r>
            <a:r>
              <a:rPr b="0" i="0" lang="sv"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Moderna snöskotrar har ett </a:t>
            </a:r>
            <a:r>
              <a:rPr b="1" i="0" lang="sv" sz="1400" u="none" cap="none" strike="noStrike">
                <a:solidFill>
                  <a:srgbClr val="000000"/>
                </a:solidFill>
                <a:latin typeface="Arial"/>
                <a:ea typeface="Arial"/>
                <a:cs typeface="Arial"/>
                <a:sym typeface="Arial"/>
              </a:rPr>
              <a:t>oljeinsprutningssystem</a:t>
            </a:r>
            <a:r>
              <a:rPr b="0" i="0" lang="sv" sz="1400" u="none" cap="none" strike="noStrike">
                <a:solidFill>
                  <a:srgbClr val="000000"/>
                </a:solidFill>
                <a:latin typeface="Arial"/>
                <a:ea typeface="Arial"/>
                <a:cs typeface="Arial"/>
                <a:sym typeface="Arial"/>
              </a:rPr>
              <a:t> som automatiskt doserar oljan efter motorns varvtal och belastning, vilket kan göra blandningen mer effektiv.</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211" name="Google Shape;211;p19"/>
          <p:cNvSpPr txBox="1"/>
          <p:nvPr/>
        </p:nvSpPr>
        <p:spPr>
          <a:xfrm>
            <a:off x="3039050" y="3476000"/>
            <a:ext cx="6105000" cy="1233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Äldre eller enkla 2-taktsmotorer (manuell blandning):</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Blandningsförhållande: </a:t>
            </a:r>
            <a:r>
              <a:rPr b="1" i="0" lang="sv" sz="1400" u="none" cap="none" strike="noStrike">
                <a:solidFill>
                  <a:srgbClr val="000000"/>
                </a:solidFill>
                <a:latin typeface="Arial"/>
                <a:ea typeface="Arial"/>
                <a:cs typeface="Arial"/>
                <a:sym typeface="Arial"/>
              </a:rPr>
              <a:t>1:25–1:40</a:t>
            </a:r>
            <a:r>
              <a:rPr b="0" i="0" lang="sv" sz="1400" u="none" cap="none" strike="noStrike">
                <a:solidFill>
                  <a:srgbClr val="000000"/>
                </a:solidFill>
                <a:latin typeface="Arial"/>
                <a:ea typeface="Arial"/>
                <a:cs typeface="Arial"/>
                <a:sym typeface="Arial"/>
              </a:rPr>
              <a:t> (2,5–4 % olja), beroende på motorns krav och tillverkarens rekommendationer.</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212" name="Google Shape;212;p19"/>
          <p:cNvSpPr txBox="1"/>
          <p:nvPr/>
        </p:nvSpPr>
        <p:spPr>
          <a:xfrm>
            <a:off x="136875" y="3389800"/>
            <a:ext cx="2994000" cy="143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title"/>
          </p:nvPr>
        </p:nvSpPr>
        <p:spPr>
          <a:xfrm>
            <a:off x="2814475" y="932975"/>
            <a:ext cx="3657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Tvåtaktsmotor forts.</a:t>
            </a:r>
            <a:endParaRPr/>
          </a:p>
        </p:txBody>
      </p:sp>
      <p:pic>
        <p:nvPicPr>
          <p:cNvPr id="218" name="Google Shape;218;p20"/>
          <p:cNvPicPr preferRelativeResize="0"/>
          <p:nvPr/>
        </p:nvPicPr>
        <p:blipFill rotWithShape="1">
          <a:blip r:embed="rId3">
            <a:alphaModFix/>
          </a:blip>
          <a:srcRect b="0" l="0" r="0" t="0"/>
          <a:stretch/>
        </p:blipFill>
        <p:spPr>
          <a:xfrm>
            <a:off x="-2315462" y="1458775"/>
            <a:ext cx="7572784" cy="2576850"/>
          </a:xfrm>
          <a:prstGeom prst="rect">
            <a:avLst/>
          </a:prstGeom>
          <a:noFill/>
          <a:ln>
            <a:noFill/>
          </a:ln>
        </p:spPr>
      </p:pic>
      <p:sp>
        <p:nvSpPr>
          <p:cNvPr id="219" name="Google Shape;219;p20"/>
          <p:cNvSpPr txBox="1"/>
          <p:nvPr/>
        </p:nvSpPr>
        <p:spPr>
          <a:xfrm>
            <a:off x="3039050" y="1505675"/>
            <a:ext cx="6105000" cy="151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Fördelar:</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Lättare och mindre:</a:t>
            </a:r>
            <a:r>
              <a:rPr b="0" i="0" lang="sv" sz="1400" u="none" cap="none" strike="noStrike">
                <a:solidFill>
                  <a:srgbClr val="000000"/>
                </a:solidFill>
                <a:latin typeface="Arial"/>
                <a:ea typeface="Arial"/>
                <a:cs typeface="Arial"/>
                <a:sym typeface="Arial"/>
              </a:rPr>
              <a:t> Mindre vikt och enklare konstruktion. (20-40 kg)</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Hög effekt per vikt:</a:t>
            </a:r>
            <a:r>
              <a:rPr b="0" i="0" lang="sv" sz="1400" u="none" cap="none" strike="noStrike">
                <a:solidFill>
                  <a:srgbClr val="000000"/>
                </a:solidFill>
                <a:latin typeface="Arial"/>
                <a:ea typeface="Arial"/>
                <a:cs typeface="Arial"/>
                <a:sym typeface="Arial"/>
              </a:rPr>
              <a:t> Snabbare acceleration och mer kraft på samma storlek motor.</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Enklare underhåll:</a:t>
            </a:r>
            <a:r>
              <a:rPr b="0" i="0" lang="sv" sz="1400" u="none" cap="none" strike="noStrike">
                <a:solidFill>
                  <a:srgbClr val="000000"/>
                </a:solidFill>
                <a:latin typeface="Arial"/>
                <a:ea typeface="Arial"/>
                <a:cs typeface="Arial"/>
                <a:sym typeface="Arial"/>
              </a:rPr>
              <a:t> Färre rörliga delar.</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220" name="Google Shape;220;p20"/>
          <p:cNvSpPr txBox="1"/>
          <p:nvPr/>
        </p:nvSpPr>
        <p:spPr>
          <a:xfrm>
            <a:off x="3039050" y="3091025"/>
            <a:ext cx="6105000" cy="1233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Nackdelar:</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Högre bränsleförbrukning:</a:t>
            </a:r>
            <a:r>
              <a:rPr b="0" i="0" lang="sv" sz="1400" u="none" cap="none" strike="noStrike">
                <a:solidFill>
                  <a:srgbClr val="000000"/>
                </a:solidFill>
                <a:latin typeface="Arial"/>
                <a:ea typeface="Arial"/>
                <a:cs typeface="Arial"/>
                <a:sym typeface="Arial"/>
              </a:rPr>
              <a:t> Mindre effektiv än en 4-taktsmotor.</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Mer utsläpp:</a:t>
            </a:r>
            <a:r>
              <a:rPr b="0" i="0" lang="sv" sz="1400" u="none" cap="none" strike="noStrike">
                <a:solidFill>
                  <a:srgbClr val="000000"/>
                </a:solidFill>
                <a:latin typeface="Arial"/>
                <a:ea typeface="Arial"/>
                <a:cs typeface="Arial"/>
                <a:sym typeface="Arial"/>
              </a:rPr>
              <a:t> Bränner olja tillsammans med bränsle, vilket ger mer föroreningar.</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Kortare livslängd:</a:t>
            </a:r>
            <a:r>
              <a:rPr b="0" i="0" lang="sv" sz="1400" u="none" cap="none" strike="noStrike">
                <a:solidFill>
                  <a:srgbClr val="000000"/>
                </a:solidFill>
                <a:latin typeface="Arial"/>
                <a:ea typeface="Arial"/>
                <a:cs typeface="Arial"/>
                <a:sym typeface="Arial"/>
              </a:rPr>
              <a:t> Slits snabbare eftersom den jobbar intensivare.</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221" name="Google Shape;221;p20"/>
          <p:cNvSpPr txBox="1"/>
          <p:nvPr/>
        </p:nvSpPr>
        <p:spPr>
          <a:xfrm>
            <a:off x="136875" y="3389800"/>
            <a:ext cx="2994000" cy="143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ph type="title"/>
          </p:nvPr>
        </p:nvSpPr>
        <p:spPr>
          <a:xfrm>
            <a:off x="3039050" y="932975"/>
            <a:ext cx="25878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Fyrtaktsmotor</a:t>
            </a:r>
            <a:endParaRPr/>
          </a:p>
        </p:txBody>
      </p:sp>
      <p:pic>
        <p:nvPicPr>
          <p:cNvPr id="227" name="Google Shape;227;p21"/>
          <p:cNvPicPr preferRelativeResize="0"/>
          <p:nvPr/>
        </p:nvPicPr>
        <p:blipFill rotWithShape="1">
          <a:blip r:embed="rId3">
            <a:alphaModFix/>
          </a:blip>
          <a:srcRect b="797" l="0" r="0" t="806"/>
          <a:stretch/>
        </p:blipFill>
        <p:spPr>
          <a:xfrm>
            <a:off x="-2197812" y="1505675"/>
            <a:ext cx="7572784" cy="2576850"/>
          </a:xfrm>
          <a:prstGeom prst="rect">
            <a:avLst/>
          </a:prstGeom>
          <a:noFill/>
          <a:ln>
            <a:noFill/>
          </a:ln>
        </p:spPr>
      </p:pic>
      <p:sp>
        <p:nvSpPr>
          <p:cNvPr id="228" name="Google Shape;228;p21"/>
          <p:cNvSpPr txBox="1"/>
          <p:nvPr/>
        </p:nvSpPr>
        <p:spPr>
          <a:xfrm>
            <a:off x="3039050" y="1420125"/>
            <a:ext cx="6105000" cy="7977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Oljan och bränslet är separata; oljan smörjer motorn utan att brännas. Drivs med ren bensin.</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229" name="Google Shape;229;p21"/>
          <p:cNvSpPr txBox="1"/>
          <p:nvPr/>
        </p:nvSpPr>
        <p:spPr>
          <a:xfrm>
            <a:off x="3039050" y="1950475"/>
            <a:ext cx="6050400" cy="173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Fördelar:</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Bränsleeffektiv:</a:t>
            </a:r>
            <a:r>
              <a:rPr b="0" i="0" lang="sv" sz="1400" u="none" cap="none" strike="noStrike">
                <a:solidFill>
                  <a:srgbClr val="000000"/>
                </a:solidFill>
                <a:latin typeface="Arial"/>
                <a:ea typeface="Arial"/>
                <a:cs typeface="Arial"/>
                <a:sym typeface="Arial"/>
              </a:rPr>
              <a:t> Förbrukar mindre bränsle.</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Lägre utsläpp:</a:t>
            </a:r>
            <a:r>
              <a:rPr b="0" i="0" lang="sv" sz="1400" u="none" cap="none" strike="noStrike">
                <a:solidFill>
                  <a:srgbClr val="000000"/>
                </a:solidFill>
                <a:latin typeface="Arial"/>
                <a:ea typeface="Arial"/>
                <a:cs typeface="Arial"/>
                <a:sym typeface="Arial"/>
              </a:rPr>
              <a:t> Mer miljövänlig eftersom den inte bränner olja.</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Längre livslängd:</a:t>
            </a:r>
            <a:r>
              <a:rPr b="0" i="0" lang="sv" sz="1400" u="none" cap="none" strike="noStrike">
                <a:solidFill>
                  <a:srgbClr val="000000"/>
                </a:solidFill>
                <a:latin typeface="Arial"/>
                <a:ea typeface="Arial"/>
                <a:cs typeface="Arial"/>
                <a:sym typeface="Arial"/>
              </a:rPr>
              <a:t> Slits långsammare tack vare smidigare arbetscykel.</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Tystare:</a:t>
            </a:r>
            <a:r>
              <a:rPr b="0" i="0" lang="sv" sz="1400" u="none" cap="none" strike="noStrike">
                <a:solidFill>
                  <a:srgbClr val="000000"/>
                </a:solidFill>
                <a:latin typeface="Arial"/>
                <a:ea typeface="Arial"/>
                <a:cs typeface="Arial"/>
                <a:sym typeface="Arial"/>
              </a:rPr>
              <a:t> Mindre motorljud.</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230" name="Google Shape;230;p21"/>
          <p:cNvSpPr txBox="1"/>
          <p:nvPr/>
        </p:nvSpPr>
        <p:spPr>
          <a:xfrm>
            <a:off x="3039050" y="3628400"/>
            <a:ext cx="5974800" cy="1281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Nackdelar:</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Tung och större:</a:t>
            </a:r>
            <a:r>
              <a:rPr b="0" i="0" lang="sv" sz="1400" u="none" cap="none" strike="noStrike">
                <a:solidFill>
                  <a:srgbClr val="000000"/>
                </a:solidFill>
                <a:latin typeface="Arial"/>
                <a:ea typeface="Arial"/>
                <a:cs typeface="Arial"/>
                <a:sym typeface="Arial"/>
              </a:rPr>
              <a:t> Mer komplex och väger mer. (30-60 kg)</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1" i="0" lang="sv" sz="1400" u="none" cap="none" strike="noStrike">
                <a:solidFill>
                  <a:srgbClr val="000000"/>
                </a:solidFill>
                <a:latin typeface="Arial"/>
                <a:ea typeface="Arial"/>
                <a:cs typeface="Arial"/>
                <a:sym typeface="Arial"/>
              </a:rPr>
              <a:t>Dyrare att tillverka och reparera:</a:t>
            </a:r>
            <a:r>
              <a:rPr b="0" i="0" lang="sv" sz="1400" u="none" cap="none" strike="noStrike">
                <a:solidFill>
                  <a:srgbClr val="000000"/>
                </a:solidFill>
                <a:latin typeface="Arial"/>
                <a:ea typeface="Arial"/>
                <a:cs typeface="Arial"/>
                <a:sym typeface="Arial"/>
              </a:rPr>
              <a:t> Fler rörliga delar och mer avancerad teknik.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title"/>
          </p:nvPr>
        </p:nvSpPr>
        <p:spPr>
          <a:xfrm>
            <a:off x="87675" y="836725"/>
            <a:ext cx="33255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Variator snöskoter</a:t>
            </a:r>
            <a:endParaRPr/>
          </a:p>
        </p:txBody>
      </p:sp>
      <p:pic>
        <p:nvPicPr>
          <p:cNvPr id="236" name="Google Shape;236;p22"/>
          <p:cNvPicPr preferRelativeResize="0"/>
          <p:nvPr/>
        </p:nvPicPr>
        <p:blipFill rotWithShape="1">
          <a:blip r:embed="rId3">
            <a:alphaModFix/>
          </a:blip>
          <a:srcRect b="563" l="0" r="0" t="563"/>
          <a:stretch/>
        </p:blipFill>
        <p:spPr>
          <a:xfrm>
            <a:off x="221600" y="1594500"/>
            <a:ext cx="4539101" cy="2524425"/>
          </a:xfrm>
          <a:prstGeom prst="rect">
            <a:avLst/>
          </a:prstGeom>
          <a:noFill/>
          <a:ln>
            <a:noFill/>
          </a:ln>
        </p:spPr>
      </p:pic>
      <p:sp>
        <p:nvSpPr>
          <p:cNvPr id="237" name="Google Shape;237;p22"/>
          <p:cNvSpPr txBox="1"/>
          <p:nvPr/>
        </p:nvSpPr>
        <p:spPr>
          <a:xfrm>
            <a:off x="4942500" y="772550"/>
            <a:ext cx="4201500" cy="220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Huvudkomponenter i variatorsystemet:</a:t>
            </a:r>
            <a:endParaRPr b="1"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Primärvariator (drivvariator):</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Sitter på vevaxeln och är kopplad till motorn.</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Den ansvarar för att överföra kraft från motorn till remmen.</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Har rörliga vikter som reagerar på motorvarvtalet.</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cxnSp>
        <p:nvCxnSpPr>
          <p:cNvPr id="238" name="Google Shape;238;p22"/>
          <p:cNvCxnSpPr/>
          <p:nvPr/>
        </p:nvCxnSpPr>
        <p:spPr>
          <a:xfrm flipH="1">
            <a:off x="3531225" y="1405100"/>
            <a:ext cx="1475400" cy="1454100"/>
          </a:xfrm>
          <a:prstGeom prst="straightConnector1">
            <a:avLst/>
          </a:prstGeom>
          <a:noFill/>
          <a:ln cap="flat" cmpd="sng" w="28575">
            <a:solidFill>
              <a:srgbClr val="199CCA"/>
            </a:solidFill>
            <a:prstDash val="solid"/>
            <a:round/>
            <a:headEnd len="sm" w="sm" type="none"/>
            <a:tailEnd len="med" w="med" type="triangle"/>
          </a:ln>
        </p:spPr>
      </p:cxnSp>
      <p:sp>
        <p:nvSpPr>
          <p:cNvPr id="239" name="Google Shape;239;p22"/>
          <p:cNvSpPr txBox="1"/>
          <p:nvPr/>
        </p:nvSpPr>
        <p:spPr>
          <a:xfrm>
            <a:off x="4942500" y="2784425"/>
            <a:ext cx="4201500" cy="220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Sekundärvariator (slavvariator):</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Sitter på ingående axeln till drivsystemet (kopplad till mattan).</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Tar emot kraft från primärvariatorn via en drivrem.</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Anpassar växelutväxlingen till belastningen och skoterns hastighet.</a:t>
            </a:r>
            <a:endParaRPr b="0" i="0" sz="1400" u="none" cap="none" strike="noStrike">
              <a:solidFill>
                <a:srgbClr val="000000"/>
              </a:solidFill>
              <a:latin typeface="Arial"/>
              <a:ea typeface="Arial"/>
              <a:cs typeface="Arial"/>
              <a:sym typeface="Arial"/>
            </a:endParaRPr>
          </a:p>
        </p:txBody>
      </p:sp>
      <p:cxnSp>
        <p:nvCxnSpPr>
          <p:cNvPr id="240" name="Google Shape;240;p22"/>
          <p:cNvCxnSpPr/>
          <p:nvPr/>
        </p:nvCxnSpPr>
        <p:spPr>
          <a:xfrm rot="10800000">
            <a:off x="4122150" y="2463750"/>
            <a:ext cx="863100" cy="481200"/>
          </a:xfrm>
          <a:prstGeom prst="straightConnector1">
            <a:avLst/>
          </a:prstGeom>
          <a:noFill/>
          <a:ln cap="flat" cmpd="sng" w="28575">
            <a:solidFill>
              <a:srgbClr val="199CCA"/>
            </a:solidFill>
            <a:prstDash val="solid"/>
            <a:round/>
            <a:headEnd len="sm" w="sm" type="none"/>
            <a:tailEnd len="med" w="med" type="triangle"/>
          </a:ln>
        </p:spPr>
      </p:cxnSp>
      <p:sp>
        <p:nvSpPr>
          <p:cNvPr id="241" name="Google Shape;241;p22"/>
          <p:cNvSpPr txBox="1"/>
          <p:nvPr/>
        </p:nvSpPr>
        <p:spPr>
          <a:xfrm>
            <a:off x="365625" y="3875275"/>
            <a:ext cx="4641000" cy="99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sv" sz="1400" u="none" cap="none" strike="noStrike">
                <a:solidFill>
                  <a:srgbClr val="000000"/>
                </a:solidFill>
                <a:latin typeface="Arial"/>
                <a:ea typeface="Arial"/>
                <a:cs typeface="Arial"/>
                <a:sym typeface="Arial"/>
              </a:rPr>
              <a:t>Variatorrem:</a:t>
            </a:r>
            <a:endParaRPr b="1"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En rem som förbinder primär- och sekundärvariatorn och överför kraften mellan dem.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cxnSp>
        <p:nvCxnSpPr>
          <p:cNvPr id="242" name="Google Shape;242;p22"/>
          <p:cNvCxnSpPr/>
          <p:nvPr/>
        </p:nvCxnSpPr>
        <p:spPr>
          <a:xfrm flipH="1" rot="10800000">
            <a:off x="504725" y="2495875"/>
            <a:ext cx="3197400" cy="1379400"/>
          </a:xfrm>
          <a:prstGeom prst="straightConnector1">
            <a:avLst/>
          </a:prstGeom>
          <a:noFill/>
          <a:ln cap="flat" cmpd="sng" w="28575">
            <a:solidFill>
              <a:srgbClr val="199CCA"/>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3" title="kontroll innan körnin 6 byte variatorrem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Variator</a:t>
            </a:r>
            <a:endParaRPr/>
          </a:p>
        </p:txBody>
      </p:sp>
      <p:pic>
        <p:nvPicPr>
          <p:cNvPr id="253" name="Google Shape;253;p24"/>
          <p:cNvPicPr preferRelativeResize="0"/>
          <p:nvPr/>
        </p:nvPicPr>
        <p:blipFill rotWithShape="1">
          <a:blip r:embed="rId3">
            <a:alphaModFix/>
          </a:blip>
          <a:srcRect b="-1770" l="9508" r="56797" t="1770"/>
          <a:stretch/>
        </p:blipFill>
        <p:spPr>
          <a:xfrm>
            <a:off x="311025" y="1098325"/>
            <a:ext cx="2978226" cy="2203650"/>
          </a:xfrm>
          <a:prstGeom prst="rect">
            <a:avLst/>
          </a:prstGeom>
          <a:noFill/>
          <a:ln>
            <a:noFill/>
          </a:ln>
        </p:spPr>
      </p:pic>
      <p:pic>
        <p:nvPicPr>
          <p:cNvPr id="254" name="Google Shape;254;p24"/>
          <p:cNvPicPr preferRelativeResize="0"/>
          <p:nvPr/>
        </p:nvPicPr>
        <p:blipFill rotWithShape="1">
          <a:blip r:embed="rId4">
            <a:alphaModFix/>
          </a:blip>
          <a:srcRect b="0" l="0" r="0" t="0"/>
          <a:stretch/>
        </p:blipFill>
        <p:spPr>
          <a:xfrm>
            <a:off x="4746800" y="1445128"/>
            <a:ext cx="3744824" cy="2082676"/>
          </a:xfrm>
          <a:prstGeom prst="rect">
            <a:avLst/>
          </a:prstGeom>
          <a:noFill/>
          <a:ln>
            <a:noFill/>
          </a:ln>
          <a:effectLst>
            <a:outerShdw blurRad="57150" rotWithShape="0" algn="bl" dir="2940000" dist="28575">
              <a:srgbClr val="000000">
                <a:alpha val="18823"/>
              </a:srgbClr>
            </a:outerShdw>
          </a:effectLst>
        </p:spPr>
      </p:pic>
      <p:sp>
        <p:nvSpPr>
          <p:cNvPr id="255" name="Google Shape;255;p24"/>
          <p:cNvSpPr txBox="1"/>
          <p:nvPr/>
        </p:nvSpPr>
        <p:spPr>
          <a:xfrm>
            <a:off x="311025" y="2954525"/>
            <a:ext cx="4384500" cy="167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600"/>
              <a:buFont typeface="Arial"/>
              <a:buNone/>
            </a:pPr>
            <a:r>
              <a:rPr b="1" i="0" lang="sv" sz="1600" u="none" cap="none" strike="noStrike">
                <a:solidFill>
                  <a:srgbClr val="000000"/>
                </a:solidFill>
                <a:latin typeface="Arial"/>
                <a:ea typeface="Arial"/>
                <a:cs typeface="Arial"/>
                <a:sym typeface="Arial"/>
              </a:rPr>
              <a:t>Skötsel:</a:t>
            </a:r>
            <a:endParaRPr b="1" i="0" sz="16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rgbClr val="000000"/>
              </a:buClr>
              <a:buSzPts val="1400"/>
              <a:buFont typeface="Arial"/>
              <a:buChar char="●"/>
            </a:pPr>
            <a:r>
              <a:rPr b="0" i="0" lang="sv" sz="1400" u="none" cap="none" strike="noStrike">
                <a:solidFill>
                  <a:srgbClr val="000000"/>
                </a:solidFill>
                <a:latin typeface="Arial"/>
                <a:ea typeface="Arial"/>
                <a:cs typeface="Arial"/>
                <a:sym typeface="Arial"/>
              </a:rPr>
              <a:t>Håll rent mellan skivorna, blås ur med exempelvis tryckluft (remdamm m.m.)</a:t>
            </a:r>
            <a:endParaRPr b="0" i="0" sz="14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sv" sz="1400" u="none" cap="none" strike="noStrike">
                <a:solidFill>
                  <a:srgbClr val="000000"/>
                </a:solidFill>
                <a:latin typeface="Arial"/>
                <a:ea typeface="Arial"/>
                <a:cs typeface="Arial"/>
                <a:sym typeface="Arial"/>
              </a:rPr>
              <a:t>Rengör skivorna någon gång med Brake Clean</a:t>
            </a:r>
            <a:endParaRPr b="0" i="0" sz="14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sv" sz="1400" u="none" cap="none" strike="noStrike">
                <a:solidFill>
                  <a:srgbClr val="000000"/>
                </a:solidFill>
                <a:latin typeface="Arial"/>
                <a:ea typeface="Arial"/>
                <a:cs typeface="Arial"/>
                <a:sym typeface="Arial"/>
              </a:rPr>
              <a:t>Kontrollera remspänningen (ökad livslängd)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56" name="Google Shape;256;p24"/>
          <p:cNvSpPr txBox="1"/>
          <p:nvPr/>
        </p:nvSpPr>
        <p:spPr>
          <a:xfrm>
            <a:off x="170850" y="4515625"/>
            <a:ext cx="699300" cy="2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sz="1000">
                <a:solidFill>
                  <a:schemeClr val="dk2"/>
                </a:solidFill>
              </a:rPr>
              <a:t>sid 12</a:t>
            </a:r>
            <a:endParaRPr sz="10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sp>
        <p:nvSpPr>
          <p:cNvPr id="261" name="Google Shape;261;p25"/>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73180"/>
              <a:buNone/>
            </a:pPr>
            <a:r>
              <a:rPr lang="sv"/>
              <a:t>Tändstift - </a:t>
            </a:r>
            <a:r>
              <a:rPr lang="sv" sz="3055">
                <a:highlight>
                  <a:srgbClr val="FFFFFF"/>
                </a:highlight>
              </a:rPr>
              <a:t>Men vad kan du läsa av tändstiftets färg?</a:t>
            </a:r>
            <a:endParaRPr sz="4555"/>
          </a:p>
        </p:txBody>
      </p:sp>
      <p:pic>
        <p:nvPicPr>
          <p:cNvPr id="262" name="Google Shape;262;p25"/>
          <p:cNvPicPr preferRelativeResize="0"/>
          <p:nvPr/>
        </p:nvPicPr>
        <p:blipFill rotWithShape="1">
          <a:blip r:embed="rId3">
            <a:alphaModFix/>
          </a:blip>
          <a:srcRect b="0" l="0" r="0" t="0"/>
          <a:stretch/>
        </p:blipFill>
        <p:spPr>
          <a:xfrm>
            <a:off x="6867325" y="2145099"/>
            <a:ext cx="2130575" cy="1786625"/>
          </a:xfrm>
          <a:prstGeom prst="rect">
            <a:avLst/>
          </a:prstGeom>
          <a:noFill/>
          <a:ln>
            <a:noFill/>
          </a:ln>
        </p:spPr>
      </p:pic>
      <p:pic>
        <p:nvPicPr>
          <p:cNvPr id="263" name="Google Shape;263;p25" title="Zuendkerzenbild-rehbraun-218x300.jpg"/>
          <p:cNvPicPr preferRelativeResize="0"/>
          <p:nvPr/>
        </p:nvPicPr>
        <p:blipFill rotWithShape="1">
          <a:blip r:embed="rId4">
            <a:alphaModFix/>
          </a:blip>
          <a:srcRect b="0" l="0" r="0" t="0"/>
          <a:stretch/>
        </p:blipFill>
        <p:spPr>
          <a:xfrm>
            <a:off x="56925" y="1505688"/>
            <a:ext cx="783825" cy="1078675"/>
          </a:xfrm>
          <a:prstGeom prst="rect">
            <a:avLst/>
          </a:prstGeom>
          <a:noFill/>
          <a:ln>
            <a:noFill/>
          </a:ln>
        </p:spPr>
      </p:pic>
      <p:pic>
        <p:nvPicPr>
          <p:cNvPr id="264" name="Google Shape;264;p25" title="Zuendkerzenbild-weiss-218x300.jpg"/>
          <p:cNvPicPr preferRelativeResize="0"/>
          <p:nvPr/>
        </p:nvPicPr>
        <p:blipFill rotWithShape="1">
          <a:blip r:embed="rId5">
            <a:alphaModFix/>
          </a:blip>
          <a:srcRect b="0" l="0" r="0" t="0"/>
          <a:stretch/>
        </p:blipFill>
        <p:spPr>
          <a:xfrm>
            <a:off x="34200" y="2504250"/>
            <a:ext cx="829275" cy="1141200"/>
          </a:xfrm>
          <a:prstGeom prst="rect">
            <a:avLst/>
          </a:prstGeom>
          <a:noFill/>
          <a:ln>
            <a:noFill/>
          </a:ln>
        </p:spPr>
      </p:pic>
      <p:pic>
        <p:nvPicPr>
          <p:cNvPr id="265" name="Google Shape;265;p25" title="Zuendkerzenbild-schwarz-218x300.jpg"/>
          <p:cNvPicPr preferRelativeResize="0"/>
          <p:nvPr/>
        </p:nvPicPr>
        <p:blipFill rotWithShape="1">
          <a:blip r:embed="rId6">
            <a:alphaModFix/>
          </a:blip>
          <a:srcRect b="0" l="0" r="0" t="0"/>
          <a:stretch/>
        </p:blipFill>
        <p:spPr>
          <a:xfrm>
            <a:off x="56925" y="3645452"/>
            <a:ext cx="783825" cy="1078634"/>
          </a:xfrm>
          <a:prstGeom prst="rect">
            <a:avLst/>
          </a:prstGeom>
          <a:noFill/>
          <a:ln>
            <a:noFill/>
          </a:ln>
        </p:spPr>
      </p:pic>
      <p:sp>
        <p:nvSpPr>
          <p:cNvPr id="266" name="Google Shape;266;p25"/>
          <p:cNvSpPr txBox="1"/>
          <p:nvPr/>
        </p:nvSpPr>
        <p:spPr>
          <a:xfrm>
            <a:off x="764000" y="1730613"/>
            <a:ext cx="6189300" cy="54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1" i="0" lang="sv" sz="1100" u="none" cap="none" strike="noStrike">
                <a:solidFill>
                  <a:schemeClr val="dk2"/>
                </a:solidFill>
                <a:latin typeface="Arial"/>
                <a:ea typeface="Arial"/>
                <a:cs typeface="Arial"/>
                <a:sym typeface="Arial"/>
              </a:rPr>
              <a:t>Chokladbrun = Helt normalt</a:t>
            </a:r>
            <a:br>
              <a:rPr b="1" i="0" lang="sv" sz="1100" u="none" cap="none" strike="noStrike">
                <a:solidFill>
                  <a:schemeClr val="dk2"/>
                </a:solidFill>
                <a:latin typeface="Arial"/>
                <a:ea typeface="Arial"/>
                <a:cs typeface="Arial"/>
                <a:sym typeface="Arial"/>
              </a:rPr>
            </a:br>
            <a:r>
              <a:rPr b="0" i="0" lang="sv" sz="1100" u="none" cap="none" strike="noStrike">
                <a:solidFill>
                  <a:schemeClr val="dk2"/>
                </a:solidFill>
                <a:latin typeface="Arial"/>
                <a:ea typeface="Arial"/>
                <a:cs typeface="Arial"/>
                <a:sym typeface="Arial"/>
              </a:rPr>
              <a:t>Motorn går som den ska och förbränningen är bra. Tändstiftet är friskt.</a:t>
            </a:r>
            <a:endParaRPr b="0" i="0" sz="900" u="none" cap="none" strike="noStrike">
              <a:solidFill>
                <a:schemeClr val="dk2"/>
              </a:solidFill>
              <a:latin typeface="Arial"/>
              <a:ea typeface="Arial"/>
              <a:cs typeface="Arial"/>
              <a:sym typeface="Arial"/>
            </a:endParaRPr>
          </a:p>
        </p:txBody>
      </p:sp>
      <p:sp>
        <p:nvSpPr>
          <p:cNvPr id="267" name="Google Shape;267;p25"/>
          <p:cNvSpPr txBox="1"/>
          <p:nvPr/>
        </p:nvSpPr>
        <p:spPr>
          <a:xfrm>
            <a:off x="764000" y="2584363"/>
            <a:ext cx="6189300" cy="12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sv" sz="1100" u="none" cap="none" strike="noStrike">
                <a:solidFill>
                  <a:schemeClr val="dk2"/>
                </a:solidFill>
                <a:latin typeface="Arial"/>
                <a:ea typeface="Arial"/>
                <a:cs typeface="Arial"/>
                <a:sym typeface="Arial"/>
              </a:rPr>
              <a:t>Vit = För varmt eller för mager blandning</a:t>
            </a:r>
            <a:br>
              <a:rPr b="1" i="0" lang="sv" sz="1100" u="none" cap="none" strike="noStrike">
                <a:solidFill>
                  <a:schemeClr val="dk2"/>
                </a:solidFill>
                <a:latin typeface="Arial"/>
                <a:ea typeface="Arial"/>
                <a:cs typeface="Arial"/>
                <a:sym typeface="Arial"/>
              </a:rPr>
            </a:br>
            <a:r>
              <a:rPr b="0" i="0" lang="sv" sz="1100" u="none" cap="none" strike="noStrike">
                <a:solidFill>
                  <a:schemeClr val="dk2"/>
                </a:solidFill>
                <a:latin typeface="Arial"/>
                <a:ea typeface="Arial"/>
                <a:cs typeface="Arial"/>
                <a:sym typeface="Arial"/>
              </a:rPr>
              <a:t>Motorn går för varmt eller får för lite bränsle i förhållande till luft. Kan bero på fel i insprutning, luftläckage eller felaktigt tändstift. Bör kollas. </a:t>
            </a:r>
            <a:r>
              <a:rPr b="1" i="0" lang="sv" sz="1100" u="none" cap="none" strike="noStrike">
                <a:solidFill>
                  <a:schemeClr val="dk2"/>
                </a:solidFill>
                <a:latin typeface="Arial"/>
                <a:ea typeface="Arial"/>
                <a:cs typeface="Arial"/>
                <a:sym typeface="Arial"/>
              </a:rPr>
              <a:t>Ha alltid reservstift med vid all skoteråkning, samt verktyg så att du kan byta dem vid behov.</a:t>
            </a:r>
            <a:endParaRPr b="1" i="0" sz="1100" u="none" cap="none" strike="noStrike">
              <a:solidFill>
                <a:schemeClr val="dk2"/>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100"/>
              <a:buFont typeface="Arial"/>
              <a:buNone/>
            </a:pPr>
            <a:r>
              <a:t/>
            </a:r>
            <a:endParaRPr b="1" i="0" sz="1100" u="none" cap="none" strike="noStrike">
              <a:solidFill>
                <a:schemeClr val="dk2"/>
              </a:solidFill>
              <a:latin typeface="Arial"/>
              <a:ea typeface="Arial"/>
              <a:cs typeface="Arial"/>
              <a:sym typeface="Arial"/>
            </a:endParaRPr>
          </a:p>
        </p:txBody>
      </p:sp>
      <p:sp>
        <p:nvSpPr>
          <p:cNvPr id="268" name="Google Shape;268;p25"/>
          <p:cNvSpPr txBox="1"/>
          <p:nvPr/>
        </p:nvSpPr>
        <p:spPr>
          <a:xfrm>
            <a:off x="764000" y="3813063"/>
            <a:ext cx="61893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1" i="0" lang="sv" sz="1100" u="none" cap="none" strike="noStrike">
                <a:solidFill>
                  <a:schemeClr val="dk2"/>
                </a:solidFill>
                <a:latin typeface="Arial"/>
                <a:ea typeface="Arial"/>
                <a:cs typeface="Arial"/>
                <a:sym typeface="Arial"/>
              </a:rPr>
              <a:t>Svart = För fet förbränning</a:t>
            </a:r>
            <a:br>
              <a:rPr b="1" i="0" lang="sv" sz="1100" u="none" cap="none" strike="noStrike">
                <a:solidFill>
                  <a:schemeClr val="dk2"/>
                </a:solidFill>
                <a:latin typeface="Arial"/>
                <a:ea typeface="Arial"/>
                <a:cs typeface="Arial"/>
                <a:sym typeface="Arial"/>
              </a:rPr>
            </a:br>
            <a:r>
              <a:rPr b="0" i="0" lang="sv" sz="1100" u="none" cap="none" strike="noStrike">
                <a:solidFill>
                  <a:schemeClr val="dk2"/>
                </a:solidFill>
                <a:latin typeface="Arial"/>
                <a:ea typeface="Arial"/>
                <a:cs typeface="Arial"/>
                <a:sym typeface="Arial"/>
              </a:rPr>
              <a:t>Motorn får för mycket bränsle eller går med dålig förbränning. Vanligt vid kallstart, korta körningar eller om luftflödet är begränsat (t.ex. smutsigt luftfilter).</a:t>
            </a:r>
            <a:endParaRPr b="0" i="0" sz="11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Batteri</a:t>
            </a:r>
            <a:endParaRPr/>
          </a:p>
        </p:txBody>
      </p:sp>
      <p:sp>
        <p:nvSpPr>
          <p:cNvPr id="274" name="Google Shape;274;p26"/>
          <p:cNvSpPr txBox="1"/>
          <p:nvPr>
            <p:ph idx="1" type="body"/>
          </p:nvPr>
        </p:nvSpPr>
        <p:spPr>
          <a:xfrm>
            <a:off x="3957250" y="1308925"/>
            <a:ext cx="4876800" cy="27267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15000"/>
              </a:lnSpc>
              <a:spcBef>
                <a:spcPts val="0"/>
              </a:spcBef>
              <a:spcAft>
                <a:spcPts val="0"/>
              </a:spcAft>
              <a:buClr>
                <a:schemeClr val="dk1"/>
              </a:buClr>
              <a:buSzPct val="61111"/>
              <a:buFont typeface="Arial"/>
              <a:buNone/>
            </a:pPr>
            <a:r>
              <a:rPr lang="sv"/>
              <a:t>Var försiktig vid handhavande av batteriet.</a:t>
            </a:r>
            <a:endParaRPr/>
          </a:p>
          <a:p>
            <a:pPr indent="0" lvl="0" marL="0" rtl="0" algn="l">
              <a:lnSpc>
                <a:spcPct val="115000"/>
              </a:lnSpc>
              <a:spcBef>
                <a:spcPts val="0"/>
              </a:spcBef>
              <a:spcAft>
                <a:spcPts val="0"/>
              </a:spcAft>
              <a:buClr>
                <a:schemeClr val="dk1"/>
              </a:buClr>
              <a:buSzPct val="61111"/>
              <a:buFont typeface="Arial"/>
              <a:buNone/>
            </a:pPr>
            <a:r>
              <a:t/>
            </a:r>
            <a:endParaRPr/>
          </a:p>
          <a:p>
            <a:pPr indent="0" lvl="0" marL="0" rtl="0" algn="l">
              <a:lnSpc>
                <a:spcPct val="115000"/>
              </a:lnSpc>
              <a:spcBef>
                <a:spcPts val="0"/>
              </a:spcBef>
              <a:spcAft>
                <a:spcPts val="0"/>
              </a:spcAft>
              <a:buSzPct val="129032"/>
              <a:buNone/>
            </a:pPr>
            <a:r>
              <a:rPr lang="sv"/>
              <a:t>Vätskan i batteriet kan vara frätande. Även om moderna batterier så som AGM (Absorbent Glass Mat) är relativt säkra vid rätt hantering, skötsel och underhåll.</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rPr lang="sv"/>
              <a:t>Se till att montera ur batteriet när säsongen är slut och underhållsladda så att batteriet är redo för nästa vinter. </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rPr lang="sv">
                <a:solidFill>
                  <a:schemeClr val="dk1"/>
                </a:solidFill>
              </a:rPr>
              <a:t>Förvara det på en torr och sval plats, +5 - +15°</a:t>
            </a:r>
            <a:endParaRPr/>
          </a:p>
        </p:txBody>
      </p:sp>
      <p:pic>
        <p:nvPicPr>
          <p:cNvPr id="275" name="Google Shape;275;p26"/>
          <p:cNvPicPr preferRelativeResize="0"/>
          <p:nvPr/>
        </p:nvPicPr>
        <p:blipFill rotWithShape="1">
          <a:blip r:embed="rId3">
            <a:alphaModFix/>
          </a:blip>
          <a:srcRect b="0" l="0" r="0" t="0"/>
          <a:stretch/>
        </p:blipFill>
        <p:spPr>
          <a:xfrm>
            <a:off x="551975" y="1658075"/>
            <a:ext cx="3263576" cy="22184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279" name="Shape 279"/>
        <p:cNvGrpSpPr/>
        <p:nvPr/>
      </p:nvGrpSpPr>
      <p:grpSpPr>
        <a:xfrm>
          <a:off x="0" y="0"/>
          <a:ext cx="0" cy="0"/>
          <a:chOff x="0" y="0"/>
          <a:chExt cx="0" cy="0"/>
        </a:xfrm>
      </p:grpSpPr>
      <p:pic>
        <p:nvPicPr>
          <p:cNvPr id="280" name="Google Shape;280;p27"/>
          <p:cNvPicPr preferRelativeResize="0"/>
          <p:nvPr/>
        </p:nvPicPr>
        <p:blipFill rotWithShape="1">
          <a:blip r:embed="rId3">
            <a:alphaModFix/>
          </a:blip>
          <a:srcRect b="0" l="0" r="0" t="0"/>
          <a:stretch/>
        </p:blipFill>
        <p:spPr>
          <a:xfrm>
            <a:off x="176200" y="89525"/>
            <a:ext cx="8791597" cy="4838700"/>
          </a:xfrm>
          <a:prstGeom prst="rect">
            <a:avLst/>
          </a:prstGeom>
          <a:noFill/>
          <a:ln>
            <a:noFill/>
          </a:ln>
        </p:spPr>
      </p:pic>
      <p:sp>
        <p:nvSpPr>
          <p:cNvPr id="281" name="Google Shape;281;p27"/>
          <p:cNvSpPr txBox="1"/>
          <p:nvPr/>
        </p:nvSpPr>
        <p:spPr>
          <a:xfrm>
            <a:off x="541950" y="208500"/>
            <a:ext cx="49338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sv" sz="1600" u="none" cap="none" strike="noStrike">
                <a:solidFill>
                  <a:schemeClr val="lt1"/>
                </a:solidFill>
                <a:latin typeface="Arial"/>
                <a:ea typeface="Arial"/>
                <a:cs typeface="Arial"/>
                <a:sym typeface="Arial"/>
              </a:rPr>
              <a:t>SHOT-systemet ger </a:t>
            </a:r>
            <a:r>
              <a:rPr b="1" i="0" lang="sv" sz="1600" u="none" cap="none" strike="noStrike">
                <a:solidFill>
                  <a:schemeClr val="lt1"/>
                </a:solidFill>
                <a:latin typeface="Arial"/>
                <a:ea typeface="Arial"/>
                <a:cs typeface="Arial"/>
                <a:sym typeface="Arial"/>
              </a:rPr>
              <a:t>betydande viktbesparing </a:t>
            </a:r>
            <a:br>
              <a:rPr b="1" i="0" lang="sv" sz="1600" u="none" cap="none" strike="noStrike">
                <a:solidFill>
                  <a:schemeClr val="lt1"/>
                </a:solidFill>
                <a:latin typeface="Arial"/>
                <a:ea typeface="Arial"/>
                <a:cs typeface="Arial"/>
                <a:sym typeface="Arial"/>
              </a:rPr>
            </a:br>
            <a:r>
              <a:rPr b="1" i="0" lang="sv" sz="1600" u="none" cap="none" strike="noStrike">
                <a:solidFill>
                  <a:schemeClr val="lt1"/>
                </a:solidFill>
                <a:latin typeface="Arial"/>
                <a:ea typeface="Arial"/>
                <a:cs typeface="Arial"/>
                <a:sym typeface="Arial"/>
              </a:rPr>
              <a:t>(~9–10 kg)</a:t>
            </a:r>
            <a:r>
              <a:rPr b="0" i="0" lang="sv" sz="1600" u="none" cap="none" strike="noStrike">
                <a:solidFill>
                  <a:schemeClr val="lt1"/>
                </a:solidFill>
                <a:latin typeface="Arial"/>
                <a:ea typeface="Arial"/>
                <a:cs typeface="Arial"/>
                <a:sym typeface="Arial"/>
              </a:rPr>
              <a:t> jämfört med traditionell elstart med </a:t>
            </a:r>
            <a:br>
              <a:rPr b="0" i="0" lang="sv" sz="1600" u="none" cap="none" strike="noStrike">
                <a:solidFill>
                  <a:schemeClr val="lt1"/>
                </a:solidFill>
                <a:latin typeface="Arial"/>
                <a:ea typeface="Arial"/>
                <a:cs typeface="Arial"/>
                <a:sym typeface="Arial"/>
              </a:rPr>
            </a:br>
            <a:r>
              <a:rPr b="0" i="0" lang="sv" sz="1600" u="none" cap="none" strike="noStrike">
                <a:solidFill>
                  <a:schemeClr val="lt1"/>
                </a:solidFill>
                <a:latin typeface="Arial"/>
                <a:ea typeface="Arial"/>
                <a:cs typeface="Arial"/>
                <a:sym typeface="Arial"/>
              </a:rPr>
              <a:t>batteri, vilket är en anledning till att systemet </a:t>
            </a:r>
            <a:br>
              <a:rPr b="0" i="0" lang="sv" sz="1600" u="none" cap="none" strike="noStrike">
                <a:solidFill>
                  <a:schemeClr val="lt1"/>
                </a:solidFill>
                <a:latin typeface="Arial"/>
                <a:ea typeface="Arial"/>
                <a:cs typeface="Arial"/>
                <a:sym typeface="Arial"/>
              </a:rPr>
            </a:br>
            <a:r>
              <a:rPr b="0" i="0" lang="sv" sz="1600" u="none" cap="none" strike="noStrike">
                <a:solidFill>
                  <a:schemeClr val="lt1"/>
                </a:solidFill>
                <a:latin typeface="Arial"/>
                <a:ea typeface="Arial"/>
                <a:cs typeface="Arial"/>
                <a:sym typeface="Arial"/>
              </a:rPr>
              <a:t>främst marknadsförs för “lättvikt/djupsnö-maskiner”</a:t>
            </a:r>
            <a:endParaRPr b="0" i="0" sz="1900" u="none" cap="none" strike="noStrike">
              <a:solidFill>
                <a:schemeClr val="lt1"/>
              </a:solidFill>
              <a:latin typeface="Arial"/>
              <a:ea typeface="Arial"/>
              <a:cs typeface="Arial"/>
              <a:sym typeface="Arial"/>
            </a:endParaRPr>
          </a:p>
        </p:txBody>
      </p:sp>
      <p:sp>
        <p:nvSpPr>
          <p:cNvPr id="282" name="Google Shape;282;p27"/>
          <p:cNvSpPr txBox="1"/>
          <p:nvPr/>
        </p:nvSpPr>
        <p:spPr>
          <a:xfrm>
            <a:off x="586975" y="2004175"/>
            <a:ext cx="51567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sv" sz="1900" u="none" cap="none" strike="noStrike">
                <a:solidFill>
                  <a:srgbClr val="FFFFFF"/>
                </a:solidFill>
                <a:latin typeface="Arial"/>
                <a:ea typeface="Arial"/>
                <a:cs typeface="Arial"/>
                <a:sym typeface="Arial"/>
              </a:rPr>
              <a:t>“Teknisk innovation i jakten på viktminskning”</a:t>
            </a:r>
            <a:endParaRPr b="0" i="0" sz="22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0" y="932975"/>
            <a:ext cx="9144000" cy="100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Lastning/Lastsäkring</a:t>
            </a:r>
            <a:endParaRPr/>
          </a:p>
          <a:p>
            <a:pPr indent="0" lvl="0" marL="0" rtl="0" algn="ctr">
              <a:lnSpc>
                <a:spcPct val="115000"/>
              </a:lnSpc>
              <a:spcBef>
                <a:spcPts val="0"/>
              </a:spcBef>
              <a:spcAft>
                <a:spcPts val="0"/>
              </a:spcAft>
              <a:buSzPct val="111111"/>
              <a:buNone/>
            </a:pPr>
            <a:r>
              <a:rPr lang="sv"/>
              <a:t>Vad gäller?</a:t>
            </a:r>
            <a:endParaRPr/>
          </a:p>
        </p:txBody>
      </p:sp>
      <p:pic>
        <p:nvPicPr>
          <p:cNvPr id="288" name="Google Shape;288;p28"/>
          <p:cNvPicPr preferRelativeResize="0"/>
          <p:nvPr/>
        </p:nvPicPr>
        <p:blipFill rotWithShape="1">
          <a:blip r:embed="rId3">
            <a:alphaModFix/>
          </a:blip>
          <a:srcRect b="0" l="0" r="0" t="0"/>
          <a:stretch/>
        </p:blipFill>
        <p:spPr>
          <a:xfrm>
            <a:off x="250425" y="1937075"/>
            <a:ext cx="8643152" cy="2835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29" title="lastning skoter 24 1080p">
            <a:hlinkClick r:id="rId3"/>
          </p:cNvPr>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Exempel på fast lastsäkring</a:t>
            </a:r>
            <a:endParaRPr/>
          </a:p>
        </p:txBody>
      </p:sp>
      <p:pic>
        <p:nvPicPr>
          <p:cNvPr id="299" name="Google Shape;299;p30"/>
          <p:cNvPicPr preferRelativeResize="0"/>
          <p:nvPr/>
        </p:nvPicPr>
        <p:blipFill rotWithShape="1">
          <a:blip r:embed="rId3">
            <a:alphaModFix/>
          </a:blip>
          <a:srcRect b="0" l="0" r="0" t="0"/>
          <a:stretch/>
        </p:blipFill>
        <p:spPr>
          <a:xfrm>
            <a:off x="378225" y="1734275"/>
            <a:ext cx="4773699" cy="2573325"/>
          </a:xfrm>
          <a:prstGeom prst="rect">
            <a:avLst/>
          </a:prstGeom>
          <a:noFill/>
          <a:ln>
            <a:noFill/>
          </a:ln>
        </p:spPr>
      </p:pic>
      <p:pic>
        <p:nvPicPr>
          <p:cNvPr id="300" name="Google Shape;300;p30"/>
          <p:cNvPicPr preferRelativeResize="0"/>
          <p:nvPr/>
        </p:nvPicPr>
        <p:blipFill rotWithShape="1">
          <a:blip r:embed="rId4">
            <a:alphaModFix/>
          </a:blip>
          <a:srcRect b="0" l="0" r="0" t="0"/>
          <a:stretch/>
        </p:blipFill>
        <p:spPr>
          <a:xfrm>
            <a:off x="5267198" y="1734275"/>
            <a:ext cx="3429502" cy="25733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pic>
        <p:nvPicPr>
          <p:cNvPr id="305" name="Google Shape;305;p31" title="SpringSecure säkerhetsspärr">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32"/>
          <p:cNvPicPr preferRelativeResize="0"/>
          <p:nvPr/>
        </p:nvPicPr>
        <p:blipFill rotWithShape="1">
          <a:blip r:embed="rId3">
            <a:alphaModFix/>
          </a:blip>
          <a:srcRect b="0" l="0" r="0" t="19224"/>
          <a:stretch/>
        </p:blipFill>
        <p:spPr>
          <a:xfrm>
            <a:off x="2107200" y="1583025"/>
            <a:ext cx="5227951" cy="2731375"/>
          </a:xfrm>
          <a:prstGeom prst="rect">
            <a:avLst/>
          </a:prstGeom>
          <a:noFill/>
          <a:ln>
            <a:noFill/>
          </a:ln>
        </p:spPr>
      </p:pic>
      <p:sp>
        <p:nvSpPr>
          <p:cNvPr id="311" name="Google Shape;311;p32"/>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Kom ihåg!</a:t>
            </a:r>
            <a:endParaRPr/>
          </a:p>
        </p:txBody>
      </p:sp>
      <p:sp>
        <p:nvSpPr>
          <p:cNvPr id="312" name="Google Shape;312;p32"/>
          <p:cNvSpPr txBox="1"/>
          <p:nvPr>
            <p:ph idx="1" type="body"/>
          </p:nvPr>
        </p:nvSpPr>
        <p:spPr>
          <a:xfrm>
            <a:off x="519250" y="3520125"/>
            <a:ext cx="2320800" cy="859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Halva lastvikten </a:t>
            </a:r>
            <a:br>
              <a:rPr lang="sv"/>
            </a:br>
            <a:r>
              <a:rPr lang="sv"/>
              <a:t>i övriga riktningar</a:t>
            </a:r>
            <a:endParaRPr/>
          </a:p>
        </p:txBody>
      </p:sp>
      <p:sp>
        <p:nvSpPr>
          <p:cNvPr id="313" name="Google Shape;313;p32"/>
          <p:cNvSpPr txBox="1"/>
          <p:nvPr>
            <p:ph idx="1" type="body"/>
          </p:nvPr>
        </p:nvSpPr>
        <p:spPr>
          <a:xfrm>
            <a:off x="6128850" y="1796650"/>
            <a:ext cx="2684700" cy="5727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600"/>
              </a:spcBef>
              <a:spcAft>
                <a:spcPts val="0"/>
              </a:spcAft>
              <a:buSzPct val="108108"/>
              <a:buNone/>
            </a:pPr>
            <a:r>
              <a:rPr lang="sv"/>
              <a:t>Hela lasten framåt (0.8)</a:t>
            </a:r>
            <a:endParaRPr/>
          </a:p>
        </p:txBody>
      </p:sp>
      <p:sp>
        <p:nvSpPr>
          <p:cNvPr id="314" name="Google Shape;314;p32"/>
          <p:cNvSpPr txBox="1"/>
          <p:nvPr>
            <p:ph idx="1" type="body"/>
          </p:nvPr>
        </p:nvSpPr>
        <p:spPr>
          <a:xfrm>
            <a:off x="5583475" y="3520125"/>
            <a:ext cx="3946500" cy="1071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600"/>
              </a:spcBef>
              <a:spcAft>
                <a:spcPts val="0"/>
              </a:spcAft>
              <a:buSzPts val="935"/>
              <a:buNone/>
            </a:pPr>
            <a:r>
              <a:rPr lang="sv" sz="1829"/>
              <a:t>Detta gäller även din last på snöskotern såväl som på tillkopplad pulka eller kälke</a:t>
            </a:r>
            <a:endParaRPr sz="1829"/>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0" y="84930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Lastsäkring på snöskoter eller pulka</a:t>
            </a:r>
            <a:endParaRPr/>
          </a:p>
        </p:txBody>
      </p:sp>
      <p:pic>
        <p:nvPicPr>
          <p:cNvPr id="320" name="Google Shape;320;p33"/>
          <p:cNvPicPr preferRelativeResize="0"/>
          <p:nvPr/>
        </p:nvPicPr>
        <p:blipFill rotWithShape="1">
          <a:blip r:embed="rId3">
            <a:alphaModFix/>
          </a:blip>
          <a:srcRect b="0" l="0" r="0" t="0"/>
          <a:stretch/>
        </p:blipFill>
        <p:spPr>
          <a:xfrm>
            <a:off x="269475" y="1505663"/>
            <a:ext cx="3966701" cy="1783375"/>
          </a:xfrm>
          <a:prstGeom prst="rect">
            <a:avLst/>
          </a:prstGeom>
          <a:noFill/>
          <a:ln>
            <a:noFill/>
          </a:ln>
        </p:spPr>
      </p:pic>
      <p:pic>
        <p:nvPicPr>
          <p:cNvPr id="321" name="Google Shape;321;p33"/>
          <p:cNvPicPr preferRelativeResize="0"/>
          <p:nvPr/>
        </p:nvPicPr>
        <p:blipFill rotWithShape="1">
          <a:blip r:embed="rId4">
            <a:alphaModFix/>
          </a:blip>
          <a:srcRect b="0" l="0" r="0" t="0"/>
          <a:stretch/>
        </p:blipFill>
        <p:spPr>
          <a:xfrm>
            <a:off x="4700325" y="1505675"/>
            <a:ext cx="1783350" cy="1783350"/>
          </a:xfrm>
          <a:prstGeom prst="rect">
            <a:avLst/>
          </a:prstGeom>
          <a:noFill/>
          <a:ln>
            <a:noFill/>
          </a:ln>
        </p:spPr>
      </p:pic>
      <p:pic>
        <p:nvPicPr>
          <p:cNvPr id="322" name="Google Shape;322;p33"/>
          <p:cNvPicPr preferRelativeResize="0"/>
          <p:nvPr/>
        </p:nvPicPr>
        <p:blipFill rotWithShape="1">
          <a:blip r:embed="rId5">
            <a:alphaModFix/>
          </a:blip>
          <a:srcRect b="0" l="0" r="0" t="0"/>
          <a:stretch/>
        </p:blipFill>
        <p:spPr>
          <a:xfrm>
            <a:off x="6830177" y="1505675"/>
            <a:ext cx="1895923" cy="1783350"/>
          </a:xfrm>
          <a:prstGeom prst="rect">
            <a:avLst/>
          </a:prstGeom>
          <a:noFill/>
          <a:ln>
            <a:noFill/>
          </a:ln>
        </p:spPr>
      </p:pic>
      <p:pic>
        <p:nvPicPr>
          <p:cNvPr id="323" name="Google Shape;323;p33"/>
          <p:cNvPicPr preferRelativeResize="0"/>
          <p:nvPr/>
        </p:nvPicPr>
        <p:blipFill rotWithShape="1">
          <a:blip r:embed="rId6">
            <a:alphaModFix/>
          </a:blip>
          <a:srcRect b="0" l="0" r="0" t="0"/>
          <a:stretch/>
        </p:blipFill>
        <p:spPr>
          <a:xfrm>
            <a:off x="499354" y="3372700"/>
            <a:ext cx="1971474" cy="1396550"/>
          </a:xfrm>
          <a:prstGeom prst="rect">
            <a:avLst/>
          </a:prstGeom>
          <a:noFill/>
          <a:ln>
            <a:noFill/>
          </a:ln>
        </p:spPr>
      </p:pic>
      <p:pic>
        <p:nvPicPr>
          <p:cNvPr id="324" name="Google Shape;324;p33"/>
          <p:cNvPicPr preferRelativeResize="0"/>
          <p:nvPr/>
        </p:nvPicPr>
        <p:blipFill rotWithShape="1">
          <a:blip r:embed="rId7">
            <a:alphaModFix/>
          </a:blip>
          <a:srcRect b="0" l="0" r="0" t="0"/>
          <a:stretch/>
        </p:blipFill>
        <p:spPr>
          <a:xfrm>
            <a:off x="3064250" y="3372700"/>
            <a:ext cx="986775" cy="1396550"/>
          </a:xfrm>
          <a:prstGeom prst="rect">
            <a:avLst/>
          </a:prstGeom>
          <a:noFill/>
          <a:ln>
            <a:noFill/>
          </a:ln>
        </p:spPr>
      </p:pic>
      <p:sp>
        <p:nvSpPr>
          <p:cNvPr id="325" name="Google Shape;325;p33"/>
          <p:cNvSpPr txBox="1"/>
          <p:nvPr/>
        </p:nvSpPr>
        <p:spPr>
          <a:xfrm>
            <a:off x="4930800" y="3541625"/>
            <a:ext cx="4213200" cy="105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sv" sz="2000" u="none" cap="none" strike="noStrike">
                <a:solidFill>
                  <a:schemeClr val="dk2"/>
                </a:solidFill>
                <a:latin typeface="Arial"/>
                <a:ea typeface="Arial"/>
                <a:cs typeface="Arial"/>
                <a:sym typeface="Arial"/>
              </a:rPr>
              <a:t>Använd godkända lastsäkrings- eller spännband, så att medhavd last håller sig kvar</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34"/>
          <p:cNvPicPr preferRelativeResize="0"/>
          <p:nvPr/>
        </p:nvPicPr>
        <p:blipFill rotWithShape="1">
          <a:blip r:embed="rId3">
            <a:alphaModFix/>
          </a:blip>
          <a:srcRect b="0" l="0" r="0" t="0"/>
          <a:stretch/>
        </p:blipFill>
        <p:spPr>
          <a:xfrm>
            <a:off x="599200" y="1116400"/>
            <a:ext cx="3004651" cy="3778299"/>
          </a:xfrm>
          <a:prstGeom prst="rect">
            <a:avLst/>
          </a:prstGeom>
          <a:noFill/>
          <a:ln>
            <a:noFill/>
          </a:ln>
        </p:spPr>
      </p:pic>
      <p:sp>
        <p:nvSpPr>
          <p:cNvPr id="331" name="Google Shape;331;p34"/>
          <p:cNvSpPr txBox="1"/>
          <p:nvPr>
            <p:ph type="title"/>
          </p:nvPr>
        </p:nvSpPr>
        <p:spPr>
          <a:xfrm>
            <a:off x="2786250" y="793975"/>
            <a:ext cx="35715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Flerskiktsprincipen</a:t>
            </a:r>
            <a:endParaRPr/>
          </a:p>
        </p:txBody>
      </p:sp>
      <p:sp>
        <p:nvSpPr>
          <p:cNvPr id="332" name="Google Shape;332;p34"/>
          <p:cNvSpPr txBox="1"/>
          <p:nvPr/>
        </p:nvSpPr>
        <p:spPr>
          <a:xfrm>
            <a:off x="42775" y="1116400"/>
            <a:ext cx="185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Rymliga kläder</a:t>
            </a:r>
            <a:endParaRPr b="0" i="0" sz="2000" u="none" cap="none" strike="noStrike">
              <a:solidFill>
                <a:schemeClr val="dk2"/>
              </a:solidFill>
              <a:latin typeface="Arial"/>
              <a:ea typeface="Arial"/>
              <a:cs typeface="Arial"/>
              <a:sym typeface="Arial"/>
            </a:endParaRPr>
          </a:p>
        </p:txBody>
      </p:sp>
      <p:sp>
        <p:nvSpPr>
          <p:cNvPr id="333" name="Google Shape;333;p34"/>
          <p:cNvSpPr txBox="1"/>
          <p:nvPr/>
        </p:nvSpPr>
        <p:spPr>
          <a:xfrm>
            <a:off x="3434725" y="1366675"/>
            <a:ext cx="3466800" cy="1240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Flera tunna lager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Det som gör att man kan hålla sig varm, är luften i kläderna</a:t>
            </a:r>
            <a:endParaRPr b="0" i="0" sz="2000" u="none" cap="none" strike="noStrike">
              <a:solidFill>
                <a:schemeClr val="dk2"/>
              </a:solidFill>
              <a:latin typeface="Arial"/>
              <a:ea typeface="Arial"/>
              <a:cs typeface="Arial"/>
              <a:sym typeface="Arial"/>
            </a:endParaRPr>
          </a:p>
        </p:txBody>
      </p:sp>
      <p:pic>
        <p:nvPicPr>
          <p:cNvPr id="334" name="Google Shape;334;p34"/>
          <p:cNvPicPr preferRelativeResize="0"/>
          <p:nvPr/>
        </p:nvPicPr>
        <p:blipFill rotWithShape="1">
          <a:blip r:embed="rId4">
            <a:alphaModFix/>
          </a:blip>
          <a:srcRect b="0" l="0" r="0" t="0"/>
          <a:stretch/>
        </p:blipFill>
        <p:spPr>
          <a:xfrm>
            <a:off x="3434725" y="2711200"/>
            <a:ext cx="5016802" cy="1177650"/>
          </a:xfrm>
          <a:prstGeom prst="rect">
            <a:avLst/>
          </a:prstGeom>
          <a:noFill/>
          <a:ln>
            <a:noFill/>
          </a:ln>
        </p:spPr>
      </p:pic>
      <p:sp>
        <p:nvSpPr>
          <p:cNvPr id="335" name="Google Shape;335;p34"/>
          <p:cNvSpPr txBox="1"/>
          <p:nvPr>
            <p:ph idx="1" type="body"/>
          </p:nvPr>
        </p:nvSpPr>
        <p:spPr>
          <a:xfrm>
            <a:off x="3486225" y="3992900"/>
            <a:ext cx="2774700" cy="80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852"/>
              <a:buNone/>
            </a:pPr>
            <a:r>
              <a:rPr lang="sv"/>
              <a:t>2016-01-01 kom lag på </a:t>
            </a:r>
            <a:br>
              <a:rPr lang="sv"/>
            </a:br>
            <a:r>
              <a:rPr lang="sv"/>
              <a:t>hjälm vid skoterkörning</a:t>
            </a:r>
            <a:endParaRPr/>
          </a:p>
        </p:txBody>
      </p:sp>
      <p:sp>
        <p:nvSpPr>
          <p:cNvPr id="336" name="Google Shape;336;p34"/>
          <p:cNvSpPr txBox="1"/>
          <p:nvPr/>
        </p:nvSpPr>
        <p:spPr>
          <a:xfrm>
            <a:off x="6624650" y="3992900"/>
            <a:ext cx="1942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sv" sz="1800" u="none" cap="none" strike="noStrike">
                <a:solidFill>
                  <a:schemeClr val="dk2"/>
                </a:solidFill>
                <a:latin typeface="Arial"/>
                <a:ea typeface="Arial"/>
                <a:cs typeface="Arial"/>
                <a:sym typeface="Arial"/>
              </a:rPr>
              <a:t>Godkänd enligt</a:t>
            </a:r>
            <a:r>
              <a:rPr b="0" i="0" lang="sv" sz="1400" u="none" cap="none" strike="noStrike">
                <a:solidFill>
                  <a:srgbClr val="000000"/>
                </a:solidFill>
                <a:latin typeface="Arial"/>
                <a:ea typeface="Arial"/>
                <a:cs typeface="Arial"/>
                <a:sym typeface="Arial"/>
              </a:rPr>
              <a:t> </a:t>
            </a:r>
            <a:br>
              <a:rPr b="0" i="0" lang="sv" sz="1400" u="none" cap="none" strike="noStrike">
                <a:solidFill>
                  <a:srgbClr val="000000"/>
                </a:solidFill>
                <a:latin typeface="Arial"/>
                <a:ea typeface="Arial"/>
                <a:cs typeface="Arial"/>
                <a:sym typeface="Arial"/>
              </a:rPr>
            </a:br>
            <a:r>
              <a:rPr b="1" i="0" lang="sv" sz="1800" u="none" cap="none" strike="noStrike">
                <a:solidFill>
                  <a:schemeClr val="dk1"/>
                </a:solidFill>
                <a:latin typeface="Arial"/>
                <a:ea typeface="Arial"/>
                <a:cs typeface="Arial"/>
                <a:sym typeface="Arial"/>
              </a:rPr>
              <a:t>ECE 22:05</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35" title="SNOFED Klä dig rätt">
            <a:hlinkClick r:id="rId3"/>
          </p:cNvPr>
          <p:cNvPicPr preferRelativeResize="0"/>
          <p:nvPr/>
        </p:nvPicPr>
        <p:blipFill rotWithShape="1">
          <a:blip r:embed="rId4">
            <a:alphaModFix/>
          </a:blip>
          <a:srcRect b="0" l="0" r="0" t="0"/>
          <a:stretch/>
        </p:blipFill>
        <p:spPr>
          <a:xfrm>
            <a:off x="0" y="-49200"/>
            <a:ext cx="9144000" cy="5259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6" title="ChatGPT Image 16 sep. 2025 14_59_13.png"/>
          <p:cNvPicPr preferRelativeResize="0"/>
          <p:nvPr/>
        </p:nvPicPr>
        <p:blipFill rotWithShape="1">
          <a:blip r:embed="rId3">
            <a:alphaModFix/>
          </a:blip>
          <a:srcRect b="0" l="0" r="0" t="0"/>
          <a:stretch/>
        </p:blipFill>
        <p:spPr>
          <a:xfrm>
            <a:off x="2773650" y="774200"/>
            <a:ext cx="3911849" cy="3911849"/>
          </a:xfrm>
          <a:prstGeom prst="rect">
            <a:avLst/>
          </a:prstGeom>
          <a:noFill/>
          <a:ln>
            <a:noFill/>
          </a:ln>
        </p:spPr>
      </p:pic>
      <p:sp>
        <p:nvSpPr>
          <p:cNvPr id="347" name="Google Shape;347;p36"/>
          <p:cNvSpPr txBox="1"/>
          <p:nvPr/>
        </p:nvSpPr>
        <p:spPr>
          <a:xfrm>
            <a:off x="215975" y="4335150"/>
            <a:ext cx="9927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sz="1000">
                <a:solidFill>
                  <a:schemeClr val="dk2"/>
                </a:solidFill>
              </a:rPr>
              <a:t>sid 16</a:t>
            </a:r>
            <a:endParaRPr sz="10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37"/>
          <p:cNvPicPr preferRelativeResize="0"/>
          <p:nvPr/>
        </p:nvPicPr>
        <p:blipFill rotWithShape="1">
          <a:blip r:embed="rId3">
            <a:alphaModFix/>
          </a:blip>
          <a:srcRect b="0" l="0" r="0" t="0"/>
          <a:stretch/>
        </p:blipFill>
        <p:spPr>
          <a:xfrm>
            <a:off x="152400" y="912650"/>
            <a:ext cx="8839199" cy="3793489"/>
          </a:xfrm>
          <a:prstGeom prst="rect">
            <a:avLst/>
          </a:prstGeom>
          <a:noFill/>
          <a:ln>
            <a:noFill/>
          </a:ln>
        </p:spPr>
      </p:pic>
      <p:sp>
        <p:nvSpPr>
          <p:cNvPr id="353" name="Google Shape;353;p37"/>
          <p:cNvSpPr txBox="1"/>
          <p:nvPr/>
        </p:nvSpPr>
        <p:spPr>
          <a:xfrm>
            <a:off x="182125" y="4425400"/>
            <a:ext cx="620400" cy="2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sz="1000">
                <a:solidFill>
                  <a:schemeClr val="dk2"/>
                </a:solidFill>
              </a:rPr>
              <a:t>sid 17</a:t>
            </a:r>
            <a:endParaRPr sz="10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38"/>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359" name="Google Shape;359;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sv"/>
              <a:t>MILJÖPÅVERKAN, BULLER &amp; UTSLÄPP</a:t>
            </a:r>
            <a:endParaRPr/>
          </a:p>
        </p:txBody>
      </p:sp>
      <p:cxnSp>
        <p:nvCxnSpPr>
          <p:cNvPr id="360" name="Google Shape;360;p38"/>
          <p:cNvCxnSpPr/>
          <p:nvPr/>
        </p:nvCxnSpPr>
        <p:spPr>
          <a:xfrm>
            <a:off x="3561750" y="3012900"/>
            <a:ext cx="2020500" cy="0"/>
          </a:xfrm>
          <a:prstGeom prst="straightConnector1">
            <a:avLst/>
          </a:prstGeom>
          <a:noFill/>
          <a:ln cap="flat" cmpd="sng" w="19050">
            <a:solidFill>
              <a:srgbClr val="999999"/>
            </a:solidFill>
            <a:prstDash val="solid"/>
            <a:round/>
            <a:headEnd len="med" w="med" type="diamond"/>
            <a:tailEnd len="med" w="med" type="diamond"/>
          </a:ln>
        </p:spPr>
      </p:cxnSp>
      <p:sp>
        <p:nvSpPr>
          <p:cNvPr id="361" name="Google Shape;361;p38"/>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5" name="Shape 365"/>
        <p:cNvGrpSpPr/>
        <p:nvPr/>
      </p:nvGrpSpPr>
      <p:grpSpPr>
        <a:xfrm>
          <a:off x="0" y="0"/>
          <a:ext cx="0" cy="0"/>
          <a:chOff x="0" y="0"/>
          <a:chExt cx="0" cy="0"/>
        </a:xfrm>
      </p:grpSpPr>
      <p:pic>
        <p:nvPicPr>
          <p:cNvPr id="366" name="Google Shape;366;p39"/>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367" name="Google Shape;367;p39"/>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368" name="Google Shape;368;p39"/>
          <p:cNvSpPr txBox="1"/>
          <p:nvPr>
            <p:ph idx="1" type="body"/>
          </p:nvPr>
        </p:nvSpPr>
        <p:spPr>
          <a:xfrm>
            <a:off x="737100" y="1640425"/>
            <a:ext cx="76698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Att ge ökad kunskap om snöskoterns effekter på miljön och hur dessa kan minimeras.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pic>
        <p:nvPicPr>
          <p:cNvPr id="373" name="Google Shape;373;p40"/>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374" name="Google Shape;374;p40"/>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Målet är uppnått när eleven kan redogöra för:</a:t>
            </a:r>
            <a:endParaRPr/>
          </a:p>
        </p:txBody>
      </p:sp>
      <p:sp>
        <p:nvSpPr>
          <p:cNvPr id="375" name="Google Shape;375;p40"/>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olika typer av motorer, körsätt, skötsel och underhåll, underlag och markbeskaffenhet.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Defensiv körning</a:t>
            </a:r>
            <a:endParaRPr/>
          </a:p>
        </p:txBody>
      </p:sp>
      <p:sp>
        <p:nvSpPr>
          <p:cNvPr id="381" name="Google Shape;381;p41"/>
          <p:cNvSpPr txBox="1"/>
          <p:nvPr>
            <p:ph idx="1" type="body"/>
          </p:nvPr>
        </p:nvSpPr>
        <p:spPr>
          <a:xfrm>
            <a:off x="225350" y="1435750"/>
            <a:ext cx="3183600" cy="2463900"/>
          </a:xfrm>
          <a:prstGeom prst="rect">
            <a:avLst/>
          </a:prstGeom>
          <a:noFill/>
          <a:ln>
            <a:noFill/>
          </a:ln>
        </p:spPr>
        <p:txBody>
          <a:bodyPr anchorCtr="0" anchor="t" bIns="91425" lIns="91425" spcFirstLastPara="1" rIns="91425" wrap="square" tIns="91425">
            <a:normAutofit fontScale="70000" lnSpcReduction="10000"/>
          </a:bodyPr>
          <a:lstStyle/>
          <a:p>
            <a:pPr indent="0" lvl="0" marL="0" rtl="0" algn="l">
              <a:lnSpc>
                <a:spcPct val="115000"/>
              </a:lnSpc>
              <a:spcBef>
                <a:spcPts val="0"/>
              </a:spcBef>
              <a:spcAft>
                <a:spcPts val="0"/>
              </a:spcAft>
              <a:buSzPct val="142857"/>
              <a:buNone/>
            </a:pPr>
            <a:r>
              <a:rPr lang="sv"/>
              <a:t>Defensiv körning, ofta kallad ”mjuk körning” skonar miljön. </a:t>
            </a:r>
            <a:endParaRPr/>
          </a:p>
          <a:p>
            <a:pPr indent="0" lvl="0" marL="0" rtl="0" algn="l">
              <a:lnSpc>
                <a:spcPct val="115000"/>
              </a:lnSpc>
              <a:spcBef>
                <a:spcPts val="0"/>
              </a:spcBef>
              <a:spcAft>
                <a:spcPts val="0"/>
              </a:spcAft>
              <a:buSzPct val="142857"/>
              <a:buNone/>
            </a:pPr>
            <a:r>
              <a:rPr lang="sv"/>
              <a:t>Dvs. gasa mjukt vid start och försök att köra med så jämn gas som möjligt under hela körningen.</a:t>
            </a:r>
            <a:endParaRPr/>
          </a:p>
          <a:p>
            <a:pPr indent="0" lvl="0" marL="0" rtl="0" algn="l">
              <a:lnSpc>
                <a:spcPct val="115000"/>
              </a:lnSpc>
              <a:spcBef>
                <a:spcPts val="0"/>
              </a:spcBef>
              <a:spcAft>
                <a:spcPts val="0"/>
              </a:spcAft>
              <a:buSzPct val="142857"/>
              <a:buNone/>
            </a:pPr>
            <a:r>
              <a:t/>
            </a:r>
            <a:endParaRPr/>
          </a:p>
          <a:p>
            <a:pPr indent="0" lvl="0" marL="0" rtl="0" algn="l">
              <a:lnSpc>
                <a:spcPct val="115000"/>
              </a:lnSpc>
              <a:spcBef>
                <a:spcPts val="0"/>
              </a:spcBef>
              <a:spcAft>
                <a:spcPts val="0"/>
              </a:spcAft>
              <a:buSzPct val="142857"/>
              <a:buNone/>
            </a:pPr>
            <a:r>
              <a:rPr lang="sv"/>
              <a:t>Bromsa inte bort farten i onödan, släpp gasen i tid och bromsa mjukt. </a:t>
            </a:r>
            <a:endParaRPr/>
          </a:p>
          <a:p>
            <a:pPr indent="0" lvl="0" marL="0" rtl="0" algn="l">
              <a:lnSpc>
                <a:spcPct val="115000"/>
              </a:lnSpc>
              <a:spcBef>
                <a:spcPts val="0"/>
              </a:spcBef>
              <a:spcAft>
                <a:spcPts val="0"/>
              </a:spcAft>
              <a:buSzPct val="142857"/>
              <a:buNone/>
            </a:pPr>
            <a:r>
              <a:rPr lang="sv"/>
              <a:t>Detta körsätt minskar även skoterns bränsleförbrukning samt ökar </a:t>
            </a:r>
            <a:endParaRPr/>
          </a:p>
          <a:p>
            <a:pPr indent="0" lvl="0" marL="0" rtl="0" algn="l">
              <a:lnSpc>
                <a:spcPct val="115000"/>
              </a:lnSpc>
              <a:spcBef>
                <a:spcPts val="0"/>
              </a:spcBef>
              <a:spcAft>
                <a:spcPts val="0"/>
              </a:spcAft>
              <a:buSzPct val="142857"/>
              <a:buNone/>
            </a:pPr>
            <a:r>
              <a:rPr lang="sv"/>
              <a:t>maskinens livslängd. </a:t>
            </a:r>
            <a:endParaRPr/>
          </a:p>
        </p:txBody>
      </p:sp>
      <p:pic>
        <p:nvPicPr>
          <p:cNvPr id="382" name="Google Shape;382;p41"/>
          <p:cNvPicPr preferRelativeResize="0"/>
          <p:nvPr/>
        </p:nvPicPr>
        <p:blipFill rotWithShape="1">
          <a:blip r:embed="rId3">
            <a:alphaModFix/>
          </a:blip>
          <a:srcRect b="0" l="52597" r="0" t="0"/>
          <a:stretch/>
        </p:blipFill>
        <p:spPr>
          <a:xfrm>
            <a:off x="6997550" y="1219819"/>
            <a:ext cx="1717301" cy="900750"/>
          </a:xfrm>
          <a:prstGeom prst="rect">
            <a:avLst/>
          </a:prstGeom>
          <a:noFill/>
          <a:ln>
            <a:noFill/>
          </a:ln>
        </p:spPr>
      </p:pic>
      <p:pic>
        <p:nvPicPr>
          <p:cNvPr id="383" name="Google Shape;383;p41"/>
          <p:cNvPicPr preferRelativeResize="0"/>
          <p:nvPr/>
        </p:nvPicPr>
        <p:blipFill rotWithShape="1">
          <a:blip r:embed="rId3">
            <a:alphaModFix/>
          </a:blip>
          <a:srcRect b="0" l="0" r="53987" t="0"/>
          <a:stretch/>
        </p:blipFill>
        <p:spPr>
          <a:xfrm>
            <a:off x="6029253" y="1833325"/>
            <a:ext cx="1941975" cy="1049350"/>
          </a:xfrm>
          <a:prstGeom prst="rect">
            <a:avLst/>
          </a:prstGeom>
          <a:noFill/>
          <a:ln>
            <a:noFill/>
          </a:ln>
        </p:spPr>
      </p:pic>
      <p:pic>
        <p:nvPicPr>
          <p:cNvPr id="384" name="Google Shape;384;p41"/>
          <p:cNvPicPr preferRelativeResize="0"/>
          <p:nvPr/>
        </p:nvPicPr>
        <p:blipFill rotWithShape="1">
          <a:blip r:embed="rId4">
            <a:alphaModFix/>
          </a:blip>
          <a:srcRect b="0" l="14052" r="15929" t="0"/>
          <a:stretch/>
        </p:blipFill>
        <p:spPr>
          <a:xfrm>
            <a:off x="6277875" y="3736975"/>
            <a:ext cx="2482099" cy="854175"/>
          </a:xfrm>
          <a:prstGeom prst="rect">
            <a:avLst/>
          </a:prstGeom>
          <a:noFill/>
          <a:ln>
            <a:noFill/>
          </a:ln>
        </p:spPr>
      </p:pic>
      <p:pic>
        <p:nvPicPr>
          <p:cNvPr id="385" name="Google Shape;385;p41"/>
          <p:cNvPicPr preferRelativeResize="0"/>
          <p:nvPr/>
        </p:nvPicPr>
        <p:blipFill rotWithShape="1">
          <a:blip r:embed="rId5">
            <a:alphaModFix/>
          </a:blip>
          <a:srcRect b="0" l="0" r="0" t="0"/>
          <a:stretch/>
        </p:blipFill>
        <p:spPr>
          <a:xfrm>
            <a:off x="3558009" y="1435750"/>
            <a:ext cx="2027991" cy="2463900"/>
          </a:xfrm>
          <a:prstGeom prst="rect">
            <a:avLst/>
          </a:prstGeom>
          <a:noFill/>
          <a:ln>
            <a:noFill/>
          </a:ln>
        </p:spPr>
      </p:pic>
      <p:sp>
        <p:nvSpPr>
          <p:cNvPr id="386" name="Google Shape;386;p41"/>
          <p:cNvSpPr txBox="1"/>
          <p:nvPr>
            <p:ph idx="1" type="body"/>
          </p:nvPr>
        </p:nvSpPr>
        <p:spPr>
          <a:xfrm>
            <a:off x="225350" y="3932200"/>
            <a:ext cx="6658500" cy="69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852"/>
              <a:buNone/>
            </a:pPr>
            <a:r>
              <a:rPr lang="sv" sz="1295"/>
              <a:t>Gasglad och hårda inbromsningar belastar naturen med stora utsläpp.</a:t>
            </a:r>
            <a:endParaRPr sz="1295"/>
          </a:p>
          <a:p>
            <a:pPr indent="0" lvl="0" marL="0" rtl="0" algn="l">
              <a:lnSpc>
                <a:spcPct val="115000"/>
              </a:lnSpc>
              <a:spcBef>
                <a:spcPts val="0"/>
              </a:spcBef>
              <a:spcAft>
                <a:spcPts val="0"/>
              </a:spcAft>
              <a:buSzPts val="852"/>
              <a:buNone/>
            </a:pPr>
            <a:r>
              <a:rPr lang="sv" sz="1295"/>
              <a:t>Defensiv och planerad körning minskar utsläppen och sparar på underlaget.</a:t>
            </a:r>
            <a:endParaRPr sz="129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42" title="körtekniker 7 hänsyn respekt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p43" title="under snön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4"/>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Tillräckligt med snö för att inte skada underlaget.</a:t>
            </a:r>
            <a:endParaRPr/>
          </a:p>
        </p:txBody>
      </p:sp>
      <p:pic>
        <p:nvPicPr>
          <p:cNvPr id="402" name="Google Shape;402;p44"/>
          <p:cNvPicPr preferRelativeResize="0"/>
          <p:nvPr/>
        </p:nvPicPr>
        <p:blipFill rotWithShape="1">
          <a:blip r:embed="rId3">
            <a:alphaModFix/>
          </a:blip>
          <a:srcRect b="0" l="0" r="0" t="0"/>
          <a:stretch/>
        </p:blipFill>
        <p:spPr>
          <a:xfrm>
            <a:off x="768625" y="1505675"/>
            <a:ext cx="7606752" cy="32253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5"/>
          <p:cNvSpPr txBox="1"/>
          <p:nvPr>
            <p:ph type="title"/>
          </p:nvPr>
        </p:nvSpPr>
        <p:spPr>
          <a:xfrm>
            <a:off x="333625" y="932975"/>
            <a:ext cx="34755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Vad säger reglerna?</a:t>
            </a:r>
            <a:endParaRPr/>
          </a:p>
        </p:txBody>
      </p:sp>
      <p:sp>
        <p:nvSpPr>
          <p:cNvPr id="408" name="Google Shape;408;p45"/>
          <p:cNvSpPr txBox="1"/>
          <p:nvPr/>
        </p:nvSpPr>
        <p:spPr>
          <a:xfrm>
            <a:off x="526100" y="1618975"/>
            <a:ext cx="5368200" cy="684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33333"/>
              </a:buClr>
              <a:buSzPts val="1800"/>
              <a:buFont typeface="Arial"/>
              <a:buChar char="●"/>
            </a:pPr>
            <a:r>
              <a:rPr b="1" i="0" lang="sv" sz="1800" u="none" cap="none" strike="noStrike">
                <a:solidFill>
                  <a:srgbClr val="333333"/>
                </a:solidFill>
                <a:highlight>
                  <a:srgbClr val="FFFFFF"/>
                </a:highlight>
                <a:latin typeface="Arial"/>
                <a:ea typeface="Arial"/>
                <a:cs typeface="Arial"/>
                <a:sym typeface="Arial"/>
              </a:rPr>
              <a:t>Terrängkörningslagens (TKL) </a:t>
            </a:r>
            <a:r>
              <a:rPr b="0" i="0" lang="sv" sz="1800" u="none" cap="none" strike="noStrike">
                <a:solidFill>
                  <a:srgbClr val="333333"/>
                </a:solidFill>
                <a:highlight>
                  <a:srgbClr val="FFFFFF"/>
                </a:highlight>
                <a:latin typeface="Arial"/>
                <a:ea typeface="Arial"/>
                <a:cs typeface="Arial"/>
                <a:sym typeface="Arial"/>
              </a:rPr>
              <a:t>1:a paragraf har tre regler som du ska rätta dig efter</a:t>
            </a:r>
            <a:endParaRPr b="0" i="0" sz="1800" u="none" cap="none" strike="noStrike">
              <a:solidFill>
                <a:schemeClr val="dk2"/>
              </a:solidFill>
              <a:latin typeface="Arial"/>
              <a:ea typeface="Arial"/>
              <a:cs typeface="Arial"/>
              <a:sym typeface="Arial"/>
            </a:endParaRPr>
          </a:p>
        </p:txBody>
      </p:sp>
      <p:sp>
        <p:nvSpPr>
          <p:cNvPr id="409" name="Google Shape;409;p45"/>
          <p:cNvSpPr txBox="1"/>
          <p:nvPr/>
        </p:nvSpPr>
        <p:spPr>
          <a:xfrm>
            <a:off x="526100" y="2303275"/>
            <a:ext cx="5368200" cy="941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33333"/>
              </a:buClr>
              <a:buSzPts val="1800"/>
              <a:buFont typeface="Arial"/>
              <a:buChar char="●"/>
            </a:pPr>
            <a:r>
              <a:rPr b="1" i="0" lang="sv" sz="1800" u="none" cap="none" strike="noStrike">
                <a:solidFill>
                  <a:srgbClr val="333333"/>
                </a:solidFill>
                <a:highlight>
                  <a:srgbClr val="FFFFFF"/>
                </a:highlight>
                <a:latin typeface="Arial"/>
                <a:ea typeface="Arial"/>
                <a:cs typeface="Arial"/>
                <a:sym typeface="Arial"/>
              </a:rPr>
              <a:t>1 §</a:t>
            </a:r>
            <a:r>
              <a:rPr b="0" i="0" lang="sv" sz="1800" u="none" cap="none" strike="noStrike">
                <a:solidFill>
                  <a:srgbClr val="333333"/>
                </a:solidFill>
                <a:highlight>
                  <a:srgbClr val="FFFFFF"/>
                </a:highlight>
                <a:latin typeface="Arial"/>
                <a:ea typeface="Arial"/>
                <a:cs typeface="Arial"/>
                <a:sym typeface="Arial"/>
              </a:rPr>
              <a:t> Körning i terräng med motordrivet fordon för annat ändamål än jordbruk eller skogsbruk är förbjuden i hela landet:</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10" name="Google Shape;410;p45"/>
          <p:cNvSpPr txBox="1"/>
          <p:nvPr/>
        </p:nvSpPr>
        <p:spPr>
          <a:xfrm>
            <a:off x="526100" y="3244375"/>
            <a:ext cx="5368200" cy="5025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33333"/>
              </a:buClr>
              <a:buSzPts val="1800"/>
              <a:buFont typeface="Arial"/>
              <a:buChar char="●"/>
            </a:pPr>
            <a:r>
              <a:rPr b="1" i="0" lang="sv" sz="1800" u="none" cap="none" strike="noStrike">
                <a:solidFill>
                  <a:srgbClr val="333333"/>
                </a:solidFill>
                <a:highlight>
                  <a:srgbClr val="FFFFFF"/>
                </a:highlight>
                <a:latin typeface="Arial"/>
                <a:ea typeface="Arial"/>
                <a:cs typeface="Arial"/>
                <a:sym typeface="Arial"/>
              </a:rPr>
              <a:t>1.</a:t>
            </a:r>
            <a:r>
              <a:rPr b="0" i="0" lang="sv" sz="1800" u="none" cap="none" strike="noStrike">
                <a:solidFill>
                  <a:srgbClr val="333333"/>
                </a:solidFill>
                <a:highlight>
                  <a:srgbClr val="FFFFFF"/>
                </a:highlight>
                <a:latin typeface="Arial"/>
                <a:ea typeface="Arial"/>
                <a:cs typeface="Arial"/>
                <a:sym typeface="Arial"/>
              </a:rPr>
              <a:t> på barmark</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11" name="Google Shape;411;p45"/>
          <p:cNvSpPr txBox="1"/>
          <p:nvPr/>
        </p:nvSpPr>
        <p:spPr>
          <a:xfrm>
            <a:off x="526100" y="3664100"/>
            <a:ext cx="5838600" cy="941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33333"/>
              </a:buClr>
              <a:buSzPts val="1800"/>
              <a:buFont typeface="Arial"/>
              <a:buChar char="●"/>
            </a:pPr>
            <a:r>
              <a:rPr b="1" i="0" lang="sv" sz="1800" u="none" cap="none" strike="noStrike">
                <a:solidFill>
                  <a:srgbClr val="333333"/>
                </a:solidFill>
                <a:highlight>
                  <a:srgbClr val="FFFFFF"/>
                </a:highlight>
                <a:latin typeface="Arial"/>
                <a:ea typeface="Arial"/>
                <a:cs typeface="Arial"/>
                <a:sym typeface="Arial"/>
              </a:rPr>
              <a:t>2.</a:t>
            </a:r>
            <a:r>
              <a:rPr b="0" i="0" lang="sv" sz="1800" u="none" cap="none" strike="noStrike">
                <a:solidFill>
                  <a:srgbClr val="333333"/>
                </a:solidFill>
                <a:highlight>
                  <a:srgbClr val="FFFFFF"/>
                </a:highlight>
                <a:latin typeface="Arial"/>
                <a:ea typeface="Arial"/>
                <a:cs typeface="Arial"/>
                <a:sym typeface="Arial"/>
              </a:rPr>
              <a:t> på snötäckt skogsmark med plant- eller ungskog, om det inte är uppenbart att körningen kan ske utan risk för skada på skogen</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6"/>
          <p:cNvSpPr txBox="1"/>
          <p:nvPr>
            <p:ph type="title"/>
          </p:nvPr>
        </p:nvSpPr>
        <p:spPr>
          <a:xfrm>
            <a:off x="333625" y="932975"/>
            <a:ext cx="34755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Vad säger reglerna?</a:t>
            </a:r>
            <a:endParaRPr/>
          </a:p>
        </p:txBody>
      </p:sp>
      <p:sp>
        <p:nvSpPr>
          <p:cNvPr id="417" name="Google Shape;417;p46"/>
          <p:cNvSpPr txBox="1"/>
          <p:nvPr/>
        </p:nvSpPr>
        <p:spPr>
          <a:xfrm>
            <a:off x="526100" y="1618975"/>
            <a:ext cx="5945400" cy="684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33333"/>
              </a:buClr>
              <a:buSzPts val="1800"/>
              <a:buFont typeface="Arial"/>
              <a:buChar char="●"/>
            </a:pPr>
            <a:r>
              <a:rPr b="1" i="0" lang="sv" sz="1800" u="none" cap="none" strike="noStrike">
                <a:solidFill>
                  <a:srgbClr val="333333"/>
                </a:solidFill>
                <a:highlight>
                  <a:srgbClr val="FFFFFF"/>
                </a:highlight>
                <a:latin typeface="Arial"/>
                <a:ea typeface="Arial"/>
                <a:cs typeface="Arial"/>
                <a:sym typeface="Arial"/>
              </a:rPr>
              <a:t>3. </a:t>
            </a:r>
            <a:r>
              <a:rPr b="0" i="0" lang="sv" sz="1800" u="none" cap="none" strike="noStrike">
                <a:solidFill>
                  <a:srgbClr val="333333"/>
                </a:solidFill>
                <a:highlight>
                  <a:srgbClr val="FFFFFF"/>
                </a:highlight>
                <a:latin typeface="Arial"/>
                <a:ea typeface="Arial"/>
                <a:cs typeface="Arial"/>
                <a:sym typeface="Arial"/>
              </a:rPr>
              <a:t>på snötäckt jordbruksmark, om det inte är uppenbart att körningen kan ske utan risk för </a:t>
            </a:r>
            <a:br>
              <a:rPr b="0" i="0" lang="sv" sz="1800" u="none" cap="none" strike="noStrike">
                <a:solidFill>
                  <a:srgbClr val="333333"/>
                </a:solidFill>
                <a:highlight>
                  <a:srgbClr val="FFFFFF"/>
                </a:highlight>
                <a:latin typeface="Arial"/>
                <a:ea typeface="Arial"/>
                <a:cs typeface="Arial"/>
                <a:sym typeface="Arial"/>
              </a:rPr>
            </a:br>
            <a:r>
              <a:rPr b="0" i="0" lang="sv" sz="1800" u="none" cap="none" strike="noStrike">
                <a:solidFill>
                  <a:srgbClr val="333333"/>
                </a:solidFill>
                <a:highlight>
                  <a:srgbClr val="FFFFFF"/>
                </a:highlight>
                <a:latin typeface="Arial"/>
                <a:ea typeface="Arial"/>
                <a:cs typeface="Arial"/>
                <a:sym typeface="Arial"/>
              </a:rPr>
              <a:t>skada på marken</a:t>
            </a:r>
            <a:endParaRPr b="0" i="0" sz="1800" u="none" cap="none" strike="noStrike">
              <a:solidFill>
                <a:schemeClr val="dk2"/>
              </a:solidFill>
              <a:latin typeface="Arial"/>
              <a:ea typeface="Arial"/>
              <a:cs typeface="Arial"/>
              <a:sym typeface="Arial"/>
            </a:endParaRPr>
          </a:p>
        </p:txBody>
      </p:sp>
      <p:sp>
        <p:nvSpPr>
          <p:cNvPr id="418" name="Google Shape;418;p46"/>
          <p:cNvSpPr txBox="1"/>
          <p:nvPr/>
        </p:nvSpPr>
        <p:spPr>
          <a:xfrm>
            <a:off x="632900" y="2862075"/>
            <a:ext cx="4716000" cy="167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sv" sz="1800" u="none" cap="none" strike="noStrike">
                <a:solidFill>
                  <a:srgbClr val="333333"/>
                </a:solidFill>
                <a:highlight>
                  <a:srgbClr val="FFFFFF"/>
                </a:highlight>
                <a:latin typeface="Arial"/>
                <a:ea typeface="Arial"/>
                <a:cs typeface="Arial"/>
                <a:sym typeface="Arial"/>
              </a:rPr>
              <a:t>Med andra ord måste det alltid finnas snö mellan snöskotern och marken. Säkrast är att köra när det är rikligt med snö så att du inte riskerar att ha kontakt med marken eller skada den.</a:t>
            </a:r>
            <a:endParaRPr b="1"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pic>
        <p:nvPicPr>
          <p:cNvPr id="419" name="Google Shape;419;p46"/>
          <p:cNvPicPr preferRelativeResize="0"/>
          <p:nvPr/>
        </p:nvPicPr>
        <p:blipFill rotWithShape="1">
          <a:blip r:embed="rId3">
            <a:alphaModFix/>
          </a:blip>
          <a:srcRect b="0" l="0" r="0" t="0"/>
          <a:stretch/>
        </p:blipFill>
        <p:spPr>
          <a:xfrm>
            <a:off x="5274050" y="2973950"/>
            <a:ext cx="3689125" cy="1564225"/>
          </a:xfrm>
          <a:prstGeom prst="rect">
            <a:avLst/>
          </a:prstGeom>
          <a:noFill/>
          <a:ln>
            <a:noFill/>
          </a:ln>
        </p:spPr>
      </p:pic>
      <p:pic>
        <p:nvPicPr>
          <p:cNvPr id="420" name="Google Shape;420;p46"/>
          <p:cNvPicPr preferRelativeResize="0"/>
          <p:nvPr/>
        </p:nvPicPr>
        <p:blipFill rotWithShape="1">
          <a:blip r:embed="rId4">
            <a:alphaModFix/>
          </a:blip>
          <a:srcRect b="0" l="0" r="0" t="0"/>
          <a:stretch/>
        </p:blipFill>
        <p:spPr>
          <a:xfrm>
            <a:off x="5701700" y="987750"/>
            <a:ext cx="3261477" cy="18114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7"/>
          <p:cNvSpPr txBox="1"/>
          <p:nvPr>
            <p:ph type="title"/>
          </p:nvPr>
        </p:nvSpPr>
        <p:spPr>
          <a:xfrm>
            <a:off x="333625" y="932975"/>
            <a:ext cx="3475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11111"/>
              <a:buNone/>
            </a:pPr>
            <a:r>
              <a:rPr lang="sv"/>
              <a:t>Reglerna</a:t>
            </a:r>
            <a:endParaRPr/>
          </a:p>
        </p:txBody>
      </p:sp>
      <p:sp>
        <p:nvSpPr>
          <p:cNvPr id="426" name="Google Shape;426;p47"/>
          <p:cNvSpPr txBox="1"/>
          <p:nvPr/>
        </p:nvSpPr>
        <p:spPr>
          <a:xfrm>
            <a:off x="526100" y="1505675"/>
            <a:ext cx="5368200" cy="449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33333"/>
              </a:buClr>
              <a:buSzPts val="1800"/>
              <a:buFont typeface="Arial"/>
              <a:buChar char="●"/>
            </a:pPr>
            <a:r>
              <a:rPr b="1" i="0" lang="sv" sz="1800" u="none" cap="none" strike="noStrike">
                <a:solidFill>
                  <a:srgbClr val="333333"/>
                </a:solidFill>
                <a:highlight>
                  <a:srgbClr val="FFFFFF"/>
                </a:highlight>
                <a:latin typeface="Arial"/>
                <a:ea typeface="Arial"/>
                <a:cs typeface="Arial"/>
                <a:sym typeface="Arial"/>
              </a:rPr>
              <a:t>Utöver lagen finns viktiga regler att följa:</a:t>
            </a:r>
            <a:endParaRPr b="0" i="0" sz="1800" u="none" cap="none" strike="noStrike">
              <a:solidFill>
                <a:schemeClr val="dk2"/>
              </a:solidFill>
              <a:latin typeface="Arial"/>
              <a:ea typeface="Arial"/>
              <a:cs typeface="Arial"/>
              <a:sym typeface="Arial"/>
            </a:endParaRPr>
          </a:p>
        </p:txBody>
      </p:sp>
      <p:sp>
        <p:nvSpPr>
          <p:cNvPr id="427" name="Google Shape;427;p47"/>
          <p:cNvSpPr txBox="1"/>
          <p:nvPr/>
        </p:nvSpPr>
        <p:spPr>
          <a:xfrm>
            <a:off x="333625" y="1912050"/>
            <a:ext cx="5368200" cy="7380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Du får inte köra nära bostäder och annan bebyggelse</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1"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28" name="Google Shape;428;p47"/>
          <p:cNvSpPr txBox="1"/>
          <p:nvPr/>
        </p:nvSpPr>
        <p:spPr>
          <a:xfrm>
            <a:off x="333625" y="2571738"/>
            <a:ext cx="6095100" cy="9411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I nationalparker och naturreservat gäller särskilda bestämmelser. På vissa platser är det helt förbjudet att använda motordrivet fordon</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1"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29" name="Google Shape;429;p47"/>
          <p:cNvSpPr txBox="1"/>
          <p:nvPr/>
        </p:nvSpPr>
        <p:spPr>
          <a:xfrm>
            <a:off x="333625" y="3586750"/>
            <a:ext cx="8373000" cy="13044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I fjällen finns något som kallas regleringsområden och i en del av dessa får körning endast ske på för ändamålet upprättade allmänna snöskoterleder. I andra regleringsområden gäller totalt snöskoterförbud för allmänheten</a:t>
            </a:r>
            <a:endParaRPr b="1"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8"/>
          <p:cNvSpPr txBox="1"/>
          <p:nvPr>
            <p:ph type="title"/>
          </p:nvPr>
        </p:nvSpPr>
        <p:spPr>
          <a:xfrm>
            <a:off x="333625" y="932975"/>
            <a:ext cx="3475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11111"/>
              <a:buNone/>
            </a:pPr>
            <a:r>
              <a:rPr lang="sv"/>
              <a:t>Reglerna (forts.)</a:t>
            </a:r>
            <a:endParaRPr/>
          </a:p>
        </p:txBody>
      </p:sp>
      <p:sp>
        <p:nvSpPr>
          <p:cNvPr id="435" name="Google Shape;435;p48"/>
          <p:cNvSpPr txBox="1"/>
          <p:nvPr/>
        </p:nvSpPr>
        <p:spPr>
          <a:xfrm>
            <a:off x="526100" y="1505675"/>
            <a:ext cx="7720500" cy="733500"/>
          </a:xfrm>
          <a:prstGeom prst="rect">
            <a:avLst/>
          </a:prstGeom>
          <a:noFill/>
          <a:ln>
            <a:noFill/>
          </a:ln>
        </p:spPr>
        <p:txBody>
          <a:bodyPr anchorCtr="0" anchor="t" bIns="91425" lIns="91425" spcFirstLastPara="1" rIns="91425" wrap="square" tIns="91425">
            <a:noAutofit/>
          </a:bodyPr>
          <a:lstStyle/>
          <a:p>
            <a:pPr indent="-342900" lvl="0" marL="4572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Länsstyrelsen eller kommunen kan utfärda lokala snöskoterförbud av hänsyn till bland annat friluftsliv, rennäring, djurliv eller naturvård</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36" name="Google Shape;436;p48"/>
          <p:cNvSpPr txBox="1"/>
          <p:nvPr/>
        </p:nvSpPr>
        <p:spPr>
          <a:xfrm>
            <a:off x="526100" y="2239175"/>
            <a:ext cx="7720500" cy="733500"/>
          </a:xfrm>
          <a:prstGeom prst="rect">
            <a:avLst/>
          </a:prstGeom>
          <a:noFill/>
          <a:ln>
            <a:noFill/>
          </a:ln>
        </p:spPr>
        <p:txBody>
          <a:bodyPr anchorCtr="0" anchor="t" bIns="91425" lIns="91425" spcFirstLastPara="1" rIns="91425" wrap="square" tIns="91425">
            <a:noAutofit/>
          </a:bodyPr>
          <a:lstStyle/>
          <a:p>
            <a:pPr indent="-342900" lvl="0" marL="4572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Snöskoterkörning kan också regleras av kommuner genom lokala trafikföreskrifter</a:t>
            </a:r>
            <a:endParaRPr b="0" i="0" sz="135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37" name="Google Shape;437;p48"/>
          <p:cNvSpPr txBox="1"/>
          <p:nvPr/>
        </p:nvSpPr>
        <p:spPr>
          <a:xfrm>
            <a:off x="526100" y="2972675"/>
            <a:ext cx="7720500" cy="1041600"/>
          </a:xfrm>
          <a:prstGeom prst="rect">
            <a:avLst/>
          </a:prstGeom>
          <a:noFill/>
          <a:ln>
            <a:noFill/>
          </a:ln>
        </p:spPr>
        <p:txBody>
          <a:bodyPr anchorCtr="0" anchor="t" bIns="91425" lIns="91425" spcFirstLastPara="1" rIns="91425" wrap="square" tIns="91425">
            <a:noAutofit/>
          </a:bodyPr>
          <a:lstStyle/>
          <a:p>
            <a:pPr indent="-342900" lvl="0" marL="4572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Du har ansvaret att ta reda på eventuella begränsningar eller regleringar. Du kan inte i efterhand säga att du inte visste vad som gällde</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9"/>
          <p:cNvSpPr txBox="1"/>
          <p:nvPr>
            <p:ph type="title"/>
          </p:nvPr>
        </p:nvSpPr>
        <p:spPr>
          <a:xfrm>
            <a:off x="333625" y="932975"/>
            <a:ext cx="3475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11111"/>
              <a:buNone/>
            </a:pPr>
            <a:r>
              <a:rPr lang="sv"/>
              <a:t>Det sunda förnuftet</a:t>
            </a:r>
            <a:endParaRPr/>
          </a:p>
        </p:txBody>
      </p:sp>
      <p:sp>
        <p:nvSpPr>
          <p:cNvPr id="443" name="Google Shape;443;p49"/>
          <p:cNvSpPr txBox="1"/>
          <p:nvPr/>
        </p:nvSpPr>
        <p:spPr>
          <a:xfrm>
            <a:off x="526100" y="1505675"/>
            <a:ext cx="7720500" cy="733500"/>
          </a:xfrm>
          <a:prstGeom prst="rect">
            <a:avLst/>
          </a:prstGeom>
          <a:noFill/>
          <a:ln>
            <a:noFill/>
          </a:ln>
        </p:spPr>
        <p:txBody>
          <a:bodyPr anchorCtr="0" anchor="t" bIns="91425" lIns="91425" spcFirstLastPara="1" rIns="91425" wrap="square" tIns="91425">
            <a:noAutofit/>
          </a:bodyPr>
          <a:lstStyle/>
          <a:p>
            <a:pPr indent="0" lvl="0" marL="0" marR="190500" rtl="0" algn="l">
              <a:lnSpc>
                <a:spcPct val="115000"/>
              </a:lnSpc>
              <a:spcBef>
                <a:spcPts val="1500"/>
              </a:spcBef>
              <a:spcAft>
                <a:spcPts val="0"/>
              </a:spcAft>
              <a:buClr>
                <a:srgbClr val="000000"/>
              </a:buClr>
              <a:buSzPts val="1800"/>
              <a:buFont typeface="Arial"/>
              <a:buNone/>
            </a:pPr>
            <a:r>
              <a:rPr b="1" i="0" lang="sv" sz="1800" u="none" cap="none" strike="noStrike">
                <a:solidFill>
                  <a:srgbClr val="333333"/>
                </a:solidFill>
                <a:highlight>
                  <a:srgbClr val="FFFFFF"/>
                </a:highlight>
                <a:latin typeface="Arial"/>
                <a:ea typeface="Arial"/>
                <a:cs typeface="Arial"/>
                <a:sym typeface="Arial"/>
              </a:rPr>
              <a:t>Egentligen är det väldigt enkelt: uppträd hänsynsfullt mot såväl människor som natur och ha ordning på din skoter</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44" name="Google Shape;444;p49"/>
          <p:cNvSpPr txBox="1"/>
          <p:nvPr/>
        </p:nvSpPr>
        <p:spPr>
          <a:xfrm>
            <a:off x="216000" y="2259513"/>
            <a:ext cx="7720500" cy="7335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Visa hänsyn till skidåkare, djurskötare och andra som du passerar. Kör sakta och med rejält avstånd</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45" name="Google Shape;445;p49"/>
          <p:cNvSpPr txBox="1"/>
          <p:nvPr/>
        </p:nvSpPr>
        <p:spPr>
          <a:xfrm>
            <a:off x="216000" y="3088188"/>
            <a:ext cx="6148800" cy="4428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Kör aldrig aggressivt och provocerande</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46" name="Google Shape;446;p49"/>
          <p:cNvSpPr txBox="1"/>
          <p:nvPr/>
        </p:nvSpPr>
        <p:spPr>
          <a:xfrm>
            <a:off x="216000" y="3626175"/>
            <a:ext cx="8191200" cy="7335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Kör aldrig onykter eller drogpåverkad. Nolltolerans är en självklarhet</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0"/>
          <p:cNvSpPr txBox="1"/>
          <p:nvPr>
            <p:ph type="title"/>
          </p:nvPr>
        </p:nvSpPr>
        <p:spPr>
          <a:xfrm>
            <a:off x="333625" y="932975"/>
            <a:ext cx="50367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11111"/>
              <a:buNone/>
            </a:pPr>
            <a:r>
              <a:rPr lang="sv"/>
              <a:t>Det sunda förnuftet (forts.)</a:t>
            </a:r>
            <a:endParaRPr/>
          </a:p>
        </p:txBody>
      </p:sp>
      <p:sp>
        <p:nvSpPr>
          <p:cNvPr id="452" name="Google Shape;452;p50"/>
          <p:cNvSpPr txBox="1"/>
          <p:nvPr/>
        </p:nvSpPr>
        <p:spPr>
          <a:xfrm>
            <a:off x="216000" y="1505675"/>
            <a:ext cx="7431900" cy="7335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Visa respekt för marken du färdas på. Kör inte på barmark, i skogsplanteringar eller på odlad åkermark</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1"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53" name="Google Shape;453;p50"/>
          <p:cNvSpPr txBox="1"/>
          <p:nvPr/>
        </p:nvSpPr>
        <p:spPr>
          <a:xfrm>
            <a:off x="216000" y="2279850"/>
            <a:ext cx="5688900" cy="5727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Ta reda på och följ alltid lokala bestämmelser</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54" name="Google Shape;454;p50"/>
          <p:cNvSpPr txBox="1"/>
          <p:nvPr/>
        </p:nvSpPr>
        <p:spPr>
          <a:xfrm>
            <a:off x="216000" y="2700775"/>
            <a:ext cx="6148800" cy="4428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Använd skoterleder där sådana finns</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55" name="Google Shape;455;p50"/>
          <p:cNvSpPr txBox="1"/>
          <p:nvPr/>
        </p:nvSpPr>
        <p:spPr>
          <a:xfrm>
            <a:off x="216000" y="3119725"/>
            <a:ext cx="7057500" cy="4428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Lös ledkort &amp; eller klubbmedlemskap så bidrar du till att hålla lederna i gott skick.</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
        <p:nvSpPr>
          <p:cNvPr id="456" name="Google Shape;456;p50"/>
          <p:cNvSpPr txBox="1"/>
          <p:nvPr/>
        </p:nvSpPr>
        <p:spPr>
          <a:xfrm>
            <a:off x="216000" y="3829700"/>
            <a:ext cx="7250100" cy="1029300"/>
          </a:xfrm>
          <a:prstGeom prst="rect">
            <a:avLst/>
          </a:prstGeom>
          <a:noFill/>
          <a:ln>
            <a:noFill/>
          </a:ln>
        </p:spPr>
        <p:txBody>
          <a:bodyPr anchorCtr="0" anchor="t" bIns="91425" lIns="91425" spcFirstLastPara="1" rIns="91425" wrap="square" tIns="91425">
            <a:noAutofit/>
          </a:bodyPr>
          <a:lstStyle/>
          <a:p>
            <a:pPr indent="-342900" lvl="0" marL="647700" marR="190500" rtl="0" algn="l">
              <a:lnSpc>
                <a:spcPct val="115000"/>
              </a:lnSpc>
              <a:spcBef>
                <a:spcPts val="1500"/>
              </a:spcBef>
              <a:spcAft>
                <a:spcPts val="0"/>
              </a:spcAft>
              <a:buClr>
                <a:srgbClr val="333333"/>
              </a:buClr>
              <a:buSzPts val="1800"/>
              <a:buFont typeface="Arial"/>
              <a:buChar char="●"/>
            </a:pPr>
            <a:r>
              <a:rPr b="0" i="0" lang="sv" sz="1800" u="none" cap="none" strike="noStrike">
                <a:solidFill>
                  <a:srgbClr val="333333"/>
                </a:solidFill>
                <a:highlight>
                  <a:srgbClr val="FFFFFF"/>
                </a:highlight>
                <a:latin typeface="Arial"/>
                <a:ea typeface="Arial"/>
                <a:cs typeface="Arial"/>
                <a:sym typeface="Arial"/>
              </a:rPr>
              <a:t>Kör inte en manipulerad snöskoter. Bullret upplevs av många som mycket störande och dessutom är dessa skotrar olagliga.</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190500" rtl="0" algn="l">
              <a:lnSpc>
                <a:spcPct val="115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2300"/>
              </a:spcBef>
              <a:spcAft>
                <a:spcPts val="0"/>
              </a:spcAft>
              <a:buClr>
                <a:srgbClr val="000000"/>
              </a:buClr>
              <a:buSzPts val="1800"/>
              <a:buFont typeface="Arial"/>
              <a:buNone/>
            </a:pPr>
            <a:r>
              <a:t/>
            </a:r>
            <a:endParaRPr b="0" i="0" sz="18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51" title="varför är inte skoterkörning tillåten överallt i fjällen 1080p mp4 1080p">
            <a:hlinkClick r:id="rId3"/>
          </p:cNvPr>
          <p:cNvPicPr preferRelativeResize="0"/>
          <p:nvPr/>
        </p:nvPicPr>
        <p:blipFill rotWithShape="1">
          <a:blip r:embed="rId4">
            <a:alphaModFix/>
          </a:blip>
          <a:srcRect b="0" l="0" r="0" t="0"/>
          <a:stretch/>
        </p:blipFill>
        <p:spPr>
          <a:xfrm>
            <a:off x="0" y="-857250"/>
            <a:ext cx="9144000" cy="685800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52"/>
          <p:cNvPicPr preferRelativeResize="0"/>
          <p:nvPr/>
        </p:nvPicPr>
        <p:blipFill rotWithShape="1">
          <a:blip r:embed="rId3">
            <a:alphaModFix/>
          </a:blip>
          <a:srcRect b="0" l="0" r="0" t="0"/>
          <a:stretch/>
        </p:blipFill>
        <p:spPr>
          <a:xfrm>
            <a:off x="3068200" y="923900"/>
            <a:ext cx="2857899" cy="3810550"/>
          </a:xfrm>
          <a:prstGeom prst="rect">
            <a:avLst/>
          </a:prstGeom>
          <a:noFill/>
          <a:ln>
            <a:noFill/>
          </a:ln>
        </p:spPr>
      </p:pic>
      <p:sp>
        <p:nvSpPr>
          <p:cNvPr id="467" name="Google Shape;467;p52"/>
          <p:cNvSpPr txBox="1"/>
          <p:nvPr/>
        </p:nvSpPr>
        <p:spPr>
          <a:xfrm>
            <a:off x="0" y="827650"/>
            <a:ext cx="3614400" cy="226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All nöjeskörning var i princip förbjuden i Norge fram till 2015, då Stortinget sa ja till reglerad skoteråkning efter skoterleder.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br>
              <a:rPr b="1" i="0" lang="sv" sz="1800" u="none" cap="none" strike="noStrike">
                <a:solidFill>
                  <a:schemeClr val="dk1"/>
                </a:solidFill>
                <a:latin typeface="Arial"/>
                <a:ea typeface="Arial"/>
                <a:cs typeface="Arial"/>
                <a:sym typeface="Arial"/>
              </a:rPr>
            </a:br>
            <a:r>
              <a:rPr b="1" i="0" lang="sv" sz="1800" u="none" cap="none" strike="noStrike">
                <a:solidFill>
                  <a:schemeClr val="dk1"/>
                </a:solidFill>
                <a:latin typeface="Arial"/>
                <a:ea typeface="Arial"/>
                <a:cs typeface="Arial"/>
                <a:sym typeface="Arial"/>
              </a:rPr>
              <a:t>Det är kommunerna som styr detta med de lokala klubbarna.</a:t>
            </a:r>
            <a:endParaRPr b="1" i="0" sz="1800" u="none" cap="none" strike="noStrike">
              <a:solidFill>
                <a:schemeClr val="dk1"/>
              </a:solidFill>
              <a:latin typeface="Arial"/>
              <a:ea typeface="Arial"/>
              <a:cs typeface="Arial"/>
              <a:sym typeface="Arial"/>
            </a:endParaRPr>
          </a:p>
        </p:txBody>
      </p:sp>
      <p:sp>
        <p:nvSpPr>
          <p:cNvPr id="468" name="Google Shape;468;p52"/>
          <p:cNvSpPr txBox="1"/>
          <p:nvPr/>
        </p:nvSpPr>
        <p:spPr>
          <a:xfrm>
            <a:off x="151850" y="3415450"/>
            <a:ext cx="2705400" cy="136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Mer info kring detta på</a:t>
            </a:r>
            <a:endParaRPr b="1" i="0" sz="18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800"/>
              <a:buFont typeface="Arial"/>
              <a:buNone/>
            </a:pPr>
            <a:r>
              <a:rPr b="1" i="0" lang="sv" sz="1800" u="sng" cap="none" strike="noStrike">
                <a:solidFill>
                  <a:schemeClr val="hlink"/>
                </a:solidFill>
                <a:latin typeface="Arial"/>
                <a:ea typeface="Arial"/>
                <a:cs typeface="Arial"/>
                <a:sym typeface="Arial"/>
                <a:hlinkClick r:id="rId4"/>
              </a:rPr>
              <a:t>www.skfr.no</a:t>
            </a:r>
            <a:br>
              <a:rPr b="1" i="0" lang="sv" sz="1800" u="none" cap="none" strike="noStrike">
                <a:solidFill>
                  <a:schemeClr val="dk1"/>
                </a:solidFill>
                <a:latin typeface="Arial"/>
                <a:ea typeface="Arial"/>
                <a:cs typeface="Arial"/>
                <a:sym typeface="Arial"/>
              </a:rPr>
            </a:br>
            <a:r>
              <a:rPr b="1" i="0" lang="sv" sz="1800" u="none" cap="none" strike="noStrike">
                <a:solidFill>
                  <a:srgbClr val="4D5156"/>
                </a:solidFill>
                <a:highlight>
                  <a:srgbClr val="FFFFFF"/>
                </a:highlight>
                <a:latin typeface="Arial"/>
                <a:ea typeface="Arial"/>
                <a:cs typeface="Arial"/>
                <a:sym typeface="Arial"/>
              </a:rPr>
              <a:t>Snøscooterklubbenes </a:t>
            </a:r>
            <a:r>
              <a:rPr b="1" i="0" lang="sv" sz="1800" u="none" cap="none" strike="noStrike">
                <a:solidFill>
                  <a:srgbClr val="5F6368"/>
                </a:solidFill>
                <a:highlight>
                  <a:srgbClr val="FFFFFF"/>
                </a:highlight>
                <a:latin typeface="Arial"/>
                <a:ea typeface="Arial"/>
                <a:cs typeface="Arial"/>
                <a:sym typeface="Arial"/>
              </a:rPr>
              <a:t>Fellesråd</a:t>
            </a:r>
            <a:endParaRPr b="1" i="0" sz="1800" u="none" cap="none" strike="noStrike">
              <a:solidFill>
                <a:schemeClr val="dk1"/>
              </a:solidFill>
              <a:latin typeface="Arial"/>
              <a:ea typeface="Arial"/>
              <a:cs typeface="Arial"/>
              <a:sym typeface="Arial"/>
            </a:endParaRPr>
          </a:p>
        </p:txBody>
      </p:sp>
      <p:sp>
        <p:nvSpPr>
          <p:cNvPr id="469" name="Google Shape;469;p52"/>
          <p:cNvSpPr txBox="1"/>
          <p:nvPr/>
        </p:nvSpPr>
        <p:spPr>
          <a:xfrm>
            <a:off x="5529600" y="3611550"/>
            <a:ext cx="3614400" cy="11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I Finland regleras skoteråkning till statliga leder. I terräng krävs tillstånd.</a:t>
            </a:r>
            <a:endParaRPr b="1" i="0" sz="1800" u="none" cap="none" strike="noStrike">
              <a:solidFill>
                <a:schemeClr val="dk1"/>
              </a:solidFill>
              <a:latin typeface="Arial"/>
              <a:ea typeface="Arial"/>
              <a:cs typeface="Arial"/>
              <a:sym typeface="Arial"/>
            </a:endParaRPr>
          </a:p>
        </p:txBody>
      </p:sp>
      <p:sp>
        <p:nvSpPr>
          <p:cNvPr id="470" name="Google Shape;470;p52"/>
          <p:cNvSpPr txBox="1"/>
          <p:nvPr>
            <p:ph type="title"/>
          </p:nvPr>
        </p:nvSpPr>
        <p:spPr>
          <a:xfrm>
            <a:off x="5926100" y="827650"/>
            <a:ext cx="3475500" cy="136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3000"/>
              <a:buNone/>
            </a:pPr>
            <a:r>
              <a:rPr lang="sv"/>
              <a:t>Skoteråkning i våra grannländer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p53"/>
          <p:cNvPicPr preferRelativeResize="0"/>
          <p:nvPr/>
        </p:nvPicPr>
        <p:blipFill rotWithShape="1">
          <a:blip r:embed="rId3">
            <a:alphaModFix amt="6000"/>
          </a:blip>
          <a:srcRect b="0" l="0" r="0" t="0"/>
          <a:stretch/>
        </p:blipFill>
        <p:spPr>
          <a:xfrm flipH="1">
            <a:off x="832600" y="613201"/>
            <a:ext cx="9143998" cy="4366998"/>
          </a:xfrm>
          <a:prstGeom prst="rect">
            <a:avLst/>
          </a:prstGeom>
          <a:noFill/>
          <a:ln>
            <a:noFill/>
          </a:ln>
        </p:spPr>
      </p:pic>
      <p:pic>
        <p:nvPicPr>
          <p:cNvPr id="476" name="Google Shape;476;p53"/>
          <p:cNvPicPr preferRelativeResize="0"/>
          <p:nvPr/>
        </p:nvPicPr>
        <p:blipFill rotWithShape="1">
          <a:blip r:embed="rId4">
            <a:alphaModFix/>
          </a:blip>
          <a:srcRect b="0" l="0" r="0" t="0"/>
          <a:stretch/>
        </p:blipFill>
        <p:spPr>
          <a:xfrm>
            <a:off x="1054875" y="829076"/>
            <a:ext cx="1465400" cy="2083799"/>
          </a:xfrm>
          <a:prstGeom prst="rect">
            <a:avLst/>
          </a:prstGeom>
          <a:noFill/>
          <a:ln>
            <a:noFill/>
          </a:ln>
        </p:spPr>
      </p:pic>
      <p:sp>
        <p:nvSpPr>
          <p:cNvPr id="477" name="Google Shape;477;p53"/>
          <p:cNvSpPr txBox="1"/>
          <p:nvPr/>
        </p:nvSpPr>
        <p:spPr>
          <a:xfrm>
            <a:off x="4123450" y="2662225"/>
            <a:ext cx="37584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sv" sz="1800" u="none" cap="none" strike="noStrike">
                <a:solidFill>
                  <a:srgbClr val="000000"/>
                </a:solidFill>
                <a:latin typeface="Arial"/>
                <a:ea typeface="Arial"/>
                <a:cs typeface="Arial"/>
                <a:sym typeface="Arial"/>
              </a:rPr>
              <a:t>De </a:t>
            </a:r>
            <a:r>
              <a:rPr b="1" i="0" lang="sv" sz="1800" u="none" cap="none" strike="noStrike">
                <a:solidFill>
                  <a:srgbClr val="6AA84F"/>
                </a:solidFill>
                <a:latin typeface="Arial"/>
                <a:ea typeface="Arial"/>
                <a:cs typeface="Arial"/>
                <a:sym typeface="Arial"/>
              </a:rPr>
              <a:t>grönmarkerade</a:t>
            </a:r>
            <a:r>
              <a:rPr b="1" i="0" lang="sv" sz="1800" u="none" cap="none" strike="noStrike">
                <a:solidFill>
                  <a:srgbClr val="000000"/>
                </a:solidFill>
                <a:latin typeface="Arial"/>
                <a:ea typeface="Arial"/>
                <a:cs typeface="Arial"/>
                <a:sym typeface="Arial"/>
              </a:rPr>
              <a:t> områdena är reglerade friåkningsområden </a:t>
            </a:r>
            <a:endParaRPr b="1" i="0" sz="1800" u="none" cap="none" strike="noStrike">
              <a:solidFill>
                <a:srgbClr val="000000"/>
              </a:solidFill>
              <a:latin typeface="Arial"/>
              <a:ea typeface="Arial"/>
              <a:cs typeface="Arial"/>
              <a:sym typeface="Arial"/>
            </a:endParaRPr>
          </a:p>
        </p:txBody>
      </p:sp>
      <p:sp>
        <p:nvSpPr>
          <p:cNvPr id="478" name="Google Shape;478;p53"/>
          <p:cNvSpPr txBox="1"/>
          <p:nvPr/>
        </p:nvSpPr>
        <p:spPr>
          <a:xfrm>
            <a:off x="4123450" y="3433425"/>
            <a:ext cx="39519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sv" sz="1800" u="none" cap="none" strike="noStrike">
                <a:solidFill>
                  <a:srgbClr val="000000"/>
                </a:solidFill>
                <a:latin typeface="Arial"/>
                <a:ea typeface="Arial"/>
                <a:cs typeface="Arial"/>
                <a:sym typeface="Arial"/>
              </a:rPr>
              <a:t>De </a:t>
            </a:r>
            <a:r>
              <a:rPr b="1" i="0" lang="sv" sz="1800" u="none" cap="none" strike="noStrike">
                <a:solidFill>
                  <a:srgbClr val="674EA7"/>
                </a:solidFill>
                <a:latin typeface="Arial"/>
                <a:ea typeface="Arial"/>
                <a:cs typeface="Arial"/>
                <a:sym typeface="Arial"/>
              </a:rPr>
              <a:t>lilamarkerade</a:t>
            </a:r>
            <a:r>
              <a:rPr b="1" i="0" lang="sv" sz="1800" u="none" cap="none" strike="noStrike">
                <a:solidFill>
                  <a:srgbClr val="000000"/>
                </a:solidFill>
                <a:latin typeface="Arial"/>
                <a:ea typeface="Arial"/>
                <a:cs typeface="Arial"/>
                <a:sym typeface="Arial"/>
              </a:rPr>
              <a:t> områdena är ledåkningsområden och där är inte friåkning tillåten</a:t>
            </a:r>
            <a:endParaRPr b="1" i="0" sz="1800" u="none" cap="none" strike="noStrike">
              <a:solidFill>
                <a:srgbClr val="000000"/>
              </a:solidFill>
              <a:latin typeface="Arial"/>
              <a:ea typeface="Arial"/>
              <a:cs typeface="Arial"/>
              <a:sym typeface="Arial"/>
            </a:endParaRPr>
          </a:p>
        </p:txBody>
      </p:sp>
      <p:sp>
        <p:nvSpPr>
          <p:cNvPr id="479" name="Google Shape;479;p53"/>
          <p:cNvSpPr txBox="1"/>
          <p:nvPr/>
        </p:nvSpPr>
        <p:spPr>
          <a:xfrm>
            <a:off x="4123450" y="1291700"/>
            <a:ext cx="5069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sv" sz="1600" u="none" cap="none" strike="noStrike">
                <a:solidFill>
                  <a:srgbClr val="005281"/>
                </a:solidFill>
                <a:latin typeface="Arial"/>
                <a:ea typeface="Arial"/>
                <a:cs typeface="Arial"/>
                <a:sym typeface="Arial"/>
              </a:rPr>
              <a:t>Hur kan man bibehålla och utveckla snöskoteråkningen utifrån lokala förutsättningar?</a:t>
            </a:r>
            <a:endParaRPr b="1" i="0" sz="1600" u="none" cap="none" strike="noStrike">
              <a:solidFill>
                <a:srgbClr val="005281"/>
              </a:solidFill>
              <a:latin typeface="Arial"/>
              <a:ea typeface="Arial"/>
              <a:cs typeface="Arial"/>
              <a:sym typeface="Arial"/>
            </a:endParaRPr>
          </a:p>
        </p:txBody>
      </p:sp>
      <p:sp>
        <p:nvSpPr>
          <p:cNvPr id="480" name="Google Shape;480;p53"/>
          <p:cNvSpPr txBox="1"/>
          <p:nvPr/>
        </p:nvSpPr>
        <p:spPr>
          <a:xfrm>
            <a:off x="4123450" y="829075"/>
            <a:ext cx="3849300" cy="52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Exempel på lokala lösningar</a:t>
            </a:r>
            <a:endParaRPr b="1" i="0" sz="2000" u="none" cap="none" strike="noStrike">
              <a:solidFill>
                <a:schemeClr val="accent1"/>
              </a:solidFill>
              <a:latin typeface="Arial"/>
              <a:ea typeface="Arial"/>
              <a:cs typeface="Arial"/>
              <a:sym typeface="Arial"/>
            </a:endParaRPr>
          </a:p>
        </p:txBody>
      </p:sp>
      <p:sp>
        <p:nvSpPr>
          <p:cNvPr id="481" name="Google Shape;481;p53"/>
          <p:cNvSpPr txBox="1"/>
          <p:nvPr/>
        </p:nvSpPr>
        <p:spPr>
          <a:xfrm>
            <a:off x="4123450" y="1968800"/>
            <a:ext cx="4943700" cy="5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sv" sz="1600" u="none" cap="none" strike="noStrike">
                <a:solidFill>
                  <a:srgbClr val="005281"/>
                </a:solidFill>
                <a:latin typeface="Arial"/>
                <a:ea typeface="Arial"/>
                <a:cs typeface="Arial"/>
                <a:sym typeface="Arial"/>
              </a:rPr>
              <a:t>Exempelvis så som i Frostvikens kommunala regleringsområde. </a:t>
            </a:r>
            <a:endParaRPr b="1" i="0" sz="1600" u="none" cap="none" strike="noStrike">
              <a:solidFill>
                <a:srgbClr val="005281"/>
              </a:solidFill>
              <a:latin typeface="Arial"/>
              <a:ea typeface="Arial"/>
              <a:cs typeface="Arial"/>
              <a:sym typeface="Arial"/>
            </a:endParaRPr>
          </a:p>
        </p:txBody>
      </p:sp>
      <p:pic>
        <p:nvPicPr>
          <p:cNvPr id="482" name="Google Shape;482;p53" title="Regleringsområde Frostviken.png"/>
          <p:cNvPicPr preferRelativeResize="0"/>
          <p:nvPr/>
        </p:nvPicPr>
        <p:blipFill rotWithShape="1">
          <a:blip r:embed="rId5">
            <a:alphaModFix/>
          </a:blip>
          <a:srcRect b="0" l="0" r="0" t="0"/>
          <a:stretch/>
        </p:blipFill>
        <p:spPr>
          <a:xfrm>
            <a:off x="2520275" y="2899425"/>
            <a:ext cx="1425100" cy="2083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descr="Filmen visar allt besökaren behöver veta för att få en trevlig upplevelse i Frostvikens natur. Den lyfter fram både kvaliteten, livsglädjen och det goda samarbetet som bäddar för att skapa Sveriges bästa område för hållbar vinterturism i Frostviksfjällen. &#10;Filmen är textad på svenska, norska och engelska. Utgiven av projektet Hållbar skoterturism i Frostviken. Filmen uppdaterades 181123." id="487" name="Google Shape;487;p54" title="Hållbar vinterturism Frostviken | skoter | friåkning | fjällen">
            <a:hlinkClick r:id="rId3"/>
          </p:cNvPr>
          <p:cNvPicPr preferRelativeResize="0"/>
          <p:nvPr/>
        </p:nvPicPr>
        <p:blipFill rotWithShape="1">
          <a:blip r:embed="rId4">
            <a:alphaModFix/>
          </a:blip>
          <a:srcRect b="0" l="0" r="0" t="0"/>
          <a:stretch/>
        </p:blipFill>
        <p:spPr>
          <a:xfrm>
            <a:off x="-417733" y="0"/>
            <a:ext cx="9561734" cy="5378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55" title="det leder till något gott 72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56"/>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498" name="Google Shape;498;p5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sv"/>
              <a:t>TRAFIKREGLER &amp; TRAFIKSÄKERHET</a:t>
            </a:r>
            <a:endParaRPr/>
          </a:p>
        </p:txBody>
      </p:sp>
      <p:cxnSp>
        <p:nvCxnSpPr>
          <p:cNvPr id="499" name="Google Shape;499;p56"/>
          <p:cNvCxnSpPr/>
          <p:nvPr/>
        </p:nvCxnSpPr>
        <p:spPr>
          <a:xfrm>
            <a:off x="2978525" y="3012900"/>
            <a:ext cx="3197400" cy="0"/>
          </a:xfrm>
          <a:prstGeom prst="straightConnector1">
            <a:avLst/>
          </a:prstGeom>
          <a:noFill/>
          <a:ln cap="flat" cmpd="sng" w="19050">
            <a:solidFill>
              <a:srgbClr val="999999"/>
            </a:solidFill>
            <a:prstDash val="solid"/>
            <a:round/>
            <a:headEnd len="med" w="med" type="diamond"/>
            <a:tailEnd len="med" w="med" type="diamond"/>
          </a:ln>
        </p:spPr>
      </p:cxnSp>
      <p:sp>
        <p:nvSpPr>
          <p:cNvPr id="500" name="Google Shape;500;p56"/>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
        <p:nvSpPr>
          <p:cNvPr id="501" name="Google Shape;501;p56"/>
          <p:cNvSpPr txBox="1"/>
          <p:nvPr/>
        </p:nvSpPr>
        <p:spPr>
          <a:xfrm>
            <a:off x="249800" y="4301325"/>
            <a:ext cx="8574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sz="1000">
                <a:solidFill>
                  <a:schemeClr val="dk2"/>
                </a:solidFill>
              </a:rPr>
              <a:t>sid 33</a:t>
            </a:r>
            <a:endParaRPr sz="1000">
              <a:solidFill>
                <a:schemeClr val="dk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5" name="Shape 505"/>
        <p:cNvGrpSpPr/>
        <p:nvPr/>
      </p:nvGrpSpPr>
      <p:grpSpPr>
        <a:xfrm>
          <a:off x="0" y="0"/>
          <a:ext cx="0" cy="0"/>
          <a:chOff x="0" y="0"/>
          <a:chExt cx="0" cy="0"/>
        </a:xfrm>
      </p:grpSpPr>
      <p:pic>
        <p:nvPicPr>
          <p:cNvPr id="506" name="Google Shape;506;p57"/>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507" name="Google Shape;507;p57"/>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508" name="Google Shape;508;p57"/>
          <p:cNvSpPr txBox="1"/>
          <p:nvPr>
            <p:ph idx="1" type="body"/>
          </p:nvPr>
        </p:nvSpPr>
        <p:spPr>
          <a:xfrm>
            <a:off x="8557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Att ge kunskap och insikt i vad som kännetecknar och är en god trafikmiljö. Ge kunskap om regelsystemet i terrängtrafiken </a:t>
            </a:r>
            <a:r>
              <a:rPr lang="sv">
                <a:solidFill>
                  <a:schemeClr val="dk1"/>
                </a:solidFill>
              </a:rPr>
              <a:t>samt få ett grundläggande säkerhetstänk och riskmedvetenhet.</a:t>
            </a:r>
            <a:endParaRPr>
              <a:solidFill>
                <a:schemeClr val="dk1"/>
              </a:solidFill>
            </a:endParaRPr>
          </a:p>
          <a:p>
            <a:pPr indent="0" lvl="0" marL="0" rtl="0" algn="l">
              <a:lnSpc>
                <a:spcPct val="115000"/>
              </a:lnSpc>
              <a:spcBef>
                <a:spcPts val="600"/>
              </a:spcBef>
              <a:spcAft>
                <a:spcPts val="0"/>
              </a:spcAft>
              <a:buSzPts val="1800"/>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2" name="Shape 512"/>
        <p:cNvGrpSpPr/>
        <p:nvPr/>
      </p:nvGrpSpPr>
      <p:grpSpPr>
        <a:xfrm>
          <a:off x="0" y="0"/>
          <a:ext cx="0" cy="0"/>
          <a:chOff x="0" y="0"/>
          <a:chExt cx="0" cy="0"/>
        </a:xfrm>
      </p:grpSpPr>
      <p:pic>
        <p:nvPicPr>
          <p:cNvPr id="513" name="Google Shape;513;p58"/>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514" name="Google Shape;514;p58"/>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Målet är uppnått när eleven kan redogöra för:</a:t>
            </a:r>
            <a:endParaRPr/>
          </a:p>
        </p:txBody>
      </p:sp>
      <p:sp>
        <p:nvSpPr>
          <p:cNvPr id="515" name="Google Shape;515;p58"/>
          <p:cNvSpPr txBox="1"/>
          <p:nvPr>
            <p:ph idx="1" type="body"/>
          </p:nvPr>
        </p:nvSpPr>
        <p:spPr>
          <a:xfrm>
            <a:off x="7795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trafikens grundregler, vägmärken och skoterledsmarkeringar, hastighet och hur man minimerar riskerna med skoteråkning.</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9"/>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Varför har vi regler i trafiken?</a:t>
            </a:r>
            <a:endParaRPr/>
          </a:p>
        </p:txBody>
      </p:sp>
      <p:sp>
        <p:nvSpPr>
          <p:cNvPr id="521" name="Google Shape;521;p59"/>
          <p:cNvSpPr txBox="1"/>
          <p:nvPr>
            <p:ph idx="1" type="body"/>
          </p:nvPr>
        </p:nvSpPr>
        <p:spPr>
          <a:xfrm>
            <a:off x="2865775" y="1640425"/>
            <a:ext cx="811800" cy="3022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0" lvl="0" marL="457200" rtl="0" algn="l">
              <a:lnSpc>
                <a:spcPct val="115000"/>
              </a:lnSpc>
              <a:spcBef>
                <a:spcPts val="0"/>
              </a:spcBef>
              <a:spcAft>
                <a:spcPts val="0"/>
              </a:spcAft>
              <a:buSzPts val="1800"/>
              <a:buNone/>
            </a:pPr>
            <a:r>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br>
              <a:rPr lang="sv">
                <a:solidFill>
                  <a:schemeClr val="lt2"/>
                </a:solidFill>
              </a:rPr>
            </a:b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p:txBody>
      </p:sp>
      <p:sp>
        <p:nvSpPr>
          <p:cNvPr id="522" name="Google Shape;522;p59"/>
          <p:cNvSpPr txBox="1"/>
          <p:nvPr>
            <p:ph idx="1" type="body"/>
          </p:nvPr>
        </p:nvSpPr>
        <p:spPr>
          <a:xfrm>
            <a:off x="2865775" y="1640425"/>
            <a:ext cx="5910000" cy="3022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sv"/>
              <a:t>Det yttersta syftet är att förhindra olyckor</a:t>
            </a:r>
            <a:endParaRPr/>
          </a:p>
          <a:p>
            <a:pPr indent="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sv"/>
              <a:t>Reglerna skall förenkla för trafikanterna men också förhindra eller minska skadeverkningarna på miljön</a:t>
            </a:r>
            <a:endParaRPr/>
          </a:p>
          <a:p>
            <a:pPr indent="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sv"/>
              <a:t>Täcker reglerna allt?</a:t>
            </a:r>
            <a:endParaRPr/>
          </a:p>
        </p:txBody>
      </p:sp>
      <p:pic>
        <p:nvPicPr>
          <p:cNvPr id="523" name="Google Shape;523;p59"/>
          <p:cNvPicPr preferRelativeResize="0"/>
          <p:nvPr/>
        </p:nvPicPr>
        <p:blipFill rotWithShape="1">
          <a:blip r:embed="rId3">
            <a:alphaModFix/>
          </a:blip>
          <a:srcRect b="0" l="0" r="0" t="0"/>
          <a:stretch/>
        </p:blipFill>
        <p:spPr>
          <a:xfrm>
            <a:off x="6446225" y="3009400"/>
            <a:ext cx="1267750" cy="1482100"/>
          </a:xfrm>
          <a:prstGeom prst="rect">
            <a:avLst/>
          </a:prstGeom>
          <a:noFill/>
          <a:ln>
            <a:noFill/>
          </a:ln>
        </p:spPr>
      </p:pic>
      <p:pic>
        <p:nvPicPr>
          <p:cNvPr id="524" name="Google Shape;524;p59"/>
          <p:cNvPicPr preferRelativeResize="0"/>
          <p:nvPr/>
        </p:nvPicPr>
        <p:blipFill rotWithShape="1">
          <a:blip r:embed="rId4">
            <a:alphaModFix/>
          </a:blip>
          <a:srcRect b="0" l="0" r="0" t="0"/>
          <a:stretch/>
        </p:blipFill>
        <p:spPr>
          <a:xfrm>
            <a:off x="230927" y="1640426"/>
            <a:ext cx="2634849" cy="148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0" st="0"/>
                                            </p:txEl>
                                          </p:spTgt>
                                        </p:tgtEl>
                                        <p:attrNameLst>
                                          <p:attrName>style.visibility</p:attrName>
                                        </p:attrNameLst>
                                      </p:cBhvr>
                                      <p:to>
                                        <p:strVal val="visible"/>
                                      </p:to>
                                    </p:set>
                                    <p:animEffect filter="fade" transition="in">
                                      <p:cBhvr>
                                        <p:cTn dur="1000"/>
                                        <p:tgtEl>
                                          <p:spTgt spid="5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1" st="1"/>
                                            </p:txEl>
                                          </p:spTgt>
                                        </p:tgtEl>
                                        <p:attrNameLst>
                                          <p:attrName>style.visibility</p:attrName>
                                        </p:attrNameLst>
                                      </p:cBhvr>
                                      <p:to>
                                        <p:strVal val="visible"/>
                                      </p:to>
                                    </p:set>
                                    <p:animEffect filter="fade" transition="in">
                                      <p:cBhvr>
                                        <p:cTn dur="1000"/>
                                        <p:tgtEl>
                                          <p:spTgt spid="5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2" st="2"/>
                                            </p:txEl>
                                          </p:spTgt>
                                        </p:tgtEl>
                                        <p:attrNameLst>
                                          <p:attrName>style.visibility</p:attrName>
                                        </p:attrNameLst>
                                      </p:cBhvr>
                                      <p:to>
                                        <p:strVal val="visible"/>
                                      </p:to>
                                    </p:set>
                                    <p:animEffect filter="fade" transition="in">
                                      <p:cBhvr>
                                        <p:cTn dur="1000"/>
                                        <p:tgtEl>
                                          <p:spTgt spid="5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3" st="3"/>
                                            </p:txEl>
                                          </p:spTgt>
                                        </p:tgtEl>
                                        <p:attrNameLst>
                                          <p:attrName>style.visibility</p:attrName>
                                        </p:attrNameLst>
                                      </p:cBhvr>
                                      <p:to>
                                        <p:strVal val="visible"/>
                                      </p:to>
                                    </p:set>
                                    <p:animEffect filter="fade" transition="in">
                                      <p:cBhvr>
                                        <p:cTn dur="1000"/>
                                        <p:tgtEl>
                                          <p:spTgt spid="5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4" st="4"/>
                                            </p:txEl>
                                          </p:spTgt>
                                        </p:tgtEl>
                                        <p:attrNameLst>
                                          <p:attrName>style.visibility</p:attrName>
                                        </p:attrNameLst>
                                      </p:cBhvr>
                                      <p:to>
                                        <p:strVal val="visible"/>
                                      </p:to>
                                    </p:set>
                                    <p:animEffect filter="fade" transition="in">
                                      <p:cBhvr>
                                        <p:cTn dur="1000"/>
                                        <p:tgtEl>
                                          <p:spTgt spid="52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0"/>
          <p:cNvSpPr txBox="1"/>
          <p:nvPr>
            <p:ph idx="1" type="body"/>
          </p:nvPr>
        </p:nvSpPr>
        <p:spPr>
          <a:xfrm>
            <a:off x="2865775" y="1640425"/>
            <a:ext cx="811800" cy="3022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a:p>
            <a:pPr indent="0" lvl="0" marL="457200" rtl="0" algn="l">
              <a:lnSpc>
                <a:spcPct val="115000"/>
              </a:lnSpc>
              <a:spcBef>
                <a:spcPts val="0"/>
              </a:spcBef>
              <a:spcAft>
                <a:spcPts val="0"/>
              </a:spcAft>
              <a:buSzPts val="1800"/>
              <a:buNone/>
            </a:pPr>
            <a:r>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br>
              <a:rPr lang="sv">
                <a:solidFill>
                  <a:schemeClr val="lt2"/>
                </a:solidFill>
              </a:rPr>
            </a:b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p:txBody>
      </p:sp>
      <p:pic>
        <p:nvPicPr>
          <p:cNvPr id="530" name="Google Shape;530;p60"/>
          <p:cNvPicPr preferRelativeResize="0"/>
          <p:nvPr/>
        </p:nvPicPr>
        <p:blipFill rotWithShape="1">
          <a:blip r:embed="rId3">
            <a:alphaModFix/>
          </a:blip>
          <a:srcRect b="0" l="0" r="0" t="0"/>
          <a:stretch/>
        </p:blipFill>
        <p:spPr>
          <a:xfrm>
            <a:off x="125224" y="880925"/>
            <a:ext cx="5459352" cy="3883301"/>
          </a:xfrm>
          <a:prstGeom prst="rect">
            <a:avLst/>
          </a:prstGeom>
          <a:noFill/>
          <a:ln>
            <a:noFill/>
          </a:ln>
        </p:spPr>
      </p:pic>
      <p:sp>
        <p:nvSpPr>
          <p:cNvPr id="531" name="Google Shape;531;p60"/>
          <p:cNvSpPr txBox="1"/>
          <p:nvPr/>
        </p:nvSpPr>
        <p:spPr>
          <a:xfrm>
            <a:off x="5531975" y="1188750"/>
            <a:ext cx="3348600" cy="613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sv" sz="1400" u="none" cap="none" strike="noStrike">
                <a:solidFill>
                  <a:schemeClr val="dk2"/>
                </a:solidFill>
                <a:latin typeface="Arial"/>
                <a:ea typeface="Arial"/>
                <a:cs typeface="Arial"/>
                <a:sym typeface="Arial"/>
              </a:rPr>
              <a:t>Håller avstånd på leden och har goda säkerhetsmarginaler</a:t>
            </a:r>
            <a:endParaRPr b="0" i="0" sz="1400" u="none" cap="none" strike="noStrike">
              <a:solidFill>
                <a:schemeClr val="dk2"/>
              </a:solidFill>
              <a:latin typeface="Arial"/>
              <a:ea typeface="Arial"/>
              <a:cs typeface="Arial"/>
              <a:sym typeface="Arial"/>
            </a:endParaRPr>
          </a:p>
        </p:txBody>
      </p:sp>
      <p:sp>
        <p:nvSpPr>
          <p:cNvPr id="532" name="Google Shape;532;p60"/>
          <p:cNvSpPr txBox="1"/>
          <p:nvPr/>
        </p:nvSpPr>
        <p:spPr>
          <a:xfrm>
            <a:off x="5531975" y="1760700"/>
            <a:ext cx="3348600" cy="613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sv" sz="1400" u="none" cap="none" strike="noStrike">
                <a:solidFill>
                  <a:schemeClr val="dk2"/>
                </a:solidFill>
                <a:latin typeface="Arial"/>
                <a:ea typeface="Arial"/>
                <a:cs typeface="Arial"/>
                <a:sym typeface="Arial"/>
              </a:rPr>
              <a:t>Att du är medveten om risker och att du inte tar onödiga risker</a:t>
            </a:r>
            <a:endParaRPr b="0" i="0" sz="1400" u="none" cap="none" strike="noStrike">
              <a:solidFill>
                <a:schemeClr val="dk2"/>
              </a:solidFill>
              <a:latin typeface="Arial"/>
              <a:ea typeface="Arial"/>
              <a:cs typeface="Arial"/>
              <a:sym typeface="Arial"/>
            </a:endParaRPr>
          </a:p>
        </p:txBody>
      </p:sp>
      <p:sp>
        <p:nvSpPr>
          <p:cNvPr id="533" name="Google Shape;533;p60"/>
          <p:cNvSpPr txBox="1"/>
          <p:nvPr/>
        </p:nvSpPr>
        <p:spPr>
          <a:xfrm>
            <a:off x="5531975" y="2374500"/>
            <a:ext cx="3348600" cy="613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sv" sz="1400" u="none" cap="none" strike="noStrike">
                <a:solidFill>
                  <a:schemeClr val="dk2"/>
                </a:solidFill>
                <a:latin typeface="Arial"/>
                <a:ea typeface="Arial"/>
                <a:cs typeface="Arial"/>
                <a:sym typeface="Arial"/>
              </a:rPr>
              <a:t>Har bra uppsikt både framåt, bakåt och åt sidorna</a:t>
            </a:r>
            <a:endParaRPr b="0" i="0" sz="1400" u="none" cap="none" strike="noStrike">
              <a:solidFill>
                <a:schemeClr val="dk2"/>
              </a:solidFill>
              <a:latin typeface="Arial"/>
              <a:ea typeface="Arial"/>
              <a:cs typeface="Arial"/>
              <a:sym typeface="Arial"/>
            </a:endParaRPr>
          </a:p>
        </p:txBody>
      </p:sp>
      <p:sp>
        <p:nvSpPr>
          <p:cNvPr id="534" name="Google Shape;534;p60"/>
          <p:cNvSpPr txBox="1"/>
          <p:nvPr/>
        </p:nvSpPr>
        <p:spPr>
          <a:xfrm>
            <a:off x="5531975" y="2988300"/>
            <a:ext cx="3348600" cy="613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sv" sz="1400" u="none" cap="none" strike="noStrike">
                <a:solidFill>
                  <a:schemeClr val="dk2"/>
                </a:solidFill>
                <a:latin typeface="Arial"/>
                <a:ea typeface="Arial"/>
                <a:cs typeface="Arial"/>
                <a:sym typeface="Arial"/>
              </a:rPr>
              <a:t>Inte stressar upp dig</a:t>
            </a:r>
            <a:endParaRPr b="0" i="0" sz="1400" u="none" cap="none" strike="noStrike">
              <a:solidFill>
                <a:schemeClr val="dk2"/>
              </a:solidFill>
              <a:latin typeface="Arial"/>
              <a:ea typeface="Arial"/>
              <a:cs typeface="Arial"/>
              <a:sym typeface="Arial"/>
            </a:endParaRPr>
          </a:p>
        </p:txBody>
      </p:sp>
      <p:sp>
        <p:nvSpPr>
          <p:cNvPr id="535" name="Google Shape;535;p60"/>
          <p:cNvSpPr txBox="1"/>
          <p:nvPr/>
        </p:nvSpPr>
        <p:spPr>
          <a:xfrm>
            <a:off x="5531975" y="3384525"/>
            <a:ext cx="3348600" cy="613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sv" sz="1400" u="none" cap="none" strike="noStrike">
                <a:solidFill>
                  <a:schemeClr val="dk2"/>
                </a:solidFill>
                <a:latin typeface="Arial"/>
                <a:ea typeface="Arial"/>
                <a:cs typeface="Arial"/>
                <a:sym typeface="Arial"/>
              </a:rPr>
              <a:t>Ligger ett steg före i tanken</a:t>
            </a:r>
            <a:endParaRPr b="0" i="0" sz="1400" u="none" cap="none" strike="noStrike">
              <a:solidFill>
                <a:schemeClr val="dk2"/>
              </a:solidFill>
              <a:latin typeface="Arial"/>
              <a:ea typeface="Arial"/>
              <a:cs typeface="Arial"/>
              <a:sym typeface="Arial"/>
            </a:endParaRPr>
          </a:p>
        </p:txBody>
      </p:sp>
      <p:sp>
        <p:nvSpPr>
          <p:cNvPr id="536" name="Google Shape;536;p60"/>
          <p:cNvSpPr txBox="1"/>
          <p:nvPr/>
        </p:nvSpPr>
        <p:spPr>
          <a:xfrm>
            <a:off x="5531975" y="3816325"/>
            <a:ext cx="3348600" cy="613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sv" sz="1400" u="none" cap="none" strike="noStrike">
                <a:solidFill>
                  <a:schemeClr val="dk2"/>
                </a:solidFill>
                <a:latin typeface="Arial"/>
                <a:ea typeface="Arial"/>
                <a:cs typeface="Arial"/>
                <a:sym typeface="Arial"/>
              </a:rPr>
              <a:t>Kör mjukt och bromsar i tid. Utnyttja motorbromsen oftare</a:t>
            </a:r>
            <a:endParaRPr b="0" i="0" sz="1400" u="none" cap="none" strike="noStrike">
              <a:solidFill>
                <a:schemeClr val="dk2"/>
              </a:solidFill>
              <a:latin typeface="Arial"/>
              <a:ea typeface="Arial"/>
              <a:cs typeface="Arial"/>
              <a:sym typeface="Arial"/>
            </a:endParaRPr>
          </a:p>
        </p:txBody>
      </p:sp>
      <p:sp>
        <p:nvSpPr>
          <p:cNvPr id="537" name="Google Shape;537;p60"/>
          <p:cNvSpPr/>
          <p:nvPr/>
        </p:nvSpPr>
        <p:spPr>
          <a:xfrm>
            <a:off x="2214350" y="4141225"/>
            <a:ext cx="1662600" cy="4896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id="542" name="Google Shape;542;p61"/>
          <p:cNvPicPr preferRelativeResize="0"/>
          <p:nvPr/>
        </p:nvPicPr>
        <p:blipFill rotWithShape="1">
          <a:blip r:embed="rId3">
            <a:alphaModFix/>
          </a:blip>
          <a:srcRect b="0" l="1546" r="10556" t="0"/>
          <a:stretch/>
        </p:blipFill>
        <p:spPr>
          <a:xfrm>
            <a:off x="114550" y="1009175"/>
            <a:ext cx="6502526" cy="3579900"/>
          </a:xfrm>
          <a:prstGeom prst="rect">
            <a:avLst/>
          </a:prstGeom>
          <a:noFill/>
          <a:ln>
            <a:noFill/>
          </a:ln>
        </p:spPr>
      </p:pic>
      <p:sp>
        <p:nvSpPr>
          <p:cNvPr id="543" name="Google Shape;543;p61"/>
          <p:cNvSpPr txBox="1"/>
          <p:nvPr>
            <p:ph type="title"/>
          </p:nvPr>
        </p:nvSpPr>
        <p:spPr>
          <a:xfrm>
            <a:off x="6827625" y="865575"/>
            <a:ext cx="2228700" cy="782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38889"/>
              <a:buNone/>
            </a:pPr>
            <a:r>
              <a:rPr lang="sv" sz="2400"/>
              <a:t>Trafikens Grundregler:</a:t>
            </a:r>
            <a:endParaRPr sz="2400"/>
          </a:p>
        </p:txBody>
      </p:sp>
      <p:sp>
        <p:nvSpPr>
          <p:cNvPr id="544" name="Google Shape;544;p61"/>
          <p:cNvSpPr txBox="1"/>
          <p:nvPr>
            <p:ph type="title"/>
          </p:nvPr>
        </p:nvSpPr>
        <p:spPr>
          <a:xfrm>
            <a:off x="6827625" y="1647975"/>
            <a:ext cx="785700" cy="15780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chemeClr val="lt2"/>
              </a:buClr>
              <a:buSzPts val="2400"/>
              <a:buChar char="➔"/>
            </a:pPr>
            <a:r>
              <a:rPr lang="sv" sz="2400">
                <a:solidFill>
                  <a:schemeClr val="lt2"/>
                </a:solidFill>
              </a:rPr>
              <a:t> </a:t>
            </a:r>
            <a:endParaRPr sz="2400">
              <a:solidFill>
                <a:schemeClr val="lt2"/>
              </a:solidFill>
            </a:endParaRPr>
          </a:p>
          <a:p>
            <a:pPr indent="-381000" lvl="0" marL="457200" rtl="0" algn="l">
              <a:lnSpc>
                <a:spcPct val="115000"/>
              </a:lnSpc>
              <a:spcBef>
                <a:spcPts val="0"/>
              </a:spcBef>
              <a:spcAft>
                <a:spcPts val="0"/>
              </a:spcAft>
              <a:buClr>
                <a:schemeClr val="lt2"/>
              </a:buClr>
              <a:buSzPts val="2400"/>
              <a:buChar char="➔"/>
            </a:pPr>
            <a:r>
              <a:rPr lang="sv" sz="2400">
                <a:solidFill>
                  <a:schemeClr val="lt2"/>
                </a:solidFill>
              </a:rPr>
              <a:t> </a:t>
            </a:r>
            <a:endParaRPr sz="2400">
              <a:solidFill>
                <a:schemeClr val="lt2"/>
              </a:solidFill>
            </a:endParaRPr>
          </a:p>
          <a:p>
            <a:pPr indent="-381000" lvl="0" marL="457200" rtl="0" algn="l">
              <a:lnSpc>
                <a:spcPct val="115000"/>
              </a:lnSpc>
              <a:spcBef>
                <a:spcPts val="0"/>
              </a:spcBef>
              <a:spcAft>
                <a:spcPts val="0"/>
              </a:spcAft>
              <a:buClr>
                <a:schemeClr val="lt2"/>
              </a:buClr>
              <a:buSzPts val="2400"/>
              <a:buChar char="➔"/>
            </a:pPr>
            <a:r>
              <a:rPr lang="sv" sz="2400">
                <a:solidFill>
                  <a:schemeClr val="lt2"/>
                </a:solidFill>
              </a:rPr>
              <a:t> </a:t>
            </a:r>
            <a:endParaRPr sz="2400">
              <a:solidFill>
                <a:schemeClr val="lt2"/>
              </a:solidFill>
            </a:endParaRPr>
          </a:p>
        </p:txBody>
      </p:sp>
      <p:sp>
        <p:nvSpPr>
          <p:cNvPr id="545" name="Google Shape;545;p61"/>
          <p:cNvSpPr txBox="1"/>
          <p:nvPr>
            <p:ph type="title"/>
          </p:nvPr>
        </p:nvSpPr>
        <p:spPr>
          <a:xfrm>
            <a:off x="6827625" y="1647975"/>
            <a:ext cx="2316300" cy="15780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chemeClr val="dk1"/>
              </a:buClr>
              <a:buSzPts val="2400"/>
              <a:buChar char="➔"/>
            </a:pPr>
            <a:r>
              <a:rPr lang="sv" sz="2400">
                <a:solidFill>
                  <a:schemeClr val="dk1"/>
                </a:solidFill>
              </a:rPr>
              <a:t>Ansvar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sv" sz="2400">
                <a:solidFill>
                  <a:schemeClr val="dk1"/>
                </a:solidFill>
              </a:rPr>
              <a:t>Omdöme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sv" sz="2400">
                <a:solidFill>
                  <a:schemeClr val="dk1"/>
                </a:solidFill>
              </a:rPr>
              <a:t>Hänsyn</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
                                            <p:txEl>
                                              <p:pRg end="0" st="0"/>
                                            </p:txEl>
                                          </p:spTgt>
                                        </p:tgtEl>
                                        <p:attrNameLst>
                                          <p:attrName>style.visibility</p:attrName>
                                        </p:attrNameLst>
                                      </p:cBhvr>
                                      <p:to>
                                        <p:strVal val="visible"/>
                                      </p:to>
                                    </p:set>
                                    <p:animEffect filter="fade" transition="in">
                                      <p:cBhvr>
                                        <p:cTn dur="1000"/>
                                        <p:tgtEl>
                                          <p:spTgt spid="5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
                                            <p:txEl>
                                              <p:pRg end="1" st="1"/>
                                            </p:txEl>
                                          </p:spTgt>
                                        </p:tgtEl>
                                        <p:attrNameLst>
                                          <p:attrName>style.visibility</p:attrName>
                                        </p:attrNameLst>
                                      </p:cBhvr>
                                      <p:to>
                                        <p:strVal val="visible"/>
                                      </p:to>
                                    </p:set>
                                    <p:animEffect filter="fade" transition="in">
                                      <p:cBhvr>
                                        <p:cTn dur="1000"/>
                                        <p:tgtEl>
                                          <p:spTgt spid="5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
                                            <p:txEl>
                                              <p:pRg end="2" st="2"/>
                                            </p:txEl>
                                          </p:spTgt>
                                        </p:tgtEl>
                                        <p:attrNameLst>
                                          <p:attrName>style.visibility</p:attrName>
                                        </p:attrNameLst>
                                      </p:cBhvr>
                                      <p:to>
                                        <p:strVal val="visible"/>
                                      </p:to>
                                    </p:set>
                                    <p:animEffect filter="fade" transition="in">
                                      <p:cBhvr>
                                        <p:cTn dur="1000"/>
                                        <p:tgtEl>
                                          <p:spTgt spid="54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62" title="regler hänsyn 6 respektera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63" title="MÖTE MED HUNDSPANN">
            <a:hlinkClick r:id="rId3"/>
          </p:cNvPr>
          <p:cNvPicPr preferRelativeResize="0"/>
          <p:nvPr/>
        </p:nvPicPr>
        <p:blipFill rotWithShape="1">
          <a:blip r:embed="rId4">
            <a:alphaModFix/>
          </a:blip>
          <a:srcRect b="0" l="0" r="0" t="0"/>
          <a:stretch/>
        </p:blipFill>
        <p:spPr>
          <a:xfrm>
            <a:off x="0" y="0"/>
            <a:ext cx="9262534" cy="521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id="560" name="Google Shape;560;p64"/>
          <p:cNvPicPr preferRelativeResize="0"/>
          <p:nvPr/>
        </p:nvPicPr>
        <p:blipFill rotWithShape="1">
          <a:blip r:embed="rId3">
            <a:alphaModFix/>
          </a:blip>
          <a:srcRect b="2114" l="0" r="0" t="0"/>
          <a:stretch/>
        </p:blipFill>
        <p:spPr>
          <a:xfrm>
            <a:off x="548250" y="1360475"/>
            <a:ext cx="5460800" cy="3378150"/>
          </a:xfrm>
          <a:prstGeom prst="rect">
            <a:avLst/>
          </a:prstGeom>
          <a:noFill/>
          <a:ln>
            <a:noFill/>
          </a:ln>
        </p:spPr>
      </p:pic>
      <p:sp>
        <p:nvSpPr>
          <p:cNvPr id="561" name="Google Shape;561;p64"/>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Polisen övervakar</a:t>
            </a:r>
            <a:endParaRPr/>
          </a:p>
        </p:txBody>
      </p:sp>
      <p:sp>
        <p:nvSpPr>
          <p:cNvPr id="562" name="Google Shape;562;p64"/>
          <p:cNvSpPr txBox="1"/>
          <p:nvPr>
            <p:ph idx="1" type="body"/>
          </p:nvPr>
        </p:nvSpPr>
        <p:spPr>
          <a:xfrm>
            <a:off x="4151600" y="3716525"/>
            <a:ext cx="4033200" cy="1067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sv"/>
              <a:t>Du har väjningsplikt mot t. ex. </a:t>
            </a:r>
            <a:endParaRPr/>
          </a:p>
          <a:p>
            <a:pPr indent="0" lvl="0" marL="0" rtl="0" algn="l">
              <a:lnSpc>
                <a:spcPct val="115000"/>
              </a:lnSpc>
              <a:spcBef>
                <a:spcPts val="0"/>
              </a:spcBef>
              <a:spcAft>
                <a:spcPts val="0"/>
              </a:spcAft>
              <a:buSzPts val="1800"/>
              <a:buNone/>
            </a:pPr>
            <a:r>
              <a:rPr lang="sv"/>
              <a:t>gående, skidåkare, sparkåkare och hundspann.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5"/>
          <p:cNvSpPr txBox="1"/>
          <p:nvPr>
            <p:ph type="title"/>
          </p:nvPr>
        </p:nvSpPr>
        <p:spPr>
          <a:xfrm>
            <a:off x="240100" y="932900"/>
            <a:ext cx="1930800" cy="997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Polismans </a:t>
            </a:r>
            <a:br>
              <a:rPr lang="sv"/>
            </a:br>
            <a:r>
              <a:rPr lang="sv"/>
              <a:t>tecken</a:t>
            </a:r>
            <a:endParaRPr/>
          </a:p>
        </p:txBody>
      </p:sp>
      <p:pic>
        <p:nvPicPr>
          <p:cNvPr id="568" name="Google Shape;568;p65"/>
          <p:cNvPicPr preferRelativeResize="0"/>
          <p:nvPr/>
        </p:nvPicPr>
        <p:blipFill rotWithShape="1">
          <a:blip r:embed="rId3">
            <a:alphaModFix/>
          </a:blip>
          <a:srcRect b="0" l="0" r="0" t="0"/>
          <a:stretch/>
        </p:blipFill>
        <p:spPr>
          <a:xfrm>
            <a:off x="530700" y="1930100"/>
            <a:ext cx="1252725" cy="1951800"/>
          </a:xfrm>
          <a:prstGeom prst="rect">
            <a:avLst/>
          </a:prstGeom>
          <a:noFill/>
          <a:ln>
            <a:noFill/>
          </a:ln>
        </p:spPr>
      </p:pic>
      <p:pic>
        <p:nvPicPr>
          <p:cNvPr id="569" name="Google Shape;569;p65"/>
          <p:cNvPicPr preferRelativeResize="0"/>
          <p:nvPr/>
        </p:nvPicPr>
        <p:blipFill rotWithShape="1">
          <a:blip r:embed="rId4">
            <a:alphaModFix/>
          </a:blip>
          <a:srcRect b="0" l="0" r="0" t="0"/>
          <a:stretch/>
        </p:blipFill>
        <p:spPr>
          <a:xfrm>
            <a:off x="3246800" y="1764112"/>
            <a:ext cx="711375" cy="2117775"/>
          </a:xfrm>
          <a:prstGeom prst="rect">
            <a:avLst/>
          </a:prstGeom>
          <a:noFill/>
          <a:ln>
            <a:noFill/>
          </a:ln>
        </p:spPr>
      </p:pic>
      <p:pic>
        <p:nvPicPr>
          <p:cNvPr id="570" name="Google Shape;570;p65"/>
          <p:cNvPicPr preferRelativeResize="0"/>
          <p:nvPr/>
        </p:nvPicPr>
        <p:blipFill rotWithShape="1">
          <a:blip r:embed="rId5">
            <a:alphaModFix/>
          </a:blip>
          <a:srcRect b="0" l="0" r="0" t="0"/>
          <a:stretch/>
        </p:blipFill>
        <p:spPr>
          <a:xfrm>
            <a:off x="4769475" y="1951125"/>
            <a:ext cx="1252725" cy="1909725"/>
          </a:xfrm>
          <a:prstGeom prst="rect">
            <a:avLst/>
          </a:prstGeom>
          <a:noFill/>
          <a:ln>
            <a:noFill/>
          </a:ln>
        </p:spPr>
      </p:pic>
      <p:pic>
        <p:nvPicPr>
          <p:cNvPr id="571" name="Google Shape;571;p65"/>
          <p:cNvPicPr preferRelativeResize="0"/>
          <p:nvPr/>
        </p:nvPicPr>
        <p:blipFill rotWithShape="1">
          <a:blip r:embed="rId6">
            <a:alphaModFix/>
          </a:blip>
          <a:srcRect b="0" l="0" r="0" t="0"/>
          <a:stretch/>
        </p:blipFill>
        <p:spPr>
          <a:xfrm>
            <a:off x="6951148" y="1930088"/>
            <a:ext cx="1649802" cy="1951800"/>
          </a:xfrm>
          <a:prstGeom prst="rect">
            <a:avLst/>
          </a:prstGeom>
          <a:noFill/>
          <a:ln>
            <a:noFill/>
          </a:ln>
        </p:spPr>
      </p:pic>
      <p:sp>
        <p:nvSpPr>
          <p:cNvPr id="572" name="Google Shape;572;p65"/>
          <p:cNvSpPr txBox="1"/>
          <p:nvPr/>
        </p:nvSpPr>
        <p:spPr>
          <a:xfrm>
            <a:off x="237400" y="3800425"/>
            <a:ext cx="23526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573" name="Google Shape;573;p65"/>
          <p:cNvSpPr txBox="1"/>
          <p:nvPr/>
        </p:nvSpPr>
        <p:spPr>
          <a:xfrm>
            <a:off x="237400" y="3812375"/>
            <a:ext cx="23526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574" name="Google Shape;574;p65"/>
          <p:cNvSpPr txBox="1"/>
          <p:nvPr/>
        </p:nvSpPr>
        <p:spPr>
          <a:xfrm>
            <a:off x="389800" y="3964775"/>
            <a:ext cx="23526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575" name="Google Shape;575;p65"/>
          <p:cNvSpPr txBox="1"/>
          <p:nvPr/>
        </p:nvSpPr>
        <p:spPr>
          <a:xfrm>
            <a:off x="237400" y="3881900"/>
            <a:ext cx="23526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576" name="Google Shape;576;p65"/>
          <p:cNvSpPr txBox="1"/>
          <p:nvPr/>
        </p:nvSpPr>
        <p:spPr>
          <a:xfrm>
            <a:off x="389800" y="4034300"/>
            <a:ext cx="23526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577" name="Google Shape;577;p65"/>
          <p:cNvSpPr txBox="1"/>
          <p:nvPr/>
        </p:nvSpPr>
        <p:spPr>
          <a:xfrm>
            <a:off x="240100" y="3964775"/>
            <a:ext cx="26520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2"/>
                </a:solidFill>
                <a:latin typeface="Arial"/>
                <a:ea typeface="Arial"/>
                <a:cs typeface="Arial"/>
                <a:sym typeface="Arial"/>
              </a:rPr>
              <a:t>STOPP</a:t>
            </a:r>
            <a:r>
              <a:rPr b="0" i="0" lang="sv" sz="1100" u="none" cap="none" strike="noStrike">
                <a:solidFill>
                  <a:schemeClr val="dk2"/>
                </a:solidFill>
                <a:latin typeface="Arial"/>
                <a:ea typeface="Arial"/>
                <a:cs typeface="Arial"/>
                <a:sym typeface="Arial"/>
              </a:rPr>
              <a:t> för den som kommer </a:t>
            </a:r>
            <a:r>
              <a:rPr b="0" i="0" lang="sv" sz="1100" u="none" cap="none" strike="noStrike">
                <a:solidFill>
                  <a:schemeClr val="dk1"/>
                </a:solidFill>
                <a:latin typeface="Arial"/>
                <a:ea typeface="Arial"/>
                <a:cs typeface="Arial"/>
                <a:sym typeface="Arial"/>
              </a:rPr>
              <a:t>framifrån</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2"/>
                </a:solidFill>
                <a:latin typeface="Arial"/>
                <a:ea typeface="Arial"/>
                <a:cs typeface="Arial"/>
                <a:sym typeface="Arial"/>
              </a:rPr>
              <a:t>eller bakifrån. Om du kommer från sidan innebär tecknet att du skall köra </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Arial"/>
              <a:ea typeface="Arial"/>
              <a:cs typeface="Arial"/>
              <a:sym typeface="Arial"/>
            </a:endParaRPr>
          </a:p>
        </p:txBody>
      </p:sp>
      <p:sp>
        <p:nvSpPr>
          <p:cNvPr id="578" name="Google Shape;578;p65"/>
          <p:cNvSpPr txBox="1"/>
          <p:nvPr/>
        </p:nvSpPr>
        <p:spPr>
          <a:xfrm>
            <a:off x="2436888" y="1083950"/>
            <a:ext cx="26520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2"/>
                </a:solidFill>
                <a:latin typeface="Arial"/>
                <a:ea typeface="Arial"/>
                <a:cs typeface="Arial"/>
                <a:sym typeface="Arial"/>
              </a:rPr>
              <a:t>STOPP</a:t>
            </a:r>
            <a:r>
              <a:rPr b="0" i="0" lang="sv" sz="1100" u="none" cap="none" strike="noStrike">
                <a:solidFill>
                  <a:schemeClr val="dk2"/>
                </a:solidFill>
                <a:latin typeface="Arial"/>
                <a:ea typeface="Arial"/>
                <a:cs typeface="Arial"/>
                <a:sym typeface="Arial"/>
              </a:rPr>
              <a:t> för den trafikant som handflatan är vänd mot. Tecknet kan ges med en stoppspade</a:t>
            </a:r>
            <a:endParaRPr b="0" i="0" sz="1000" u="none" cap="none" strike="noStrike">
              <a:solidFill>
                <a:schemeClr val="dk2"/>
              </a:solidFill>
              <a:latin typeface="Arial"/>
              <a:ea typeface="Arial"/>
              <a:cs typeface="Arial"/>
              <a:sym typeface="Arial"/>
            </a:endParaRPr>
          </a:p>
        </p:txBody>
      </p:sp>
      <p:sp>
        <p:nvSpPr>
          <p:cNvPr id="579" name="Google Shape;579;p65"/>
          <p:cNvSpPr txBox="1"/>
          <p:nvPr/>
        </p:nvSpPr>
        <p:spPr>
          <a:xfrm>
            <a:off x="4447975" y="3964775"/>
            <a:ext cx="26520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2"/>
                </a:solidFill>
                <a:latin typeface="Arial"/>
                <a:ea typeface="Arial"/>
                <a:cs typeface="Arial"/>
                <a:sym typeface="Arial"/>
              </a:rPr>
              <a:t>MINSKA HASTIGHETEN </a:t>
            </a:r>
            <a:r>
              <a:rPr b="0" i="0" lang="sv" sz="1100" u="none" cap="none" strike="noStrike">
                <a:solidFill>
                  <a:schemeClr val="dk2"/>
                </a:solidFill>
                <a:latin typeface="Arial"/>
                <a:ea typeface="Arial"/>
                <a:cs typeface="Arial"/>
                <a:sym typeface="Arial"/>
              </a:rPr>
              <a:t>för den trafikant som polismannen är vänd mot </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Arial"/>
              <a:ea typeface="Arial"/>
              <a:cs typeface="Arial"/>
              <a:sym typeface="Arial"/>
            </a:endParaRPr>
          </a:p>
        </p:txBody>
      </p:sp>
      <p:sp>
        <p:nvSpPr>
          <p:cNvPr id="580" name="Google Shape;580;p65"/>
          <p:cNvSpPr txBox="1"/>
          <p:nvPr/>
        </p:nvSpPr>
        <p:spPr>
          <a:xfrm>
            <a:off x="6279200" y="1083950"/>
            <a:ext cx="2652000" cy="84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2"/>
                </a:solidFill>
                <a:latin typeface="Arial"/>
                <a:ea typeface="Arial"/>
                <a:cs typeface="Arial"/>
                <a:sym typeface="Arial"/>
              </a:rPr>
              <a:t>FORTSÄTT FRAMÅT</a:t>
            </a:r>
            <a:r>
              <a:rPr b="0" i="0" lang="sv" sz="1100" u="none" cap="none" strike="noStrike">
                <a:solidFill>
                  <a:schemeClr val="dk2"/>
                </a:solidFill>
                <a:latin typeface="Arial"/>
                <a:ea typeface="Arial"/>
                <a:cs typeface="Arial"/>
                <a:sym typeface="Arial"/>
              </a:rPr>
              <a:t> för de trafikanter som färdas i riktningen som anges.Tecknet ges med en vinkande rörelse i angiven färdriktning</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6"/>
          <p:cNvSpPr txBox="1"/>
          <p:nvPr>
            <p:ph type="title"/>
          </p:nvPr>
        </p:nvSpPr>
        <p:spPr>
          <a:xfrm>
            <a:off x="376400" y="890200"/>
            <a:ext cx="7282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11111"/>
              <a:buNone/>
            </a:pPr>
            <a:r>
              <a:rPr lang="sv"/>
              <a:t>Några uttryck och begrepp att känna till</a:t>
            </a:r>
            <a:endParaRPr/>
          </a:p>
        </p:txBody>
      </p:sp>
      <p:sp>
        <p:nvSpPr>
          <p:cNvPr id="586" name="Google Shape;586;p66"/>
          <p:cNvSpPr txBox="1"/>
          <p:nvPr/>
        </p:nvSpPr>
        <p:spPr>
          <a:xfrm>
            <a:off x="241200" y="1565500"/>
            <a:ext cx="8661600" cy="30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587" name="Google Shape;587;p66"/>
          <p:cNvSpPr txBox="1"/>
          <p:nvPr/>
        </p:nvSpPr>
        <p:spPr>
          <a:xfrm>
            <a:off x="376400" y="1490800"/>
            <a:ext cx="13581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Terräng</a:t>
            </a:r>
            <a:endParaRPr b="1" i="0" sz="2000" u="none" cap="none" strike="noStrike">
              <a:solidFill>
                <a:schemeClr val="dk2"/>
              </a:solidFill>
              <a:latin typeface="Arial"/>
              <a:ea typeface="Arial"/>
              <a:cs typeface="Arial"/>
              <a:sym typeface="Arial"/>
            </a:endParaRPr>
          </a:p>
        </p:txBody>
      </p:sp>
      <p:sp>
        <p:nvSpPr>
          <p:cNvPr id="588" name="Google Shape;588;p66"/>
          <p:cNvSpPr txBox="1"/>
          <p:nvPr/>
        </p:nvSpPr>
        <p:spPr>
          <a:xfrm>
            <a:off x="3892950" y="1497775"/>
            <a:ext cx="51771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Alla områden som inte är väg, till exempel skog, fjäll, åkrar och sjöisar. Det är där du oftast kör snöskoter.</a:t>
            </a:r>
            <a:endParaRPr b="1" i="0" sz="1500" u="none" cap="none" strike="noStrike">
              <a:solidFill>
                <a:schemeClr val="dk2"/>
              </a:solidFill>
              <a:latin typeface="Arial"/>
              <a:ea typeface="Arial"/>
              <a:cs typeface="Arial"/>
              <a:sym typeface="Arial"/>
            </a:endParaRPr>
          </a:p>
        </p:txBody>
      </p:sp>
      <p:sp>
        <p:nvSpPr>
          <p:cNvPr id="589" name="Google Shape;589;p66"/>
          <p:cNvSpPr txBox="1"/>
          <p:nvPr/>
        </p:nvSpPr>
        <p:spPr>
          <a:xfrm>
            <a:off x="376400" y="2105350"/>
            <a:ext cx="13581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Väg</a:t>
            </a:r>
            <a:endParaRPr b="1" i="0" sz="2000" u="none" cap="none" strike="noStrike">
              <a:solidFill>
                <a:schemeClr val="dk2"/>
              </a:solidFill>
              <a:latin typeface="Arial"/>
              <a:ea typeface="Arial"/>
              <a:cs typeface="Arial"/>
              <a:sym typeface="Arial"/>
            </a:endParaRPr>
          </a:p>
        </p:txBody>
      </p:sp>
      <p:sp>
        <p:nvSpPr>
          <p:cNvPr id="590" name="Google Shape;590;p66"/>
          <p:cNvSpPr txBox="1"/>
          <p:nvPr/>
        </p:nvSpPr>
        <p:spPr>
          <a:xfrm>
            <a:off x="3892950" y="2087988"/>
            <a:ext cx="5177100" cy="102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En anlagd och upplogad yta för fordonstrafik, till exempel landsvägar och grusvägar. Snöskoter får bara köras på väg i vissa undantagsfall, som vid kortare överfarter.</a:t>
            </a:r>
            <a:endParaRPr b="1" i="0" sz="1500" u="none" cap="none" strike="noStrike">
              <a:solidFill>
                <a:schemeClr val="dk2"/>
              </a:solidFill>
              <a:latin typeface="Arial"/>
              <a:ea typeface="Arial"/>
              <a:cs typeface="Arial"/>
              <a:sym typeface="Arial"/>
            </a:endParaRPr>
          </a:p>
        </p:txBody>
      </p:sp>
      <p:sp>
        <p:nvSpPr>
          <p:cNvPr id="591" name="Google Shape;591;p66"/>
          <p:cNvSpPr txBox="1"/>
          <p:nvPr/>
        </p:nvSpPr>
        <p:spPr>
          <a:xfrm>
            <a:off x="376400" y="3126700"/>
            <a:ext cx="20211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Terrängfordon</a:t>
            </a:r>
            <a:endParaRPr b="1" i="0" sz="2000" u="none" cap="none" strike="noStrike">
              <a:solidFill>
                <a:schemeClr val="dk2"/>
              </a:solidFill>
              <a:latin typeface="Arial"/>
              <a:ea typeface="Arial"/>
              <a:cs typeface="Arial"/>
              <a:sym typeface="Arial"/>
            </a:endParaRPr>
          </a:p>
        </p:txBody>
      </p:sp>
      <p:sp>
        <p:nvSpPr>
          <p:cNvPr id="592" name="Google Shape;592;p66"/>
          <p:cNvSpPr txBox="1"/>
          <p:nvPr/>
        </p:nvSpPr>
        <p:spPr>
          <a:xfrm>
            <a:off x="3892950" y="3126700"/>
            <a:ext cx="50595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Indelas i klasserna terrängmotorfordon och terrängsläp</a:t>
            </a:r>
            <a:endParaRPr b="1" i="0" sz="1500" u="none" cap="none" strike="noStrike">
              <a:solidFill>
                <a:schemeClr val="dk2"/>
              </a:solidFill>
              <a:latin typeface="Arial"/>
              <a:ea typeface="Arial"/>
              <a:cs typeface="Arial"/>
              <a:sym typeface="Arial"/>
            </a:endParaRPr>
          </a:p>
        </p:txBody>
      </p:sp>
      <p:sp>
        <p:nvSpPr>
          <p:cNvPr id="593" name="Google Shape;593;p66"/>
          <p:cNvSpPr txBox="1"/>
          <p:nvPr/>
        </p:nvSpPr>
        <p:spPr>
          <a:xfrm>
            <a:off x="376400" y="3742175"/>
            <a:ext cx="27054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Terrängmotorfordon</a:t>
            </a:r>
            <a:endParaRPr b="1" i="0" sz="2000" u="none" cap="none" strike="noStrike">
              <a:solidFill>
                <a:schemeClr val="dk2"/>
              </a:solidFill>
              <a:latin typeface="Arial"/>
              <a:ea typeface="Arial"/>
              <a:cs typeface="Arial"/>
              <a:sym typeface="Arial"/>
            </a:endParaRPr>
          </a:p>
        </p:txBody>
      </p:sp>
      <p:sp>
        <p:nvSpPr>
          <p:cNvPr id="594" name="Google Shape;594;p66"/>
          <p:cNvSpPr txBox="1"/>
          <p:nvPr/>
        </p:nvSpPr>
        <p:spPr>
          <a:xfrm>
            <a:off x="3892950" y="3699400"/>
            <a:ext cx="4813500" cy="88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Är begreppet för både tgsnö/tghjul och terrängvagn. Terrängsläp är ett fordon avsett att dras av tgsnö/tghjul och eller terrängvagn</a:t>
            </a:r>
            <a:endParaRPr b="1" i="0" sz="15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7"/>
          <p:cNvSpPr txBox="1"/>
          <p:nvPr>
            <p:ph type="title"/>
          </p:nvPr>
        </p:nvSpPr>
        <p:spPr>
          <a:xfrm>
            <a:off x="365700" y="793950"/>
            <a:ext cx="7656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36388"/>
              <a:buNone/>
            </a:pPr>
            <a:r>
              <a:rPr lang="sv"/>
              <a:t>Några uttryck och begrepp att känna till </a:t>
            </a:r>
            <a:r>
              <a:rPr lang="sv" sz="2444"/>
              <a:t>(forts.)</a:t>
            </a:r>
            <a:endParaRPr sz="2444"/>
          </a:p>
        </p:txBody>
      </p:sp>
      <p:sp>
        <p:nvSpPr>
          <p:cNvPr id="600" name="Google Shape;600;p67"/>
          <p:cNvSpPr txBox="1"/>
          <p:nvPr/>
        </p:nvSpPr>
        <p:spPr>
          <a:xfrm>
            <a:off x="290850" y="1462900"/>
            <a:ext cx="8661600" cy="358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601" name="Google Shape;601;p67"/>
          <p:cNvSpPr txBox="1"/>
          <p:nvPr/>
        </p:nvSpPr>
        <p:spPr>
          <a:xfrm>
            <a:off x="419175" y="1462900"/>
            <a:ext cx="27054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Planerad körning</a:t>
            </a:r>
            <a:endParaRPr b="1" i="0" sz="2000" u="none" cap="none" strike="noStrike">
              <a:solidFill>
                <a:schemeClr val="dk2"/>
              </a:solidFill>
              <a:latin typeface="Arial"/>
              <a:ea typeface="Arial"/>
              <a:cs typeface="Arial"/>
              <a:sym typeface="Arial"/>
            </a:endParaRPr>
          </a:p>
        </p:txBody>
      </p:sp>
      <p:sp>
        <p:nvSpPr>
          <p:cNvPr id="602" name="Google Shape;602;p67"/>
          <p:cNvSpPr txBox="1"/>
          <p:nvPr/>
        </p:nvSpPr>
        <p:spPr>
          <a:xfrm>
            <a:off x="3892950" y="1233400"/>
            <a:ext cx="5166600" cy="65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Att tänka igenom sin färdväg i förväg och anpassa körningen efter terräng, väder, säkerhet och miljö. Det kan innebära att välja leder och undvika känsliga områden.</a:t>
            </a:r>
            <a:endParaRPr b="1" i="0" sz="1500" u="none" cap="none" strike="noStrike">
              <a:solidFill>
                <a:schemeClr val="dk2"/>
              </a:solidFill>
              <a:latin typeface="Arial"/>
              <a:ea typeface="Arial"/>
              <a:cs typeface="Arial"/>
              <a:sym typeface="Arial"/>
            </a:endParaRPr>
          </a:p>
        </p:txBody>
      </p:sp>
      <p:sp>
        <p:nvSpPr>
          <p:cNvPr id="603" name="Google Shape;603;p67"/>
          <p:cNvSpPr txBox="1"/>
          <p:nvPr/>
        </p:nvSpPr>
        <p:spPr>
          <a:xfrm>
            <a:off x="419175" y="2571750"/>
            <a:ext cx="25449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Avsökningsområde</a:t>
            </a:r>
            <a:endParaRPr b="1" i="0" sz="2000" u="none" cap="none" strike="noStrike">
              <a:solidFill>
                <a:schemeClr val="dk2"/>
              </a:solidFill>
              <a:latin typeface="Arial"/>
              <a:ea typeface="Arial"/>
              <a:cs typeface="Arial"/>
              <a:sym typeface="Arial"/>
            </a:endParaRPr>
          </a:p>
        </p:txBody>
      </p:sp>
      <p:sp>
        <p:nvSpPr>
          <p:cNvPr id="604" name="Google Shape;604;p67"/>
          <p:cNvSpPr txBox="1"/>
          <p:nvPr/>
        </p:nvSpPr>
        <p:spPr>
          <a:xfrm>
            <a:off x="3892950" y="2263150"/>
            <a:ext cx="5059500" cy="135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Genom att aktivt skanna omgivningen kan man upptäcka hinder, andra fordon eller förändringar i terrängen i god tid. Det området avsöks med direkt- och periferiseendet i samspel genom att man låter blicken vara rörlig inom området.</a:t>
            </a:r>
            <a:endParaRPr b="1" i="0" sz="1500" u="none" cap="none" strike="noStrike">
              <a:solidFill>
                <a:schemeClr val="dk2"/>
              </a:solidFill>
              <a:latin typeface="Arial"/>
              <a:ea typeface="Arial"/>
              <a:cs typeface="Arial"/>
              <a:sym typeface="Arial"/>
            </a:endParaRPr>
          </a:p>
        </p:txBody>
      </p:sp>
      <p:sp>
        <p:nvSpPr>
          <p:cNvPr id="605" name="Google Shape;605;p67"/>
          <p:cNvSpPr txBox="1"/>
          <p:nvPr/>
        </p:nvSpPr>
        <p:spPr>
          <a:xfrm>
            <a:off x="419175" y="3959925"/>
            <a:ext cx="30477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Miljöanpassad körning</a:t>
            </a:r>
            <a:endParaRPr b="1" i="0" sz="2000" u="none" cap="none" strike="noStrike">
              <a:solidFill>
                <a:schemeClr val="dk2"/>
              </a:solidFill>
              <a:latin typeface="Arial"/>
              <a:ea typeface="Arial"/>
              <a:cs typeface="Arial"/>
              <a:sym typeface="Arial"/>
            </a:endParaRPr>
          </a:p>
        </p:txBody>
      </p:sp>
      <p:sp>
        <p:nvSpPr>
          <p:cNvPr id="606" name="Google Shape;606;p67"/>
          <p:cNvSpPr txBox="1"/>
          <p:nvPr/>
        </p:nvSpPr>
        <p:spPr>
          <a:xfrm>
            <a:off x="3892950" y="3479525"/>
            <a:ext cx="5059500" cy="15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Innebär att man kör så mjukt som möjligt, att man undviker rivstarter, att man inte bromsar bort fart i onödan. Att köra på ett sätt som minimerar påverkan på naturen. Det kan innebära att följa skoterleder, undvika onödigt buller och köra så bränslesnålt som möjligt.</a:t>
            </a:r>
            <a:endParaRPr b="1" i="0" sz="15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id="611" name="Google Shape;611;p68"/>
          <p:cNvPicPr preferRelativeResize="0"/>
          <p:nvPr/>
        </p:nvPicPr>
        <p:blipFill rotWithShape="1">
          <a:blip r:embed="rId3">
            <a:alphaModFix/>
          </a:blip>
          <a:srcRect b="0" l="0" r="0" t="0"/>
          <a:stretch/>
        </p:blipFill>
        <p:spPr>
          <a:xfrm>
            <a:off x="433600" y="1098850"/>
            <a:ext cx="2505048" cy="3538151"/>
          </a:xfrm>
          <a:prstGeom prst="rect">
            <a:avLst/>
          </a:prstGeom>
          <a:noFill/>
          <a:ln>
            <a:noFill/>
          </a:ln>
        </p:spPr>
      </p:pic>
      <p:sp>
        <p:nvSpPr>
          <p:cNvPr id="612" name="Google Shape;612;p68"/>
          <p:cNvSpPr txBox="1"/>
          <p:nvPr>
            <p:ph idx="1" type="body"/>
          </p:nvPr>
        </p:nvSpPr>
        <p:spPr>
          <a:xfrm>
            <a:off x="3577800" y="1081850"/>
            <a:ext cx="414900" cy="3022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CCCCCC"/>
              </a:buClr>
              <a:buSzPts val="1800"/>
              <a:buChar char="➔"/>
            </a:pPr>
            <a:r>
              <a:rPr lang="sv"/>
              <a:t> </a:t>
            </a:r>
            <a:endParaRPr/>
          </a:p>
          <a:p>
            <a:pPr indent="-342900" lvl="0" marL="457200" rtl="0" algn="l">
              <a:lnSpc>
                <a:spcPct val="115000"/>
              </a:lnSpc>
              <a:spcBef>
                <a:spcPts val="0"/>
              </a:spcBef>
              <a:spcAft>
                <a:spcPts val="0"/>
              </a:spcAft>
              <a:buClr>
                <a:srgbClr val="CCCCCC"/>
              </a:buClr>
              <a:buSzPts val="1800"/>
              <a:buChar char="➔"/>
            </a:pPr>
            <a:r>
              <a:rPr lang="sv"/>
              <a:t> </a:t>
            </a:r>
            <a:endParaRPr/>
          </a:p>
          <a:p>
            <a:pPr indent="-342900" lvl="0" marL="457200" rtl="0" algn="l">
              <a:lnSpc>
                <a:spcPct val="115000"/>
              </a:lnSpc>
              <a:spcBef>
                <a:spcPts val="0"/>
              </a:spcBef>
              <a:spcAft>
                <a:spcPts val="0"/>
              </a:spcAft>
              <a:buClr>
                <a:srgbClr val="CCCCCC"/>
              </a:buClr>
              <a:buSzPts val="1800"/>
              <a:buChar char="➔"/>
            </a:pPr>
            <a:r>
              <a:rPr lang="sv"/>
              <a:t> </a:t>
            </a:r>
            <a:endParaRPr/>
          </a:p>
          <a:p>
            <a:pPr indent="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Clr>
                <a:srgbClr val="CCCCCC"/>
              </a:buClr>
              <a:buSzPts val="1800"/>
              <a:buChar char="➔"/>
            </a:pPr>
            <a:r>
              <a:rPr lang="sv"/>
              <a:t> </a:t>
            </a:r>
            <a:endParaRPr/>
          </a:p>
        </p:txBody>
      </p:sp>
      <p:sp>
        <p:nvSpPr>
          <p:cNvPr id="613" name="Google Shape;613;p68"/>
          <p:cNvSpPr txBox="1"/>
          <p:nvPr>
            <p:ph idx="1" type="body"/>
          </p:nvPr>
        </p:nvSpPr>
        <p:spPr>
          <a:xfrm>
            <a:off x="3577800" y="1081850"/>
            <a:ext cx="5358000" cy="2251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sv"/>
              <a:t>Registrerad samt påställd</a:t>
            </a:r>
            <a:endParaRPr/>
          </a:p>
          <a:p>
            <a:pPr indent="-342900" lvl="0" marL="457200" rtl="0" algn="l">
              <a:lnSpc>
                <a:spcPct val="115000"/>
              </a:lnSpc>
              <a:spcBef>
                <a:spcPts val="0"/>
              </a:spcBef>
              <a:spcAft>
                <a:spcPts val="0"/>
              </a:spcAft>
              <a:buSzPts val="1800"/>
              <a:buChar char="➔"/>
            </a:pPr>
            <a:r>
              <a:rPr lang="sv"/>
              <a:t>Minst trafikförsäkrad</a:t>
            </a:r>
            <a:endParaRPr/>
          </a:p>
          <a:p>
            <a:pPr indent="-342900" lvl="0" marL="457200" rtl="0" algn="l">
              <a:lnSpc>
                <a:spcPct val="115000"/>
              </a:lnSpc>
              <a:spcBef>
                <a:spcPts val="0"/>
              </a:spcBef>
              <a:spcAft>
                <a:spcPts val="0"/>
              </a:spcAft>
              <a:buSzPts val="1800"/>
              <a:buChar char="➔"/>
            </a:pPr>
            <a:r>
              <a:rPr lang="sv"/>
              <a:t>Ej manipulerad från original</a:t>
            </a:r>
            <a:br>
              <a:rPr lang="sv"/>
            </a:br>
            <a:r>
              <a:rPr lang="sv"/>
              <a:t>annars ny reg. besiktning</a:t>
            </a:r>
            <a:endParaRPr/>
          </a:p>
          <a:p>
            <a:pPr indent="-342900" lvl="0" marL="457200" rtl="0" algn="l">
              <a:lnSpc>
                <a:spcPct val="115000"/>
              </a:lnSpc>
              <a:spcBef>
                <a:spcPts val="0"/>
              </a:spcBef>
              <a:spcAft>
                <a:spcPts val="0"/>
              </a:spcAft>
              <a:buSzPts val="1800"/>
              <a:buChar char="➔"/>
            </a:pPr>
            <a:r>
              <a:rPr lang="sv"/>
              <a:t>Ex. eftermontering av s.k. ”trimpipa” med kraftigt tilltagande ljudvolym som följd.</a:t>
            </a:r>
            <a:endParaRPr/>
          </a:p>
        </p:txBody>
      </p:sp>
      <p:pic>
        <p:nvPicPr>
          <p:cNvPr id="614" name="Google Shape;614;p68"/>
          <p:cNvPicPr preferRelativeResize="0"/>
          <p:nvPr/>
        </p:nvPicPr>
        <p:blipFill rotWithShape="1">
          <a:blip r:embed="rId4">
            <a:alphaModFix/>
          </a:blip>
          <a:srcRect b="0" l="0" r="0" t="0"/>
          <a:stretch/>
        </p:blipFill>
        <p:spPr>
          <a:xfrm>
            <a:off x="3261587" y="3157575"/>
            <a:ext cx="5788375" cy="1001450"/>
          </a:xfrm>
          <a:prstGeom prst="rect">
            <a:avLst/>
          </a:prstGeom>
          <a:noFill/>
          <a:ln>
            <a:noFill/>
          </a:ln>
        </p:spPr>
      </p:pic>
      <p:sp>
        <p:nvSpPr>
          <p:cNvPr id="615" name="Google Shape;615;p68"/>
          <p:cNvSpPr txBox="1"/>
          <p:nvPr/>
        </p:nvSpPr>
        <p:spPr>
          <a:xfrm>
            <a:off x="4046400" y="4104650"/>
            <a:ext cx="4420800" cy="411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60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Var skall den vara placerad?</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animEffect filter="fade" transition="in">
                                      <p:cBhvr>
                                        <p:cTn dur="1000"/>
                                        <p:tgtEl>
                                          <p:spTgt spid="6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1" st="1"/>
                                            </p:txEl>
                                          </p:spTgt>
                                        </p:tgtEl>
                                        <p:attrNameLst>
                                          <p:attrName>style.visibility</p:attrName>
                                        </p:attrNameLst>
                                      </p:cBhvr>
                                      <p:to>
                                        <p:strVal val="visible"/>
                                      </p:to>
                                    </p:set>
                                    <p:animEffect filter="fade" transition="in">
                                      <p:cBhvr>
                                        <p:cTn dur="1000"/>
                                        <p:tgtEl>
                                          <p:spTgt spid="6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2" st="2"/>
                                            </p:txEl>
                                          </p:spTgt>
                                        </p:tgtEl>
                                        <p:attrNameLst>
                                          <p:attrName>style.visibility</p:attrName>
                                        </p:attrNameLst>
                                      </p:cBhvr>
                                      <p:to>
                                        <p:strVal val="visible"/>
                                      </p:to>
                                    </p:set>
                                    <p:animEffect filter="fade" transition="in">
                                      <p:cBhvr>
                                        <p:cTn dur="1000"/>
                                        <p:tgtEl>
                                          <p:spTgt spid="6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3" st="3"/>
                                            </p:txEl>
                                          </p:spTgt>
                                        </p:tgtEl>
                                        <p:attrNameLst>
                                          <p:attrName>style.visibility</p:attrName>
                                        </p:attrNameLst>
                                      </p:cBhvr>
                                      <p:to>
                                        <p:strVal val="visible"/>
                                      </p:to>
                                    </p:set>
                                    <p:animEffect filter="fade" transition="in">
                                      <p:cBhvr>
                                        <p:cTn dur="1000"/>
                                        <p:tgtEl>
                                          <p:spTgt spid="6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pic>
        <p:nvPicPr>
          <p:cNvPr id="620" name="Google Shape;620;p69"/>
          <p:cNvPicPr preferRelativeResize="0"/>
          <p:nvPr/>
        </p:nvPicPr>
        <p:blipFill rotWithShape="1">
          <a:blip r:embed="rId3">
            <a:alphaModFix/>
          </a:blip>
          <a:srcRect b="0" l="0" r="0" t="0"/>
          <a:stretch/>
        </p:blipFill>
        <p:spPr>
          <a:xfrm>
            <a:off x="542950" y="1134613"/>
            <a:ext cx="1331150" cy="1182500"/>
          </a:xfrm>
          <a:prstGeom prst="rect">
            <a:avLst/>
          </a:prstGeom>
          <a:noFill/>
          <a:ln>
            <a:noFill/>
          </a:ln>
        </p:spPr>
      </p:pic>
      <p:pic>
        <p:nvPicPr>
          <p:cNvPr id="621" name="Google Shape;621;p69"/>
          <p:cNvPicPr preferRelativeResize="0"/>
          <p:nvPr/>
        </p:nvPicPr>
        <p:blipFill rotWithShape="1">
          <a:blip r:embed="rId4">
            <a:alphaModFix/>
          </a:blip>
          <a:srcRect b="0" l="0" r="0" t="0"/>
          <a:stretch/>
        </p:blipFill>
        <p:spPr>
          <a:xfrm>
            <a:off x="2118174" y="1134621"/>
            <a:ext cx="1331150" cy="1182504"/>
          </a:xfrm>
          <a:prstGeom prst="rect">
            <a:avLst/>
          </a:prstGeom>
          <a:noFill/>
          <a:ln>
            <a:noFill/>
          </a:ln>
        </p:spPr>
      </p:pic>
      <p:pic>
        <p:nvPicPr>
          <p:cNvPr id="622" name="Google Shape;622;p69"/>
          <p:cNvPicPr preferRelativeResize="0"/>
          <p:nvPr/>
        </p:nvPicPr>
        <p:blipFill rotWithShape="1">
          <a:blip r:embed="rId5">
            <a:alphaModFix/>
          </a:blip>
          <a:srcRect b="0" l="0" r="0" t="0"/>
          <a:stretch/>
        </p:blipFill>
        <p:spPr>
          <a:xfrm>
            <a:off x="3693400" y="1134620"/>
            <a:ext cx="1331150" cy="1182506"/>
          </a:xfrm>
          <a:prstGeom prst="rect">
            <a:avLst/>
          </a:prstGeom>
          <a:noFill/>
          <a:ln>
            <a:noFill/>
          </a:ln>
        </p:spPr>
      </p:pic>
      <p:pic>
        <p:nvPicPr>
          <p:cNvPr id="623" name="Google Shape;623;p69"/>
          <p:cNvPicPr preferRelativeResize="0"/>
          <p:nvPr/>
        </p:nvPicPr>
        <p:blipFill rotWithShape="1">
          <a:blip r:embed="rId6">
            <a:alphaModFix/>
          </a:blip>
          <a:srcRect b="0" l="0" r="0" t="0"/>
          <a:stretch/>
        </p:blipFill>
        <p:spPr>
          <a:xfrm>
            <a:off x="5725275" y="1060300"/>
            <a:ext cx="1331150" cy="1331150"/>
          </a:xfrm>
          <a:prstGeom prst="rect">
            <a:avLst/>
          </a:prstGeom>
          <a:noFill/>
          <a:ln>
            <a:noFill/>
          </a:ln>
        </p:spPr>
      </p:pic>
      <p:pic>
        <p:nvPicPr>
          <p:cNvPr id="624" name="Google Shape;624;p69"/>
          <p:cNvPicPr preferRelativeResize="0"/>
          <p:nvPr/>
        </p:nvPicPr>
        <p:blipFill rotWithShape="1">
          <a:blip r:embed="rId7">
            <a:alphaModFix/>
          </a:blip>
          <a:srcRect b="0" l="0" r="0" t="0"/>
          <a:stretch/>
        </p:blipFill>
        <p:spPr>
          <a:xfrm>
            <a:off x="7291050" y="1060300"/>
            <a:ext cx="1256824" cy="1256825"/>
          </a:xfrm>
          <a:prstGeom prst="rect">
            <a:avLst/>
          </a:prstGeom>
          <a:noFill/>
          <a:ln>
            <a:noFill/>
          </a:ln>
        </p:spPr>
      </p:pic>
      <p:sp>
        <p:nvSpPr>
          <p:cNvPr id="625" name="Google Shape;625;p69"/>
          <p:cNvSpPr txBox="1"/>
          <p:nvPr/>
        </p:nvSpPr>
        <p:spPr>
          <a:xfrm>
            <a:off x="1796550" y="2457738"/>
            <a:ext cx="55509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sv" sz="3000" u="none" cap="none" strike="noStrike">
                <a:solidFill>
                  <a:srgbClr val="005281"/>
                </a:solidFill>
                <a:latin typeface="Arial"/>
                <a:ea typeface="Arial"/>
                <a:cs typeface="Arial"/>
                <a:sym typeface="Arial"/>
              </a:rPr>
              <a:t>Exempel på skoterledsskyltar</a:t>
            </a:r>
            <a:endParaRPr b="0" i="0" sz="1400" u="none" cap="none" strike="noStrike">
              <a:solidFill>
                <a:srgbClr val="000000"/>
              </a:solidFill>
              <a:latin typeface="Arial"/>
              <a:ea typeface="Arial"/>
              <a:cs typeface="Arial"/>
              <a:sym typeface="Arial"/>
            </a:endParaRPr>
          </a:p>
        </p:txBody>
      </p:sp>
      <p:pic>
        <p:nvPicPr>
          <p:cNvPr id="626" name="Google Shape;626;p69"/>
          <p:cNvPicPr preferRelativeResize="0"/>
          <p:nvPr/>
        </p:nvPicPr>
        <p:blipFill rotWithShape="1">
          <a:blip r:embed="rId8">
            <a:alphaModFix/>
          </a:blip>
          <a:srcRect b="0" l="0" r="0" t="0"/>
          <a:stretch/>
        </p:blipFill>
        <p:spPr>
          <a:xfrm>
            <a:off x="861363" y="2998399"/>
            <a:ext cx="1256824" cy="1777628"/>
          </a:xfrm>
          <a:prstGeom prst="rect">
            <a:avLst/>
          </a:prstGeom>
          <a:noFill/>
          <a:ln>
            <a:noFill/>
          </a:ln>
        </p:spPr>
      </p:pic>
      <p:pic>
        <p:nvPicPr>
          <p:cNvPr id="627" name="Google Shape;627;p69"/>
          <p:cNvPicPr preferRelativeResize="0"/>
          <p:nvPr/>
        </p:nvPicPr>
        <p:blipFill rotWithShape="1">
          <a:blip r:embed="rId9">
            <a:alphaModFix/>
          </a:blip>
          <a:srcRect b="0" l="0" r="0" t="0"/>
          <a:stretch/>
        </p:blipFill>
        <p:spPr>
          <a:xfrm>
            <a:off x="2854813" y="2998410"/>
            <a:ext cx="1256824" cy="1777603"/>
          </a:xfrm>
          <a:prstGeom prst="rect">
            <a:avLst/>
          </a:prstGeom>
          <a:noFill/>
          <a:ln>
            <a:noFill/>
          </a:ln>
        </p:spPr>
      </p:pic>
      <p:pic>
        <p:nvPicPr>
          <p:cNvPr id="628" name="Google Shape;628;p69"/>
          <p:cNvPicPr preferRelativeResize="0"/>
          <p:nvPr/>
        </p:nvPicPr>
        <p:blipFill rotWithShape="1">
          <a:blip r:embed="rId10">
            <a:alphaModFix/>
          </a:blip>
          <a:srcRect b="0" l="0" r="0" t="0"/>
          <a:stretch/>
        </p:blipFill>
        <p:spPr>
          <a:xfrm>
            <a:off x="4848263" y="2998399"/>
            <a:ext cx="1256824" cy="1777628"/>
          </a:xfrm>
          <a:prstGeom prst="rect">
            <a:avLst/>
          </a:prstGeom>
          <a:noFill/>
          <a:ln>
            <a:noFill/>
          </a:ln>
        </p:spPr>
      </p:pic>
      <p:pic>
        <p:nvPicPr>
          <p:cNvPr id="629" name="Google Shape;629;p69"/>
          <p:cNvPicPr preferRelativeResize="0"/>
          <p:nvPr/>
        </p:nvPicPr>
        <p:blipFill rotWithShape="1">
          <a:blip r:embed="rId11">
            <a:alphaModFix/>
          </a:blip>
          <a:srcRect b="0" l="0" r="0" t="0"/>
          <a:stretch/>
        </p:blipFill>
        <p:spPr>
          <a:xfrm>
            <a:off x="6841725" y="2948849"/>
            <a:ext cx="1256824" cy="17776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pic>
        <p:nvPicPr>
          <p:cNvPr id="634" name="Google Shape;634;p70"/>
          <p:cNvPicPr preferRelativeResize="0"/>
          <p:nvPr/>
        </p:nvPicPr>
        <p:blipFill rotWithShape="1">
          <a:blip r:embed="rId3">
            <a:alphaModFix/>
          </a:blip>
          <a:srcRect b="0" l="0" r="0" t="0"/>
          <a:stretch/>
        </p:blipFill>
        <p:spPr>
          <a:xfrm>
            <a:off x="7347450" y="1129812"/>
            <a:ext cx="1285699" cy="1285700"/>
          </a:xfrm>
          <a:prstGeom prst="rect">
            <a:avLst/>
          </a:prstGeom>
          <a:noFill/>
          <a:ln>
            <a:noFill/>
          </a:ln>
        </p:spPr>
      </p:pic>
      <p:sp>
        <p:nvSpPr>
          <p:cNvPr id="635" name="Google Shape;635;p70"/>
          <p:cNvSpPr txBox="1"/>
          <p:nvPr/>
        </p:nvSpPr>
        <p:spPr>
          <a:xfrm>
            <a:off x="1796550" y="2394013"/>
            <a:ext cx="55509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sv" sz="3000" u="none" cap="none" strike="noStrike">
                <a:solidFill>
                  <a:srgbClr val="005281"/>
                </a:solidFill>
                <a:latin typeface="Arial"/>
                <a:ea typeface="Arial"/>
                <a:cs typeface="Arial"/>
                <a:sym typeface="Arial"/>
              </a:rPr>
              <a:t>Exempel på skoterledsskyltar</a:t>
            </a:r>
            <a:endParaRPr b="0" i="0" sz="1400" u="none" cap="none" strike="noStrike">
              <a:solidFill>
                <a:srgbClr val="000000"/>
              </a:solidFill>
              <a:latin typeface="Arial"/>
              <a:ea typeface="Arial"/>
              <a:cs typeface="Arial"/>
              <a:sym typeface="Arial"/>
            </a:endParaRPr>
          </a:p>
        </p:txBody>
      </p:sp>
      <p:pic>
        <p:nvPicPr>
          <p:cNvPr id="636" name="Google Shape;636;p70"/>
          <p:cNvPicPr preferRelativeResize="0"/>
          <p:nvPr/>
        </p:nvPicPr>
        <p:blipFill rotWithShape="1">
          <a:blip r:embed="rId4">
            <a:alphaModFix/>
          </a:blip>
          <a:srcRect b="0" l="0" r="0" t="0"/>
          <a:stretch/>
        </p:blipFill>
        <p:spPr>
          <a:xfrm>
            <a:off x="2792787" y="1152488"/>
            <a:ext cx="1240275" cy="1240303"/>
          </a:xfrm>
          <a:prstGeom prst="rect">
            <a:avLst/>
          </a:prstGeom>
          <a:noFill/>
          <a:ln>
            <a:noFill/>
          </a:ln>
        </p:spPr>
      </p:pic>
      <p:pic>
        <p:nvPicPr>
          <p:cNvPr id="637" name="Google Shape;637;p70"/>
          <p:cNvPicPr preferRelativeResize="0"/>
          <p:nvPr/>
        </p:nvPicPr>
        <p:blipFill rotWithShape="1">
          <a:blip r:embed="rId5">
            <a:alphaModFix/>
          </a:blip>
          <a:srcRect b="0" l="0" r="0" t="0"/>
          <a:stretch/>
        </p:blipFill>
        <p:spPr>
          <a:xfrm>
            <a:off x="5070113" y="1152512"/>
            <a:ext cx="1240275" cy="1240300"/>
          </a:xfrm>
          <a:prstGeom prst="rect">
            <a:avLst/>
          </a:prstGeom>
          <a:noFill/>
          <a:ln>
            <a:noFill/>
          </a:ln>
        </p:spPr>
      </p:pic>
      <p:pic>
        <p:nvPicPr>
          <p:cNvPr id="638" name="Google Shape;638;p70"/>
          <p:cNvPicPr preferRelativeResize="0"/>
          <p:nvPr/>
        </p:nvPicPr>
        <p:blipFill rotWithShape="1">
          <a:blip r:embed="rId6">
            <a:alphaModFix/>
          </a:blip>
          <a:srcRect b="0" l="0" r="0" t="0"/>
          <a:stretch/>
        </p:blipFill>
        <p:spPr>
          <a:xfrm>
            <a:off x="587225" y="3007988"/>
            <a:ext cx="1734463" cy="1734463"/>
          </a:xfrm>
          <a:prstGeom prst="rect">
            <a:avLst/>
          </a:prstGeom>
          <a:noFill/>
          <a:ln>
            <a:noFill/>
          </a:ln>
        </p:spPr>
      </p:pic>
      <p:pic>
        <p:nvPicPr>
          <p:cNvPr id="639" name="Google Shape;639;p70"/>
          <p:cNvPicPr preferRelativeResize="0"/>
          <p:nvPr/>
        </p:nvPicPr>
        <p:blipFill rotWithShape="1">
          <a:blip r:embed="rId7">
            <a:alphaModFix/>
          </a:blip>
          <a:srcRect b="0" l="0" r="0" t="0"/>
          <a:stretch/>
        </p:blipFill>
        <p:spPr>
          <a:xfrm>
            <a:off x="2873813" y="3007988"/>
            <a:ext cx="1734463" cy="1734463"/>
          </a:xfrm>
          <a:prstGeom prst="rect">
            <a:avLst/>
          </a:prstGeom>
          <a:noFill/>
          <a:ln>
            <a:noFill/>
          </a:ln>
        </p:spPr>
      </p:pic>
      <p:pic>
        <p:nvPicPr>
          <p:cNvPr id="640" name="Google Shape;640;p70"/>
          <p:cNvPicPr preferRelativeResize="0"/>
          <p:nvPr/>
        </p:nvPicPr>
        <p:blipFill rotWithShape="1">
          <a:blip r:embed="rId8">
            <a:alphaModFix/>
          </a:blip>
          <a:srcRect b="0" l="0" r="0" t="0"/>
          <a:stretch/>
        </p:blipFill>
        <p:spPr>
          <a:xfrm>
            <a:off x="609750" y="1151274"/>
            <a:ext cx="1240275" cy="1242751"/>
          </a:xfrm>
          <a:prstGeom prst="rect">
            <a:avLst/>
          </a:prstGeom>
          <a:noFill/>
          <a:ln>
            <a:noFill/>
          </a:ln>
        </p:spPr>
      </p:pic>
      <p:pic>
        <p:nvPicPr>
          <p:cNvPr id="641" name="Google Shape;641;p70"/>
          <p:cNvPicPr preferRelativeResize="0"/>
          <p:nvPr/>
        </p:nvPicPr>
        <p:blipFill rotWithShape="1">
          <a:blip r:embed="rId9">
            <a:alphaModFix/>
          </a:blip>
          <a:srcRect b="0" l="0" r="0" t="0"/>
          <a:stretch/>
        </p:blipFill>
        <p:spPr>
          <a:xfrm>
            <a:off x="4870825" y="2880500"/>
            <a:ext cx="1861950" cy="1861950"/>
          </a:xfrm>
          <a:prstGeom prst="rect">
            <a:avLst/>
          </a:prstGeom>
          <a:noFill/>
          <a:ln>
            <a:noFill/>
          </a:ln>
        </p:spPr>
      </p:pic>
      <p:pic>
        <p:nvPicPr>
          <p:cNvPr id="642" name="Google Shape;642;p70" title="20.png"/>
          <p:cNvPicPr preferRelativeResize="0"/>
          <p:nvPr/>
        </p:nvPicPr>
        <p:blipFill rotWithShape="1">
          <a:blip r:embed="rId10">
            <a:alphaModFix/>
          </a:blip>
          <a:srcRect b="0" l="0" r="0" t="0"/>
          <a:stretch/>
        </p:blipFill>
        <p:spPr>
          <a:xfrm>
            <a:off x="6834950" y="2912375"/>
            <a:ext cx="1798188" cy="17981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71"/>
          <p:cNvPicPr preferRelativeResize="0"/>
          <p:nvPr/>
        </p:nvPicPr>
        <p:blipFill rotWithShape="1">
          <a:blip r:embed="rId3">
            <a:alphaModFix/>
          </a:blip>
          <a:srcRect b="3697" l="0" r="0" t="9917"/>
          <a:stretch/>
        </p:blipFill>
        <p:spPr>
          <a:xfrm>
            <a:off x="0" y="781100"/>
            <a:ext cx="9144001" cy="4362400"/>
          </a:xfrm>
          <a:prstGeom prst="rect">
            <a:avLst/>
          </a:prstGeom>
          <a:noFill/>
          <a:ln>
            <a:noFill/>
          </a:ln>
        </p:spPr>
      </p:pic>
      <p:pic>
        <p:nvPicPr>
          <p:cNvPr id="648" name="Google Shape;648;p71"/>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649" name="Google Shape;649;p71"/>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pic>
        <p:nvPicPr>
          <p:cNvPr id="654" name="Google Shape;654;p72"/>
          <p:cNvPicPr preferRelativeResize="0"/>
          <p:nvPr/>
        </p:nvPicPr>
        <p:blipFill rotWithShape="1">
          <a:blip r:embed="rId3">
            <a:alphaModFix/>
          </a:blip>
          <a:srcRect b="2700" l="0" r="0" t="15210"/>
          <a:stretch/>
        </p:blipFill>
        <p:spPr>
          <a:xfrm>
            <a:off x="0" y="785850"/>
            <a:ext cx="9143999" cy="4357649"/>
          </a:xfrm>
          <a:prstGeom prst="rect">
            <a:avLst/>
          </a:prstGeom>
          <a:noFill/>
          <a:ln>
            <a:noFill/>
          </a:ln>
        </p:spPr>
      </p:pic>
      <p:pic>
        <p:nvPicPr>
          <p:cNvPr id="655" name="Google Shape;655;p72"/>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656" name="Google Shape;656;p72"/>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id="661" name="Google Shape;661;p73" title="regler hänsyn 2 placering led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pic>
        <p:nvPicPr>
          <p:cNvPr id="666" name="Google Shape;666;p74"/>
          <p:cNvPicPr preferRelativeResize="0"/>
          <p:nvPr/>
        </p:nvPicPr>
        <p:blipFill rotWithShape="1">
          <a:blip r:embed="rId3">
            <a:alphaModFix/>
          </a:blip>
          <a:srcRect b="0" l="0" r="0" t="0"/>
          <a:stretch/>
        </p:blipFill>
        <p:spPr>
          <a:xfrm>
            <a:off x="0" y="772125"/>
            <a:ext cx="9143998" cy="4328599"/>
          </a:xfrm>
          <a:prstGeom prst="rect">
            <a:avLst/>
          </a:prstGeom>
          <a:noFill/>
          <a:ln>
            <a:noFill/>
          </a:ln>
        </p:spPr>
      </p:pic>
      <p:sp>
        <p:nvSpPr>
          <p:cNvPr id="667" name="Google Shape;667;p74"/>
          <p:cNvSpPr txBox="1"/>
          <p:nvPr>
            <p:ph type="title"/>
          </p:nvPr>
        </p:nvSpPr>
        <p:spPr>
          <a:xfrm>
            <a:off x="0" y="900875"/>
            <a:ext cx="9144000" cy="572700"/>
          </a:xfrm>
          <a:prstGeom prst="rect">
            <a:avLst/>
          </a:prstGeom>
          <a:noFill/>
          <a:ln>
            <a:noFill/>
          </a:ln>
          <a:effectLst>
            <a:outerShdw blurRad="57150" rotWithShape="0" algn="bl" dir="5400000" dist="19050">
              <a:schemeClr val="lt1">
                <a:alpha val="50196"/>
              </a:schemeClr>
            </a:outerShdw>
          </a:effectLst>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07147"/>
              <a:buNone/>
            </a:pPr>
            <a:r>
              <a:rPr lang="sv" sz="3111"/>
              <a:t>På leden gäller högertrafik</a:t>
            </a:r>
            <a:endParaRPr sz="3111"/>
          </a:p>
          <a:p>
            <a:pPr indent="0" lvl="0" marL="0" rtl="0" algn="ctr">
              <a:lnSpc>
                <a:spcPct val="115000"/>
              </a:lnSpc>
              <a:spcBef>
                <a:spcPts val="0"/>
              </a:spcBef>
              <a:spcAft>
                <a:spcPts val="0"/>
              </a:spcAft>
              <a:buSzPct val="111111"/>
              <a:buNone/>
            </a:pPr>
            <a:r>
              <a:t/>
            </a:r>
            <a:endParaRPr/>
          </a:p>
          <a:p>
            <a:pPr indent="0" lvl="0" marL="0" rtl="0" algn="ctr">
              <a:lnSpc>
                <a:spcPct val="100000"/>
              </a:lnSpc>
              <a:spcBef>
                <a:spcPts val="0"/>
              </a:spcBef>
              <a:spcAft>
                <a:spcPts val="0"/>
              </a:spcAft>
              <a:buSzPct val="111111"/>
              <a:buNone/>
            </a:pPr>
            <a:r>
              <a:t/>
            </a:r>
            <a:endParaRPr/>
          </a:p>
        </p:txBody>
      </p:sp>
      <p:sp>
        <p:nvSpPr>
          <p:cNvPr id="668" name="Google Shape;668;p74"/>
          <p:cNvSpPr txBox="1"/>
          <p:nvPr>
            <p:ph idx="1" type="body"/>
          </p:nvPr>
        </p:nvSpPr>
        <p:spPr>
          <a:xfrm>
            <a:off x="6760800" y="2687213"/>
            <a:ext cx="2383200" cy="86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688"/>
              <a:buNone/>
            </a:pPr>
            <a:r>
              <a:rPr lang="sv" sz="1537"/>
              <a:t>Max 70 km/h, men vilka </a:t>
            </a:r>
            <a:endParaRPr sz="1537"/>
          </a:p>
          <a:p>
            <a:pPr indent="0" lvl="0" marL="0" rtl="0" algn="l">
              <a:lnSpc>
                <a:spcPct val="115000"/>
              </a:lnSpc>
              <a:spcBef>
                <a:spcPts val="0"/>
              </a:spcBef>
              <a:spcAft>
                <a:spcPts val="0"/>
              </a:spcAft>
              <a:buSzPts val="688"/>
              <a:buNone/>
            </a:pPr>
            <a:r>
              <a:rPr lang="sv" sz="1537"/>
              <a:t>faktorer styr valet av </a:t>
            </a:r>
            <a:br>
              <a:rPr lang="sv" sz="1537"/>
            </a:br>
            <a:r>
              <a:rPr lang="sv" sz="1537"/>
              <a:t>lämplig hastighet?</a:t>
            </a:r>
            <a:endParaRPr sz="1537"/>
          </a:p>
        </p:txBody>
      </p:sp>
      <p:pic>
        <p:nvPicPr>
          <p:cNvPr id="669" name="Google Shape;669;p74"/>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670" name="Google Shape;670;p74"/>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
        <p:nvSpPr>
          <p:cNvPr id="671" name="Google Shape;671;p74"/>
          <p:cNvSpPr txBox="1"/>
          <p:nvPr>
            <p:ph idx="1" type="body"/>
          </p:nvPr>
        </p:nvSpPr>
        <p:spPr>
          <a:xfrm>
            <a:off x="963200" y="3704050"/>
            <a:ext cx="3337800" cy="1058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800"/>
              <a:buNone/>
            </a:pPr>
            <a:r>
              <a:rPr lang="sv" sz="1900"/>
              <a:t>Hur ska man tänka i situationer som denna?</a:t>
            </a:r>
            <a:br>
              <a:rPr lang="sv" sz="1900"/>
            </a:br>
            <a:r>
              <a:rPr lang="sv" sz="1900">
                <a:solidFill>
                  <a:srgbClr val="FF0000"/>
                </a:solidFill>
              </a:rPr>
              <a:t>VILKA RISKER SER NI?</a:t>
            </a:r>
            <a:endParaRPr sz="2400">
              <a:solidFill>
                <a:srgbClr val="FF0000"/>
              </a:solidFill>
            </a:endParaRPr>
          </a:p>
        </p:txBody>
      </p:sp>
    </p:spTree>
  </p:cSld>
  <p:clrMapOvr>
    <a:masterClrMapping/>
  </p:clrMapOvr>
  <mc:AlternateContent>
    <mc:Choice Requires="p14">
      <p:transition spd="slow" p14:dur="9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pic>
        <p:nvPicPr>
          <p:cNvPr id="676" name="Google Shape;676;p75" title="regler hänsyn 4 kraftledningsgata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pic>
        <p:nvPicPr>
          <p:cNvPr id="681" name="Google Shape;681;p76"/>
          <p:cNvPicPr preferRelativeResize="0"/>
          <p:nvPr/>
        </p:nvPicPr>
        <p:blipFill rotWithShape="1">
          <a:blip r:embed="rId3">
            <a:alphaModFix/>
          </a:blip>
          <a:srcRect b="0" l="0" r="0" t="0"/>
          <a:stretch/>
        </p:blipFill>
        <p:spPr>
          <a:xfrm>
            <a:off x="0" y="629127"/>
            <a:ext cx="9144000" cy="4410070"/>
          </a:xfrm>
          <a:prstGeom prst="rect">
            <a:avLst/>
          </a:prstGeom>
          <a:noFill/>
          <a:ln>
            <a:noFill/>
          </a:ln>
        </p:spPr>
      </p:pic>
      <p:sp>
        <p:nvSpPr>
          <p:cNvPr id="682" name="Google Shape;682;p76"/>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solidFill>
                  <a:schemeClr val="lt1"/>
                </a:solidFill>
              </a:rPr>
              <a:t>Körning i mörker - Risker? - Skillnader mot dagsljus?</a:t>
            </a:r>
            <a:endParaRPr>
              <a:solidFill>
                <a:schemeClr val="lt1"/>
              </a:solidFill>
            </a:endParaRPr>
          </a:p>
        </p:txBody>
      </p:sp>
      <p:sp>
        <p:nvSpPr>
          <p:cNvPr id="683" name="Google Shape;683;p76"/>
          <p:cNvSpPr txBox="1"/>
          <p:nvPr>
            <p:ph idx="1" type="body"/>
          </p:nvPr>
        </p:nvSpPr>
        <p:spPr>
          <a:xfrm>
            <a:off x="0" y="1505675"/>
            <a:ext cx="9144000" cy="572700"/>
          </a:xfrm>
          <a:prstGeom prst="rect">
            <a:avLst/>
          </a:prstGeom>
          <a:noFill/>
          <a:ln>
            <a:noFill/>
          </a:ln>
          <a:effectLst>
            <a:outerShdw blurRad="57150" rotWithShape="0" algn="bl" dir="2460000" dist="19050">
              <a:srgbClr val="000000">
                <a:alpha val="83137"/>
              </a:srgbClr>
            </a:outerShdw>
          </a:effectLst>
        </p:spPr>
        <p:txBody>
          <a:bodyPr anchorCtr="0" anchor="t" bIns="91425" lIns="91425" spcFirstLastPara="1" rIns="91425" wrap="square" tIns="91425">
            <a:normAutofit/>
          </a:bodyPr>
          <a:lstStyle/>
          <a:p>
            <a:pPr indent="0" lvl="0" marL="0" rtl="0" algn="ctr">
              <a:lnSpc>
                <a:spcPct val="115000"/>
              </a:lnSpc>
              <a:spcBef>
                <a:spcPts val="600"/>
              </a:spcBef>
              <a:spcAft>
                <a:spcPts val="0"/>
              </a:spcAft>
              <a:buSzPts val="1800"/>
              <a:buNone/>
            </a:pPr>
            <a:r>
              <a:rPr lang="sv">
                <a:solidFill>
                  <a:schemeClr val="lt1"/>
                </a:solidFill>
              </a:rPr>
              <a:t>Ta ut ökat avstånd till framförvarande skoter.</a:t>
            </a:r>
            <a:endParaRPr>
              <a:solidFill>
                <a:schemeClr val="lt1"/>
              </a:solidFill>
            </a:endParaRPr>
          </a:p>
        </p:txBody>
      </p:sp>
      <p:sp>
        <p:nvSpPr>
          <p:cNvPr id="684" name="Google Shape;684;p76"/>
          <p:cNvSpPr txBox="1"/>
          <p:nvPr>
            <p:ph idx="1" type="body"/>
          </p:nvPr>
        </p:nvSpPr>
        <p:spPr>
          <a:xfrm>
            <a:off x="157725" y="3195825"/>
            <a:ext cx="2990400" cy="1101000"/>
          </a:xfrm>
          <a:prstGeom prst="rect">
            <a:avLst/>
          </a:prstGeom>
          <a:noFill/>
          <a:ln>
            <a:noFill/>
          </a:ln>
          <a:effectLst>
            <a:outerShdw blurRad="57150" rotWithShape="0" algn="bl" dir="2280000" dist="19050">
              <a:srgbClr val="000000">
                <a:alpha val="83137"/>
              </a:srgbClr>
            </a:outerShdw>
          </a:effectLst>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sv">
                <a:solidFill>
                  <a:schemeClr val="lt1"/>
                </a:solidFill>
              </a:rPr>
              <a:t>Tänk på att det är svårare att upptäcka hinder under körning i mörker.</a:t>
            </a:r>
            <a:endParaRPr>
              <a:solidFill>
                <a:schemeClr val="lt1"/>
              </a:solidFill>
            </a:endParaRPr>
          </a:p>
        </p:txBody>
      </p:sp>
      <p:pic>
        <p:nvPicPr>
          <p:cNvPr id="685" name="Google Shape;685;p76"/>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686" name="Google Shape;686;p76"/>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
        <p:nvSpPr>
          <p:cNvPr id="687" name="Google Shape;687;p76"/>
          <p:cNvSpPr txBox="1"/>
          <p:nvPr>
            <p:ph idx="1" type="body"/>
          </p:nvPr>
        </p:nvSpPr>
        <p:spPr>
          <a:xfrm>
            <a:off x="157725" y="4190050"/>
            <a:ext cx="5068200" cy="572700"/>
          </a:xfrm>
          <a:prstGeom prst="rect">
            <a:avLst/>
          </a:prstGeom>
          <a:noFill/>
          <a:ln>
            <a:noFill/>
          </a:ln>
          <a:effectLst>
            <a:outerShdw blurRad="57150" rotWithShape="0" algn="bl" dir="2460000" dist="19050">
              <a:srgbClr val="000000">
                <a:alpha val="83137"/>
              </a:srgbClr>
            </a:outerShdw>
          </a:effectLst>
        </p:spPr>
        <p:txBody>
          <a:bodyPr anchorCtr="0" anchor="t" bIns="91425" lIns="91425" spcFirstLastPara="1" rIns="91425" wrap="square" tIns="91425">
            <a:normAutofit fontScale="70000" lnSpcReduction="20000"/>
          </a:bodyPr>
          <a:lstStyle/>
          <a:p>
            <a:pPr indent="0" lvl="0" marL="0" rtl="0" algn="l">
              <a:lnSpc>
                <a:spcPct val="115000"/>
              </a:lnSpc>
              <a:spcBef>
                <a:spcPts val="600"/>
              </a:spcBef>
              <a:spcAft>
                <a:spcPts val="0"/>
              </a:spcAft>
              <a:buSzPct val="142857"/>
              <a:buNone/>
            </a:pPr>
            <a:r>
              <a:rPr lang="sv">
                <a:solidFill>
                  <a:schemeClr val="lt1"/>
                </a:solidFill>
              </a:rPr>
              <a:t>Lättare att se ljus från mötande skotrar samt </a:t>
            </a:r>
            <a:br>
              <a:rPr lang="sv">
                <a:solidFill>
                  <a:schemeClr val="lt1"/>
                </a:solidFill>
              </a:rPr>
            </a:br>
            <a:r>
              <a:rPr lang="sv">
                <a:solidFill>
                  <a:schemeClr val="lt1"/>
                </a:solidFill>
              </a:rPr>
              <a:t>exempelvis bromsljus från framförvarande skoter.</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pic>
        <p:nvPicPr>
          <p:cNvPr id="692" name="Google Shape;692;p77" title="regler hänsyn 1 vägpassage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pic>
        <p:nvPicPr>
          <p:cNvPr id="697" name="Google Shape;697;p78"/>
          <p:cNvPicPr preferRelativeResize="0"/>
          <p:nvPr/>
        </p:nvPicPr>
        <p:blipFill rotWithShape="1">
          <a:blip r:embed="rId3">
            <a:alphaModFix/>
          </a:blip>
          <a:srcRect b="0" l="0" r="0" t="0"/>
          <a:stretch/>
        </p:blipFill>
        <p:spPr>
          <a:xfrm>
            <a:off x="0" y="1210875"/>
            <a:ext cx="6675750" cy="3459876"/>
          </a:xfrm>
          <a:prstGeom prst="rect">
            <a:avLst/>
          </a:prstGeom>
          <a:noFill/>
          <a:ln>
            <a:noFill/>
          </a:ln>
        </p:spPr>
      </p:pic>
      <p:sp>
        <p:nvSpPr>
          <p:cNvPr id="698" name="Google Shape;698;p78"/>
          <p:cNvSpPr txBox="1"/>
          <p:nvPr>
            <p:ph idx="1" type="body"/>
          </p:nvPr>
        </p:nvSpPr>
        <p:spPr>
          <a:xfrm>
            <a:off x="4816600" y="2002400"/>
            <a:ext cx="4139400" cy="83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sv"/>
              <a:t>Vid väg- eller järnvägsövergång gäller alltid stopplikt!</a:t>
            </a:r>
            <a:endParaRPr/>
          </a:p>
        </p:txBody>
      </p:sp>
      <p:sp>
        <p:nvSpPr>
          <p:cNvPr id="699" name="Google Shape;699;p78"/>
          <p:cNvSpPr txBox="1"/>
          <p:nvPr>
            <p:ph idx="1" type="body"/>
          </p:nvPr>
        </p:nvSpPr>
        <p:spPr>
          <a:xfrm>
            <a:off x="4801000" y="3526550"/>
            <a:ext cx="4018200" cy="83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sv"/>
              <a:t>Passagerare på skoter eller i kälke kliver av och går över!</a:t>
            </a:r>
            <a:endParaRPr/>
          </a:p>
        </p:txBody>
      </p:sp>
      <p:pic>
        <p:nvPicPr>
          <p:cNvPr id="700" name="Google Shape;700;p78"/>
          <p:cNvPicPr preferRelativeResize="0"/>
          <p:nvPr/>
        </p:nvPicPr>
        <p:blipFill rotWithShape="1">
          <a:blip r:embed="rId4">
            <a:alphaModFix/>
          </a:blip>
          <a:srcRect b="0" l="0" r="0" t="0"/>
          <a:stretch/>
        </p:blipFill>
        <p:spPr>
          <a:xfrm>
            <a:off x="5307625" y="1030025"/>
            <a:ext cx="972375" cy="972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pic>
        <p:nvPicPr>
          <p:cNvPr id="705" name="Google Shape;705;p79" title="VÄGÖVERGÅNG SNÖSKOTER">
            <a:hlinkClick r:id="rId3"/>
          </p:cNvPr>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9" name="Shape 709"/>
        <p:cNvGrpSpPr/>
        <p:nvPr/>
      </p:nvGrpSpPr>
      <p:grpSpPr>
        <a:xfrm>
          <a:off x="0" y="0"/>
          <a:ext cx="0" cy="0"/>
          <a:chOff x="0" y="0"/>
          <a:chExt cx="0" cy="0"/>
        </a:xfrm>
      </p:grpSpPr>
      <p:pic>
        <p:nvPicPr>
          <p:cNvPr id="710" name="Google Shape;710;p80" title="PASSAGE AV JÄRNVÄG">
            <a:hlinkClick r:id="rId3"/>
          </p:cNvPr>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1000"/>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1"/>
          <p:cNvSpPr txBox="1"/>
          <p:nvPr>
            <p:ph type="title"/>
          </p:nvPr>
        </p:nvSpPr>
        <p:spPr>
          <a:xfrm>
            <a:off x="1930800" y="801950"/>
            <a:ext cx="52824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ATT VARA FÖRUTSEENDE</a:t>
            </a:r>
            <a:endParaRPr/>
          </a:p>
        </p:txBody>
      </p:sp>
      <p:pic>
        <p:nvPicPr>
          <p:cNvPr id="716" name="Google Shape;716;p81"/>
          <p:cNvPicPr preferRelativeResize="0"/>
          <p:nvPr/>
        </p:nvPicPr>
        <p:blipFill rotWithShape="1">
          <a:blip r:embed="rId3">
            <a:alphaModFix/>
          </a:blip>
          <a:srcRect b="0" l="0" r="0" t="0"/>
          <a:stretch/>
        </p:blipFill>
        <p:spPr>
          <a:xfrm>
            <a:off x="1443260" y="1289125"/>
            <a:ext cx="6257490" cy="3385024"/>
          </a:xfrm>
          <a:prstGeom prst="rect">
            <a:avLst/>
          </a:prstGeom>
          <a:noFill/>
          <a:ln>
            <a:noFill/>
          </a:ln>
        </p:spPr>
      </p:pic>
      <p:sp>
        <p:nvSpPr>
          <p:cNvPr id="717" name="Google Shape;717;p81"/>
          <p:cNvSpPr/>
          <p:nvPr/>
        </p:nvSpPr>
        <p:spPr>
          <a:xfrm>
            <a:off x="205300" y="1747300"/>
            <a:ext cx="12381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718" name="Google Shape;718;p81"/>
          <p:cNvSpPr/>
          <p:nvPr/>
        </p:nvSpPr>
        <p:spPr>
          <a:xfrm rot="10800000">
            <a:off x="7615200" y="1747300"/>
            <a:ext cx="12381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719" name="Google Shape;719;p81"/>
          <p:cNvSpPr/>
          <p:nvPr/>
        </p:nvSpPr>
        <p:spPr>
          <a:xfrm rot="10800000">
            <a:off x="7615200" y="2864775"/>
            <a:ext cx="12381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82"/>
          <p:cNvPicPr preferRelativeResize="0"/>
          <p:nvPr/>
        </p:nvPicPr>
        <p:blipFill rotWithShape="1">
          <a:blip r:embed="rId3">
            <a:alphaModFix/>
          </a:blip>
          <a:srcRect b="3016" l="5087" r="0" t="0"/>
          <a:stretch/>
        </p:blipFill>
        <p:spPr>
          <a:xfrm>
            <a:off x="1684425" y="1276500"/>
            <a:ext cx="5720824" cy="3461000"/>
          </a:xfrm>
          <a:prstGeom prst="rect">
            <a:avLst/>
          </a:prstGeom>
          <a:noFill/>
          <a:ln>
            <a:noFill/>
          </a:ln>
        </p:spPr>
      </p:pic>
      <p:sp>
        <p:nvSpPr>
          <p:cNvPr id="725" name="Google Shape;725;p82"/>
          <p:cNvSpPr txBox="1"/>
          <p:nvPr>
            <p:ph type="title"/>
          </p:nvPr>
        </p:nvSpPr>
        <p:spPr>
          <a:xfrm>
            <a:off x="0" y="7805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UPPTÄCK FARAN i tid!</a:t>
            </a:r>
            <a:endParaRPr/>
          </a:p>
        </p:txBody>
      </p:sp>
      <p:sp>
        <p:nvSpPr>
          <p:cNvPr id="726" name="Google Shape;726;p82"/>
          <p:cNvSpPr txBox="1"/>
          <p:nvPr>
            <p:ph idx="1" type="body"/>
          </p:nvPr>
        </p:nvSpPr>
        <p:spPr>
          <a:xfrm>
            <a:off x="4537950" y="1208050"/>
            <a:ext cx="2269500" cy="50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sv"/>
              <a:t>Var förutseende!</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83"/>
          <p:cNvSpPr txBox="1"/>
          <p:nvPr>
            <p:ph idx="1" type="body"/>
          </p:nvPr>
        </p:nvSpPr>
        <p:spPr>
          <a:xfrm>
            <a:off x="773850" y="3291225"/>
            <a:ext cx="3736800" cy="1521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sv" sz="1600"/>
              <a:t>Har rörlig och ”mjuk” blick.</a:t>
            </a:r>
            <a:endParaRPr sz="1600"/>
          </a:p>
          <a:p>
            <a:pPr indent="0" lvl="0" marL="0" rtl="0" algn="l">
              <a:lnSpc>
                <a:spcPct val="115000"/>
              </a:lnSpc>
              <a:spcBef>
                <a:spcPts val="0"/>
              </a:spcBef>
              <a:spcAft>
                <a:spcPts val="0"/>
              </a:spcAft>
              <a:buSzPts val="1800"/>
              <a:buNone/>
            </a:pPr>
            <a:r>
              <a:rPr lang="sv" sz="1600"/>
              <a:t>Fokuserar på saker som rör sig.</a:t>
            </a:r>
            <a:endParaRPr sz="1600"/>
          </a:p>
          <a:p>
            <a:pPr indent="0" lvl="0" marL="0" rtl="0" algn="l">
              <a:lnSpc>
                <a:spcPct val="115000"/>
              </a:lnSpc>
              <a:spcBef>
                <a:spcPts val="0"/>
              </a:spcBef>
              <a:spcAft>
                <a:spcPts val="0"/>
              </a:spcAft>
              <a:buSzPts val="1800"/>
              <a:buNone/>
            </a:pPr>
            <a:r>
              <a:rPr lang="sv" sz="1600"/>
              <a:t>Avsökningsområdet är bredare </a:t>
            </a:r>
            <a:br>
              <a:rPr lang="sv" sz="1600"/>
            </a:br>
            <a:r>
              <a:rPr lang="sv" sz="1600"/>
              <a:t>och längre. Har även uppsikt bakåt.</a:t>
            </a:r>
            <a:endParaRPr sz="1600"/>
          </a:p>
        </p:txBody>
      </p:sp>
      <p:sp>
        <p:nvSpPr>
          <p:cNvPr id="732" name="Google Shape;732;p83"/>
          <p:cNvSpPr txBox="1"/>
          <p:nvPr>
            <p:ph idx="1" type="body"/>
          </p:nvPr>
        </p:nvSpPr>
        <p:spPr>
          <a:xfrm>
            <a:off x="4619400" y="3291225"/>
            <a:ext cx="4524600" cy="15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600"/>
              <a:t>Fäster blicken på saker och håller </a:t>
            </a:r>
            <a:endParaRPr sz="1600"/>
          </a:p>
          <a:p>
            <a:pPr indent="0" lvl="0" marL="0" rtl="0" algn="l">
              <a:lnSpc>
                <a:spcPct val="115000"/>
              </a:lnSpc>
              <a:spcBef>
                <a:spcPts val="0"/>
              </a:spcBef>
              <a:spcAft>
                <a:spcPts val="0"/>
              </a:spcAft>
              <a:buSzPts val="1800"/>
              <a:buNone/>
            </a:pPr>
            <a:r>
              <a:rPr lang="sv" sz="1600"/>
              <a:t>kvar blicken för länge (”ryckig” blick).</a:t>
            </a:r>
            <a:endParaRPr sz="1600"/>
          </a:p>
          <a:p>
            <a:pPr indent="0" lvl="0" marL="0" rtl="0" algn="l">
              <a:lnSpc>
                <a:spcPct val="115000"/>
              </a:lnSpc>
              <a:spcBef>
                <a:spcPts val="0"/>
              </a:spcBef>
              <a:spcAft>
                <a:spcPts val="0"/>
              </a:spcAft>
              <a:buSzPts val="1800"/>
              <a:buNone/>
            </a:pPr>
            <a:r>
              <a:rPr lang="sv" sz="1600"/>
              <a:t>Fokuserar på stillastående saker.</a:t>
            </a:r>
            <a:endParaRPr sz="1600"/>
          </a:p>
          <a:p>
            <a:pPr indent="0" lvl="0" marL="0" rtl="0" algn="l">
              <a:lnSpc>
                <a:spcPct val="115000"/>
              </a:lnSpc>
              <a:spcBef>
                <a:spcPts val="0"/>
              </a:spcBef>
              <a:spcAft>
                <a:spcPts val="0"/>
              </a:spcAft>
              <a:buSzPts val="1800"/>
              <a:buNone/>
            </a:pPr>
            <a:r>
              <a:rPr lang="sv" sz="1600"/>
              <a:t>Avsökningsområdet är smalare och kortare.</a:t>
            </a:r>
            <a:endParaRPr sz="1600"/>
          </a:p>
        </p:txBody>
      </p:sp>
      <p:pic>
        <p:nvPicPr>
          <p:cNvPr id="733" name="Google Shape;733;p83"/>
          <p:cNvPicPr preferRelativeResize="0"/>
          <p:nvPr/>
        </p:nvPicPr>
        <p:blipFill rotWithShape="1">
          <a:blip r:embed="rId3">
            <a:alphaModFix/>
          </a:blip>
          <a:srcRect b="0" l="0" r="0" t="0"/>
          <a:stretch/>
        </p:blipFill>
        <p:spPr>
          <a:xfrm>
            <a:off x="2309700" y="815100"/>
            <a:ext cx="4524601" cy="2202252"/>
          </a:xfrm>
          <a:prstGeom prst="rect">
            <a:avLst/>
          </a:prstGeom>
          <a:noFill/>
          <a:ln>
            <a:noFill/>
          </a:ln>
        </p:spPr>
      </p:pic>
      <p:sp>
        <p:nvSpPr>
          <p:cNvPr id="734" name="Google Shape;734;p83"/>
          <p:cNvSpPr txBox="1"/>
          <p:nvPr>
            <p:ph idx="1" type="body"/>
          </p:nvPr>
        </p:nvSpPr>
        <p:spPr>
          <a:xfrm>
            <a:off x="773850" y="2897325"/>
            <a:ext cx="3736800" cy="5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2100"/>
              <a:t>Erfarna förare</a:t>
            </a:r>
            <a:endParaRPr/>
          </a:p>
        </p:txBody>
      </p:sp>
      <p:sp>
        <p:nvSpPr>
          <p:cNvPr id="735" name="Google Shape;735;p83"/>
          <p:cNvSpPr txBox="1"/>
          <p:nvPr>
            <p:ph idx="1" type="body"/>
          </p:nvPr>
        </p:nvSpPr>
        <p:spPr>
          <a:xfrm>
            <a:off x="4688425" y="2897325"/>
            <a:ext cx="4050000" cy="59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2100"/>
              <a:t>Oerfarna förare</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84"/>
          <p:cNvSpPr txBox="1"/>
          <p:nvPr>
            <p:ph idx="1" type="body"/>
          </p:nvPr>
        </p:nvSpPr>
        <p:spPr>
          <a:xfrm>
            <a:off x="77675" y="1291125"/>
            <a:ext cx="3420900" cy="7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600">
                <a:solidFill>
                  <a:schemeClr val="accent1"/>
                </a:solidFill>
              </a:rPr>
              <a:t>Synen står för 90 % av vår information i körningen</a:t>
            </a:r>
            <a:endParaRPr sz="1600">
              <a:solidFill>
                <a:schemeClr val="accent1"/>
              </a:solidFill>
            </a:endParaRPr>
          </a:p>
        </p:txBody>
      </p:sp>
      <p:sp>
        <p:nvSpPr>
          <p:cNvPr id="741" name="Google Shape;741;p84"/>
          <p:cNvSpPr txBox="1"/>
          <p:nvPr>
            <p:ph idx="1" type="body"/>
          </p:nvPr>
        </p:nvSpPr>
        <p:spPr>
          <a:xfrm>
            <a:off x="77675" y="1989100"/>
            <a:ext cx="3006900" cy="7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600"/>
              <a:t>Blicken styr körningen – skotern följer dit du tittar</a:t>
            </a:r>
            <a:endParaRPr sz="1600"/>
          </a:p>
        </p:txBody>
      </p:sp>
      <p:sp>
        <p:nvSpPr>
          <p:cNvPr id="742" name="Google Shape;742;p84"/>
          <p:cNvSpPr txBox="1"/>
          <p:nvPr>
            <p:ph type="title"/>
          </p:nvPr>
        </p:nvSpPr>
        <p:spPr>
          <a:xfrm>
            <a:off x="38850" y="780575"/>
            <a:ext cx="49569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11111"/>
              <a:buNone/>
            </a:pPr>
            <a:r>
              <a:rPr lang="sv"/>
              <a:t>Avsökningsområde &amp; synfält</a:t>
            </a:r>
            <a:endParaRPr/>
          </a:p>
        </p:txBody>
      </p:sp>
      <p:pic>
        <p:nvPicPr>
          <p:cNvPr id="743" name="Google Shape;743;p84" title="ChatGPT Image 30 okt. 2025 11_49_53.png"/>
          <p:cNvPicPr preferRelativeResize="0"/>
          <p:nvPr/>
        </p:nvPicPr>
        <p:blipFill rotWithShape="1">
          <a:blip r:embed="rId3">
            <a:alphaModFix/>
          </a:blip>
          <a:srcRect b="0" l="0" r="0" t="0"/>
          <a:stretch/>
        </p:blipFill>
        <p:spPr>
          <a:xfrm>
            <a:off x="4995750" y="929375"/>
            <a:ext cx="3843451" cy="3843451"/>
          </a:xfrm>
          <a:prstGeom prst="rect">
            <a:avLst/>
          </a:prstGeom>
          <a:noFill/>
          <a:ln>
            <a:noFill/>
          </a:ln>
        </p:spPr>
      </p:pic>
      <p:sp>
        <p:nvSpPr>
          <p:cNvPr id="744" name="Google Shape;744;p84"/>
          <p:cNvSpPr txBox="1"/>
          <p:nvPr>
            <p:ph idx="1" type="body"/>
          </p:nvPr>
        </p:nvSpPr>
        <p:spPr>
          <a:xfrm>
            <a:off x="77675" y="2670850"/>
            <a:ext cx="3325500" cy="7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600">
                <a:solidFill>
                  <a:schemeClr val="accent1"/>
                </a:solidFill>
              </a:rPr>
              <a:t>Använd hela synfältet (180°) och sök aktivt av risker.</a:t>
            </a:r>
            <a:endParaRPr sz="1600">
              <a:solidFill>
                <a:schemeClr val="accent1"/>
              </a:solidFill>
            </a:endParaRPr>
          </a:p>
        </p:txBody>
      </p:sp>
      <p:sp>
        <p:nvSpPr>
          <p:cNvPr id="745" name="Google Shape;745;p84"/>
          <p:cNvSpPr txBox="1"/>
          <p:nvPr>
            <p:ph idx="1" type="body"/>
          </p:nvPr>
        </p:nvSpPr>
        <p:spPr>
          <a:xfrm>
            <a:off x="38850" y="3383675"/>
            <a:ext cx="3636300" cy="7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600"/>
              <a:t>Lyft blicken, planera längre fram och undvik tunnelseende</a:t>
            </a:r>
            <a:endParaRPr sz="1600"/>
          </a:p>
        </p:txBody>
      </p:sp>
      <p:sp>
        <p:nvSpPr>
          <p:cNvPr id="746" name="Google Shape;746;p84"/>
          <p:cNvSpPr txBox="1"/>
          <p:nvPr/>
        </p:nvSpPr>
        <p:spPr>
          <a:xfrm>
            <a:off x="77675" y="4095725"/>
            <a:ext cx="3843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sv" sz="1600" u="none" cap="none" strike="noStrike">
                <a:solidFill>
                  <a:schemeClr val="accent1"/>
                </a:solidFill>
                <a:latin typeface="Arial"/>
                <a:ea typeface="Arial"/>
                <a:cs typeface="Arial"/>
                <a:sym typeface="Arial"/>
              </a:rPr>
              <a:t>Trötthet, alkohol och stress minskar synfältet och ökar riskerna</a:t>
            </a:r>
            <a:endParaRPr b="1" i="0" sz="16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p85" title="regler hänsyn 5 lavinfarlig terräng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p86" title="Lavinfilm kortversion 1080p">
            <a:hlinkClick r:id="rId3"/>
          </p:cNvPr>
          <p:cNvPicPr preferRelativeResize="0"/>
          <p:nvPr/>
        </p:nvPicPr>
        <p:blipFill rotWithShape="1">
          <a:blip r:embed="rId4">
            <a:alphaModFix/>
          </a:blip>
          <a:srcRect b="0" l="0" r="0" t="0"/>
          <a:stretch/>
        </p:blipFill>
        <p:spPr>
          <a:xfrm>
            <a:off x="0" y="0"/>
            <a:ext cx="9143989"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1000"/>
                                        <p:tgtEl>
                                          <p:spTgt spid="7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p87"/>
          <p:cNvPicPr preferRelativeResize="0"/>
          <p:nvPr/>
        </p:nvPicPr>
        <p:blipFill rotWithShape="1">
          <a:blip r:embed="rId3">
            <a:alphaModFix/>
          </a:blip>
          <a:srcRect b="0" l="0" r="0" t="0"/>
          <a:stretch/>
        </p:blipFill>
        <p:spPr>
          <a:xfrm>
            <a:off x="152400" y="756450"/>
            <a:ext cx="8839199" cy="3965363"/>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87070b612d_0_0"/>
          <p:cNvSpPr txBox="1"/>
          <p:nvPr>
            <p:ph type="title"/>
          </p:nvPr>
        </p:nvSpPr>
        <p:spPr>
          <a:xfrm>
            <a:off x="0" y="932975"/>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sv"/>
              <a:t>Lavinfilmer</a:t>
            </a:r>
            <a:endParaRPr/>
          </a:p>
        </p:txBody>
      </p:sp>
      <p:sp>
        <p:nvSpPr>
          <p:cNvPr id="767" name="Google Shape;767;g387070b612d_0_0"/>
          <p:cNvSpPr txBox="1"/>
          <p:nvPr/>
        </p:nvSpPr>
        <p:spPr>
          <a:xfrm>
            <a:off x="703375" y="164042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 u="sng">
                <a:solidFill>
                  <a:schemeClr val="hlink"/>
                </a:solidFill>
                <a:hlinkClick r:id="rId3"/>
              </a:rPr>
              <a:t>https://www.youtube.com/watch?v=a1V1oMAUsE8&amp;list=PL86xsQeQvuXpKefPDPtnjL3e4cgccM4dr&amp;index=2</a:t>
            </a:r>
            <a:r>
              <a:rPr lang="sv"/>
              <a:t> </a:t>
            </a:r>
            <a:endParaRPr/>
          </a:p>
        </p:txBody>
      </p:sp>
      <p:sp>
        <p:nvSpPr>
          <p:cNvPr id="768" name="Google Shape;768;g387070b612d_0_0"/>
          <p:cNvSpPr txBox="1"/>
          <p:nvPr/>
        </p:nvSpPr>
        <p:spPr>
          <a:xfrm>
            <a:off x="5301400" y="164042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 u="sng">
                <a:solidFill>
                  <a:schemeClr val="hlink"/>
                </a:solidFill>
                <a:hlinkClick r:id="rId4"/>
              </a:rPr>
              <a:t>https://www.youtube.com/watch?v=1GiAZgC_pew&amp;list=PL86xsQeQvuXpKefPDPtnjL3e4cgccM4dr&amp;index=3</a:t>
            </a:r>
            <a:r>
              <a:rPr lang="sv"/>
              <a:t>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id="773" name="Google Shape;773;p88"/>
          <p:cNvPicPr preferRelativeResize="0"/>
          <p:nvPr/>
        </p:nvPicPr>
        <p:blipFill rotWithShape="1">
          <a:blip r:embed="rId3">
            <a:alphaModFix/>
          </a:blip>
          <a:srcRect b="0" l="0" r="2865" t="0"/>
          <a:stretch/>
        </p:blipFill>
        <p:spPr>
          <a:xfrm>
            <a:off x="0" y="808500"/>
            <a:ext cx="9144000" cy="4242575"/>
          </a:xfrm>
          <a:prstGeom prst="rect">
            <a:avLst/>
          </a:prstGeom>
          <a:noFill/>
          <a:ln>
            <a:noFill/>
          </a:ln>
        </p:spPr>
      </p:pic>
      <p:pic>
        <p:nvPicPr>
          <p:cNvPr id="774" name="Google Shape;774;p88"/>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775" name="Google Shape;775;p88"/>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pic>
        <p:nvPicPr>
          <p:cNvPr id="780" name="Google Shape;780;p89"/>
          <p:cNvPicPr preferRelativeResize="0"/>
          <p:nvPr/>
        </p:nvPicPr>
        <p:blipFill rotWithShape="1">
          <a:blip r:embed="rId3">
            <a:alphaModFix/>
          </a:blip>
          <a:srcRect b="0" l="0" r="0" t="0"/>
          <a:stretch/>
        </p:blipFill>
        <p:spPr>
          <a:xfrm>
            <a:off x="0" y="4762750"/>
            <a:ext cx="9143999" cy="380750"/>
          </a:xfrm>
          <a:prstGeom prst="rect">
            <a:avLst/>
          </a:prstGeom>
          <a:noFill/>
          <a:ln>
            <a:noFill/>
          </a:ln>
        </p:spPr>
      </p:pic>
      <p:sp>
        <p:nvSpPr>
          <p:cNvPr id="781" name="Google Shape;781;p89"/>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pic>
        <p:nvPicPr>
          <p:cNvPr id="782" name="Google Shape;782;p89" title="istjocklek_snofed.png"/>
          <p:cNvPicPr preferRelativeResize="0"/>
          <p:nvPr/>
        </p:nvPicPr>
        <p:blipFill rotWithShape="1">
          <a:blip r:embed="rId4">
            <a:alphaModFix/>
          </a:blip>
          <a:srcRect b="0" l="0" r="0" t="0"/>
          <a:stretch/>
        </p:blipFill>
        <p:spPr>
          <a:xfrm>
            <a:off x="1628213" y="839775"/>
            <a:ext cx="5887571" cy="392297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p90"/>
          <p:cNvPicPr preferRelativeResize="0"/>
          <p:nvPr/>
        </p:nvPicPr>
        <p:blipFill rotWithShape="1">
          <a:blip r:embed="rId3">
            <a:alphaModFix/>
          </a:blip>
          <a:srcRect b="0" l="0" r="0" t="1931"/>
          <a:stretch/>
        </p:blipFill>
        <p:spPr>
          <a:xfrm>
            <a:off x="152400" y="843575"/>
            <a:ext cx="8839199" cy="39009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91"/>
          <p:cNvPicPr preferRelativeResize="0"/>
          <p:nvPr/>
        </p:nvPicPr>
        <p:blipFill rotWithShape="1">
          <a:blip r:embed="rId3">
            <a:alphaModFix/>
          </a:blip>
          <a:srcRect b="0" l="0" r="0" t="7825"/>
          <a:stretch/>
        </p:blipFill>
        <p:spPr>
          <a:xfrm>
            <a:off x="1640600" y="827700"/>
            <a:ext cx="5606499" cy="3900499"/>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pic>
        <p:nvPicPr>
          <p:cNvPr id="797" name="Google Shape;797;p92"/>
          <p:cNvPicPr preferRelativeResize="0"/>
          <p:nvPr/>
        </p:nvPicPr>
        <p:blipFill rotWithShape="1">
          <a:blip r:embed="rId3">
            <a:alphaModFix/>
          </a:blip>
          <a:srcRect b="0" l="0" r="0" t="0"/>
          <a:stretch/>
        </p:blipFill>
        <p:spPr>
          <a:xfrm>
            <a:off x="-166625" y="785700"/>
            <a:ext cx="9440874" cy="4254949"/>
          </a:xfrm>
          <a:prstGeom prst="rect">
            <a:avLst/>
          </a:prstGeom>
          <a:noFill/>
          <a:ln>
            <a:noFill/>
          </a:ln>
        </p:spPr>
      </p:pic>
      <p:pic>
        <p:nvPicPr>
          <p:cNvPr id="798" name="Google Shape;798;p92"/>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799" name="Google Shape;799;p92"/>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id="804" name="Google Shape;804;p93"/>
          <p:cNvPicPr preferRelativeResize="0"/>
          <p:nvPr/>
        </p:nvPicPr>
        <p:blipFill rotWithShape="1">
          <a:blip r:embed="rId3">
            <a:alphaModFix/>
          </a:blip>
          <a:srcRect b="0" l="0" r="0" t="0"/>
          <a:stretch/>
        </p:blipFill>
        <p:spPr>
          <a:xfrm>
            <a:off x="152400" y="798125"/>
            <a:ext cx="8839199" cy="395308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pic>
        <p:nvPicPr>
          <p:cNvPr id="809" name="Google Shape;809;p94" title="ChatGPT Image 30 okt. 2025 15_48_51.png"/>
          <p:cNvPicPr preferRelativeResize="0"/>
          <p:nvPr/>
        </p:nvPicPr>
        <p:blipFill rotWithShape="1">
          <a:blip r:embed="rId3">
            <a:alphaModFix/>
          </a:blip>
          <a:srcRect b="0" l="0" r="0" t="0"/>
          <a:stretch/>
        </p:blipFill>
        <p:spPr>
          <a:xfrm>
            <a:off x="0" y="-117250"/>
            <a:ext cx="9144000" cy="5445025"/>
          </a:xfrm>
          <a:prstGeom prst="rect">
            <a:avLst/>
          </a:prstGeom>
          <a:noFill/>
          <a:ln>
            <a:noFill/>
          </a:ln>
        </p:spPr>
      </p:pic>
      <p:pic>
        <p:nvPicPr>
          <p:cNvPr id="810" name="Google Shape;810;p94"/>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811" name="Google Shape;811;p94"/>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pic>
        <p:nvPicPr>
          <p:cNvPr id="812" name="Google Shape;812;p94" title="headder.png"/>
          <p:cNvPicPr preferRelativeResize="0"/>
          <p:nvPr/>
        </p:nvPicPr>
        <p:blipFill rotWithShape="1">
          <a:blip r:embed="rId5">
            <a:alphaModFix/>
          </a:blip>
          <a:srcRect b="0" l="0" r="0" t="0"/>
          <a:stretch/>
        </p:blipFill>
        <p:spPr>
          <a:xfrm>
            <a:off x="0" y="-53615"/>
            <a:ext cx="9144001" cy="79513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95"/>
          <p:cNvPicPr preferRelativeResize="0"/>
          <p:nvPr/>
        </p:nvPicPr>
        <p:blipFill rotWithShape="1">
          <a:blip r:embed="rId3">
            <a:alphaModFix/>
          </a:blip>
          <a:srcRect b="1720" l="0" r="0" t="3240"/>
          <a:stretch/>
        </p:blipFill>
        <p:spPr>
          <a:xfrm>
            <a:off x="152400" y="885250"/>
            <a:ext cx="8839199" cy="3780476"/>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1" name="Shape 821"/>
        <p:cNvGrpSpPr/>
        <p:nvPr/>
      </p:nvGrpSpPr>
      <p:grpSpPr>
        <a:xfrm>
          <a:off x="0" y="0"/>
          <a:ext cx="0" cy="0"/>
          <a:chOff x="0" y="0"/>
          <a:chExt cx="0" cy="0"/>
        </a:xfrm>
      </p:grpSpPr>
      <p:pic>
        <p:nvPicPr>
          <p:cNvPr id="822" name="Google Shape;822;p96"/>
          <p:cNvPicPr preferRelativeResize="0"/>
          <p:nvPr/>
        </p:nvPicPr>
        <p:blipFill rotWithShape="1">
          <a:blip r:embed="rId3">
            <a:alphaModFix/>
          </a:blip>
          <a:srcRect b="0" l="0" r="0" t="0"/>
          <a:stretch/>
        </p:blipFill>
        <p:spPr>
          <a:xfrm>
            <a:off x="0" y="4762750"/>
            <a:ext cx="9143999" cy="380750"/>
          </a:xfrm>
          <a:prstGeom prst="rect">
            <a:avLst/>
          </a:prstGeom>
          <a:noFill/>
          <a:ln>
            <a:noFill/>
          </a:ln>
        </p:spPr>
      </p:pic>
      <p:sp>
        <p:nvSpPr>
          <p:cNvPr id="823" name="Google Shape;823;p96"/>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pic>
        <p:nvPicPr>
          <p:cNvPr id="824" name="Google Shape;824;p96" title="ChatGPT Image 30 okt. 2025 15_39_43.png"/>
          <p:cNvPicPr preferRelativeResize="0"/>
          <p:nvPr/>
        </p:nvPicPr>
        <p:blipFill rotWithShape="1">
          <a:blip r:embed="rId4">
            <a:alphaModFix/>
          </a:blip>
          <a:srcRect b="0" l="0" r="0" t="0"/>
          <a:stretch/>
        </p:blipFill>
        <p:spPr>
          <a:xfrm>
            <a:off x="0" y="-1018328"/>
            <a:ext cx="9144000" cy="6161828"/>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id="829" name="Google Shape;829;p97"/>
          <p:cNvPicPr preferRelativeResize="0"/>
          <p:nvPr/>
        </p:nvPicPr>
        <p:blipFill rotWithShape="1">
          <a:blip r:embed="rId3">
            <a:alphaModFix/>
          </a:blip>
          <a:srcRect b="0" l="0" r="0" t="0"/>
          <a:stretch/>
        </p:blipFill>
        <p:spPr>
          <a:xfrm>
            <a:off x="6118848" y="868887"/>
            <a:ext cx="2983475" cy="3040625"/>
          </a:xfrm>
          <a:prstGeom prst="rect">
            <a:avLst/>
          </a:prstGeom>
          <a:noFill/>
          <a:ln>
            <a:noFill/>
          </a:ln>
        </p:spPr>
      </p:pic>
      <p:pic>
        <p:nvPicPr>
          <p:cNvPr id="830" name="Google Shape;830;p97"/>
          <p:cNvPicPr preferRelativeResize="0"/>
          <p:nvPr/>
        </p:nvPicPr>
        <p:blipFill rotWithShape="1">
          <a:blip r:embed="rId4">
            <a:alphaModFix/>
          </a:blip>
          <a:srcRect b="0" l="0" r="0" t="0"/>
          <a:stretch/>
        </p:blipFill>
        <p:spPr>
          <a:xfrm>
            <a:off x="3557300" y="855250"/>
            <a:ext cx="2651551" cy="1959501"/>
          </a:xfrm>
          <a:prstGeom prst="rect">
            <a:avLst/>
          </a:prstGeom>
          <a:noFill/>
          <a:ln>
            <a:noFill/>
          </a:ln>
        </p:spPr>
      </p:pic>
      <p:sp>
        <p:nvSpPr>
          <p:cNvPr id="831" name="Google Shape;831;p97"/>
          <p:cNvSpPr txBox="1"/>
          <p:nvPr/>
        </p:nvSpPr>
        <p:spPr>
          <a:xfrm>
            <a:off x="217000" y="3909500"/>
            <a:ext cx="3862200" cy="9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sv" sz="1600" u="none" cap="none" strike="noStrike">
                <a:solidFill>
                  <a:schemeClr val="dk2"/>
                </a:solidFill>
                <a:latin typeface="Arial"/>
                <a:ea typeface="Arial"/>
                <a:cs typeface="Arial"/>
                <a:sym typeface="Arial"/>
              </a:rPr>
              <a:t>En flytoverall eller ett flytunderställ kan också vara ett bra alternativ, om man kör och vistas mycket på isar.</a:t>
            </a:r>
            <a:endParaRPr b="0" i="0" sz="1600" u="none" cap="none" strike="noStrike">
              <a:solidFill>
                <a:schemeClr val="dk2"/>
              </a:solidFill>
              <a:latin typeface="Arial"/>
              <a:ea typeface="Arial"/>
              <a:cs typeface="Arial"/>
              <a:sym typeface="Arial"/>
            </a:endParaRPr>
          </a:p>
        </p:txBody>
      </p:sp>
      <p:sp>
        <p:nvSpPr>
          <p:cNvPr id="832" name="Google Shape;832;p97"/>
          <p:cNvSpPr txBox="1"/>
          <p:nvPr/>
        </p:nvSpPr>
        <p:spPr>
          <a:xfrm>
            <a:off x="3844375" y="2415225"/>
            <a:ext cx="1205700" cy="46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sv" sz="2000" u="none" cap="none" strike="noStrike">
                <a:solidFill>
                  <a:schemeClr val="dk2"/>
                </a:solidFill>
                <a:latin typeface="Arial"/>
                <a:ea typeface="Arial"/>
                <a:cs typeface="Arial"/>
                <a:sym typeface="Arial"/>
              </a:rPr>
              <a:t>Isdubbar</a:t>
            </a:r>
            <a:endParaRPr b="0" i="0" sz="2000" u="none" cap="none" strike="noStrike">
              <a:solidFill>
                <a:schemeClr val="dk2"/>
              </a:solidFill>
              <a:latin typeface="Arial"/>
              <a:ea typeface="Arial"/>
              <a:cs typeface="Arial"/>
              <a:sym typeface="Arial"/>
            </a:endParaRPr>
          </a:p>
        </p:txBody>
      </p:sp>
      <p:sp>
        <p:nvSpPr>
          <p:cNvPr id="833" name="Google Shape;833;p97"/>
          <p:cNvSpPr txBox="1"/>
          <p:nvPr/>
        </p:nvSpPr>
        <p:spPr>
          <a:xfrm>
            <a:off x="6281800" y="3704700"/>
            <a:ext cx="1892700" cy="46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sv" sz="2000" u="none" cap="none" strike="noStrike">
                <a:solidFill>
                  <a:schemeClr val="dk2"/>
                </a:solidFill>
                <a:latin typeface="Arial"/>
                <a:ea typeface="Arial"/>
                <a:cs typeface="Arial"/>
                <a:sym typeface="Arial"/>
              </a:rPr>
              <a:t>Räddningslina</a:t>
            </a:r>
            <a:endParaRPr b="0" i="0" sz="2000" u="none" cap="none" strike="noStrike">
              <a:solidFill>
                <a:schemeClr val="dk2"/>
              </a:solidFill>
              <a:latin typeface="Arial"/>
              <a:ea typeface="Arial"/>
              <a:cs typeface="Arial"/>
              <a:sym typeface="Arial"/>
            </a:endParaRPr>
          </a:p>
        </p:txBody>
      </p:sp>
      <p:pic>
        <p:nvPicPr>
          <p:cNvPr id="834" name="Google Shape;834;p97" title="ChatGPT Image 29 okt. 2025 21_38_07.png"/>
          <p:cNvPicPr preferRelativeResize="0"/>
          <p:nvPr/>
        </p:nvPicPr>
        <p:blipFill rotWithShape="1">
          <a:blip r:embed="rId5">
            <a:alphaModFix/>
          </a:blip>
          <a:srcRect b="0" l="0" r="0" t="0"/>
          <a:stretch/>
        </p:blipFill>
        <p:spPr>
          <a:xfrm>
            <a:off x="300025" y="855238"/>
            <a:ext cx="2475576" cy="30678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pic>
        <p:nvPicPr>
          <p:cNvPr id="839" name="Google Shape;839;p98" title="KÖRNING PÅ FRUSET VATTEN">
            <a:hlinkClick r:id="rId3"/>
          </p:cNvPr>
          <p:cNvPicPr preferRelativeResize="0"/>
          <p:nvPr/>
        </p:nvPicPr>
        <p:blipFill rotWithShape="1">
          <a:blip r:embed="rId4">
            <a:alphaModFix/>
          </a:blip>
          <a:srcRect b="0" l="0" r="0" t="0"/>
          <a:stretch/>
        </p:blipFill>
        <p:spPr>
          <a:xfrm>
            <a:off x="0" y="0"/>
            <a:ext cx="9144000" cy="521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1000"/>
                                        <p:tgtEl>
                                          <p:spTgt spid="8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pic>
        <p:nvPicPr>
          <p:cNvPr id="844" name="Google Shape;844;p99"/>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845" name="Google Shape;845;p9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sv"/>
              <a:t>STRAFF &amp; PÅFÖLJDER</a:t>
            </a:r>
            <a:endParaRPr/>
          </a:p>
        </p:txBody>
      </p:sp>
      <p:cxnSp>
        <p:nvCxnSpPr>
          <p:cNvPr id="846" name="Google Shape;846;p99"/>
          <p:cNvCxnSpPr/>
          <p:nvPr/>
        </p:nvCxnSpPr>
        <p:spPr>
          <a:xfrm>
            <a:off x="3134700" y="3012900"/>
            <a:ext cx="2874600" cy="0"/>
          </a:xfrm>
          <a:prstGeom prst="straightConnector1">
            <a:avLst/>
          </a:prstGeom>
          <a:noFill/>
          <a:ln cap="flat" cmpd="sng" w="19050">
            <a:solidFill>
              <a:srgbClr val="999999"/>
            </a:solidFill>
            <a:prstDash val="solid"/>
            <a:round/>
            <a:headEnd len="med" w="med" type="diamond"/>
            <a:tailEnd len="med" w="med" type="diamond"/>
          </a:ln>
        </p:spPr>
      </p:cxnSp>
      <p:sp>
        <p:nvSpPr>
          <p:cNvPr id="847" name="Google Shape;847;p99"/>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1" name="Shape 851"/>
        <p:cNvGrpSpPr/>
        <p:nvPr/>
      </p:nvGrpSpPr>
      <p:grpSpPr>
        <a:xfrm>
          <a:off x="0" y="0"/>
          <a:ext cx="0" cy="0"/>
          <a:chOff x="0" y="0"/>
          <a:chExt cx="0" cy="0"/>
        </a:xfrm>
      </p:grpSpPr>
      <p:pic>
        <p:nvPicPr>
          <p:cNvPr id="852" name="Google Shape;852;p100"/>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853" name="Google Shape;853;p100"/>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854" name="Google Shape;854;p100"/>
          <p:cNvSpPr txBox="1"/>
          <p:nvPr>
            <p:ph idx="1" type="body"/>
          </p:nvPr>
        </p:nvSpPr>
        <p:spPr>
          <a:xfrm>
            <a:off x="1083100" y="1650825"/>
            <a:ext cx="71340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Ge kunskap och förståelse för statsmaktens syn på och vikten av att stävja olika typer av brott i trafiken samt förstå hur olika försäkringar fungerar.</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8" name="Shape 858"/>
        <p:cNvGrpSpPr/>
        <p:nvPr/>
      </p:nvGrpSpPr>
      <p:grpSpPr>
        <a:xfrm>
          <a:off x="0" y="0"/>
          <a:ext cx="0" cy="0"/>
          <a:chOff x="0" y="0"/>
          <a:chExt cx="0" cy="0"/>
        </a:xfrm>
      </p:grpSpPr>
      <p:pic>
        <p:nvPicPr>
          <p:cNvPr id="859" name="Google Shape;859;p101"/>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860" name="Google Shape;860;p101"/>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Målet är uppnått när eleven kan redogöra för:</a:t>
            </a:r>
            <a:endParaRPr/>
          </a:p>
        </p:txBody>
      </p:sp>
      <p:sp>
        <p:nvSpPr>
          <p:cNvPr id="861" name="Google Shape;861;p101"/>
          <p:cNvSpPr txBox="1"/>
          <p:nvPr>
            <p:ph idx="1" type="body"/>
          </p:nvPr>
        </p:nvSpPr>
        <p:spPr>
          <a:xfrm>
            <a:off x="817875" y="1693900"/>
            <a:ext cx="5546700" cy="620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Straffbestämmelser, behörighet och försäkring.</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p102" title="Polisen lagar och regler 1080p">
            <a:hlinkClick r:id="rId3"/>
          </p:cNvPr>
          <p:cNvPicPr preferRelativeResize="0"/>
          <p:nvPr/>
        </p:nvPicPr>
        <p:blipFill rotWithShape="1">
          <a:blip r:embed="rId4">
            <a:alphaModFix/>
          </a:blip>
          <a:srcRect b="0" l="0" r="0" t="0"/>
          <a:stretch/>
        </p:blipFill>
        <p:spPr>
          <a:xfrm>
            <a:off x="0" y="0"/>
            <a:ext cx="9144000" cy="521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1000"/>
                                        <p:tgtEl>
                                          <p:spTgt spid="8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03"/>
          <p:cNvSpPr txBox="1"/>
          <p:nvPr>
            <p:ph type="title"/>
          </p:nvPr>
        </p:nvSpPr>
        <p:spPr>
          <a:xfrm>
            <a:off x="0" y="7805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Straffbestämmelser (exempel)</a:t>
            </a:r>
            <a:endParaRPr/>
          </a:p>
        </p:txBody>
      </p:sp>
      <p:sp>
        <p:nvSpPr>
          <p:cNvPr id="872" name="Google Shape;872;p103"/>
          <p:cNvSpPr txBox="1"/>
          <p:nvPr>
            <p:ph idx="1" type="body"/>
          </p:nvPr>
        </p:nvSpPr>
        <p:spPr>
          <a:xfrm>
            <a:off x="4325550" y="1353275"/>
            <a:ext cx="4190100" cy="3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688"/>
              <a:buNone/>
            </a:pPr>
            <a:r>
              <a:rPr lang="sv" sz="1825">
                <a:solidFill>
                  <a:srgbClr val="FF9900"/>
                </a:solidFill>
              </a:rPr>
              <a:t>Återkallande av körkort &amp; förarbevis</a:t>
            </a:r>
            <a:endParaRPr sz="1825">
              <a:solidFill>
                <a:srgbClr val="FF9900"/>
              </a:solidFill>
            </a:endParaRPr>
          </a:p>
        </p:txBody>
      </p:sp>
      <p:sp>
        <p:nvSpPr>
          <p:cNvPr id="873" name="Google Shape;873;p103"/>
          <p:cNvSpPr txBox="1"/>
          <p:nvPr>
            <p:ph idx="1" type="body"/>
          </p:nvPr>
        </p:nvSpPr>
        <p:spPr>
          <a:xfrm>
            <a:off x="4325550" y="2969075"/>
            <a:ext cx="2841300" cy="484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sv">
                <a:solidFill>
                  <a:srgbClr val="FF0000"/>
                </a:solidFill>
              </a:rPr>
              <a:t>Fängelse</a:t>
            </a:r>
            <a:endParaRPr>
              <a:solidFill>
                <a:srgbClr val="FF0000"/>
              </a:solidFill>
            </a:endParaRPr>
          </a:p>
        </p:txBody>
      </p:sp>
      <p:sp>
        <p:nvSpPr>
          <p:cNvPr id="874" name="Google Shape;874;p103"/>
          <p:cNvSpPr txBox="1"/>
          <p:nvPr>
            <p:ph idx="1" type="body"/>
          </p:nvPr>
        </p:nvSpPr>
        <p:spPr>
          <a:xfrm>
            <a:off x="292025" y="1353275"/>
            <a:ext cx="2544000" cy="484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sv">
                <a:solidFill>
                  <a:srgbClr val="6AA84F"/>
                </a:solidFill>
              </a:rPr>
              <a:t>Böter (1000-4000 kr)</a:t>
            </a:r>
            <a:endParaRPr>
              <a:solidFill>
                <a:srgbClr val="6AA84F"/>
              </a:solidFill>
            </a:endParaRPr>
          </a:p>
        </p:txBody>
      </p:sp>
      <p:sp>
        <p:nvSpPr>
          <p:cNvPr id="875" name="Google Shape;875;p103"/>
          <p:cNvSpPr txBox="1"/>
          <p:nvPr/>
        </p:nvSpPr>
        <p:spPr>
          <a:xfrm>
            <a:off x="175475" y="1759775"/>
            <a:ext cx="19380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Fortkörning</a:t>
            </a:r>
            <a:endParaRPr b="0" i="0" sz="2000" u="none" cap="none" strike="noStrike">
              <a:solidFill>
                <a:schemeClr val="dk2"/>
              </a:solidFill>
              <a:latin typeface="Arial"/>
              <a:ea typeface="Arial"/>
              <a:cs typeface="Arial"/>
              <a:sym typeface="Arial"/>
            </a:endParaRPr>
          </a:p>
        </p:txBody>
      </p:sp>
      <p:sp>
        <p:nvSpPr>
          <p:cNvPr id="876" name="Google Shape;876;p103"/>
          <p:cNvSpPr txBox="1"/>
          <p:nvPr/>
        </p:nvSpPr>
        <p:spPr>
          <a:xfrm>
            <a:off x="175475" y="2958875"/>
            <a:ext cx="42222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Ej stannat vid vägövergång</a:t>
            </a:r>
            <a:r>
              <a:rPr b="0" i="0" lang="sv" sz="1700" u="none" cap="none" strike="noStrike">
                <a:solidFill>
                  <a:schemeClr val="dk2"/>
                </a:solidFill>
                <a:latin typeface="Arial"/>
                <a:ea typeface="Arial"/>
                <a:cs typeface="Arial"/>
                <a:sym typeface="Arial"/>
              </a:rPr>
              <a:t> </a:t>
            </a:r>
            <a:r>
              <a:rPr b="1" i="0" lang="sv" sz="900" u="none" cap="none" strike="noStrike">
                <a:solidFill>
                  <a:srgbClr val="FF0000"/>
                </a:solidFill>
                <a:latin typeface="Arial"/>
                <a:ea typeface="Arial"/>
                <a:cs typeface="Arial"/>
                <a:sym typeface="Arial"/>
              </a:rPr>
              <a:t>2500 kr</a:t>
            </a:r>
            <a:endParaRPr b="1" i="0" sz="900" u="none" cap="none" strike="noStrike">
              <a:solidFill>
                <a:srgbClr val="FF0000"/>
              </a:solidFill>
              <a:latin typeface="Arial"/>
              <a:ea typeface="Arial"/>
              <a:cs typeface="Arial"/>
              <a:sym typeface="Arial"/>
            </a:endParaRPr>
          </a:p>
        </p:txBody>
      </p:sp>
      <p:sp>
        <p:nvSpPr>
          <p:cNvPr id="877" name="Google Shape;877;p103"/>
          <p:cNvSpPr txBox="1"/>
          <p:nvPr/>
        </p:nvSpPr>
        <p:spPr>
          <a:xfrm>
            <a:off x="175475" y="2562575"/>
            <a:ext cx="39036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Kört med avställt fordon </a:t>
            </a:r>
            <a:r>
              <a:rPr b="1" i="0" lang="sv" sz="900" u="none" cap="none" strike="noStrike">
                <a:solidFill>
                  <a:srgbClr val="FF0000"/>
                </a:solidFill>
                <a:latin typeface="Arial"/>
                <a:ea typeface="Arial"/>
                <a:cs typeface="Arial"/>
                <a:sym typeface="Arial"/>
              </a:rPr>
              <a:t>1200 kr</a:t>
            </a:r>
            <a:endParaRPr b="1" i="0" sz="900" u="none" cap="none" strike="noStrike">
              <a:solidFill>
                <a:srgbClr val="FF0000"/>
              </a:solidFill>
              <a:latin typeface="Arial"/>
              <a:ea typeface="Arial"/>
              <a:cs typeface="Arial"/>
              <a:sym typeface="Arial"/>
            </a:endParaRPr>
          </a:p>
        </p:txBody>
      </p:sp>
      <p:sp>
        <p:nvSpPr>
          <p:cNvPr id="878" name="Google Shape;878;p103"/>
          <p:cNvSpPr txBox="1"/>
          <p:nvPr/>
        </p:nvSpPr>
        <p:spPr>
          <a:xfrm>
            <a:off x="175475" y="2156075"/>
            <a:ext cx="33753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Avsaknad av hjälm </a:t>
            </a:r>
            <a:r>
              <a:rPr b="1" i="0" lang="sv" sz="900" u="none" cap="none" strike="noStrike">
                <a:solidFill>
                  <a:srgbClr val="FF0000"/>
                </a:solidFill>
                <a:latin typeface="Arial"/>
                <a:ea typeface="Arial"/>
                <a:cs typeface="Arial"/>
                <a:sym typeface="Arial"/>
              </a:rPr>
              <a:t>1500 kr</a:t>
            </a:r>
            <a:endParaRPr b="1" i="0" sz="900" u="none" cap="none" strike="noStrike">
              <a:solidFill>
                <a:srgbClr val="FF0000"/>
              </a:solidFill>
              <a:latin typeface="Arial"/>
              <a:ea typeface="Arial"/>
              <a:cs typeface="Arial"/>
              <a:sym typeface="Arial"/>
            </a:endParaRPr>
          </a:p>
        </p:txBody>
      </p:sp>
      <p:sp>
        <p:nvSpPr>
          <p:cNvPr id="879" name="Google Shape;879;p103"/>
          <p:cNvSpPr txBox="1"/>
          <p:nvPr/>
        </p:nvSpPr>
        <p:spPr>
          <a:xfrm>
            <a:off x="4242575" y="2562563"/>
            <a:ext cx="46227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Vårdslöshet i trafik som medför risk</a:t>
            </a:r>
            <a:endParaRPr b="0" i="0" sz="2000" u="none" cap="none" strike="noStrike">
              <a:solidFill>
                <a:schemeClr val="dk2"/>
              </a:solidFill>
              <a:latin typeface="Arial"/>
              <a:ea typeface="Arial"/>
              <a:cs typeface="Arial"/>
              <a:sym typeface="Arial"/>
            </a:endParaRPr>
          </a:p>
        </p:txBody>
      </p:sp>
      <p:sp>
        <p:nvSpPr>
          <p:cNvPr id="880" name="Google Shape;880;p103"/>
          <p:cNvSpPr txBox="1"/>
          <p:nvPr/>
        </p:nvSpPr>
        <p:spPr>
          <a:xfrm>
            <a:off x="4242575" y="2156075"/>
            <a:ext cx="29676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Ej stannat vid olycka</a:t>
            </a:r>
            <a:endParaRPr b="0" i="0" sz="2000" u="none" cap="none" strike="noStrike">
              <a:solidFill>
                <a:schemeClr val="dk2"/>
              </a:solidFill>
              <a:latin typeface="Arial"/>
              <a:ea typeface="Arial"/>
              <a:cs typeface="Arial"/>
              <a:sym typeface="Arial"/>
            </a:endParaRPr>
          </a:p>
        </p:txBody>
      </p:sp>
      <p:sp>
        <p:nvSpPr>
          <p:cNvPr id="881" name="Google Shape;881;p103"/>
          <p:cNvSpPr txBox="1"/>
          <p:nvPr/>
        </p:nvSpPr>
        <p:spPr>
          <a:xfrm>
            <a:off x="4242575" y="1713150"/>
            <a:ext cx="49014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Rattfylleri &gt; 0,2 ‰ men &lt; 1 ‰</a:t>
            </a:r>
            <a:endParaRPr b="0" i="0" sz="2000" u="none" cap="none" strike="noStrike">
              <a:solidFill>
                <a:schemeClr val="dk2"/>
              </a:solidFill>
              <a:latin typeface="Arial"/>
              <a:ea typeface="Arial"/>
              <a:cs typeface="Arial"/>
              <a:sym typeface="Arial"/>
            </a:endParaRPr>
          </a:p>
        </p:txBody>
      </p:sp>
      <p:sp>
        <p:nvSpPr>
          <p:cNvPr id="882" name="Google Shape;882;p103"/>
          <p:cNvSpPr txBox="1"/>
          <p:nvPr/>
        </p:nvSpPr>
        <p:spPr>
          <a:xfrm>
            <a:off x="4242575" y="3340850"/>
            <a:ext cx="32241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Grovt rattfylleri &gt; 1 ‰</a:t>
            </a:r>
            <a:endParaRPr b="0" i="0" sz="2000" u="none" cap="none" strike="noStrike">
              <a:solidFill>
                <a:schemeClr val="dk2"/>
              </a:solidFill>
              <a:latin typeface="Arial"/>
              <a:ea typeface="Arial"/>
              <a:cs typeface="Arial"/>
              <a:sym typeface="Arial"/>
            </a:endParaRPr>
          </a:p>
        </p:txBody>
      </p:sp>
      <p:sp>
        <p:nvSpPr>
          <p:cNvPr id="883" name="Google Shape;883;p103"/>
          <p:cNvSpPr txBox="1"/>
          <p:nvPr/>
        </p:nvSpPr>
        <p:spPr>
          <a:xfrm>
            <a:off x="4242575" y="3706050"/>
            <a:ext cx="32241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Grov vårdslöshet</a:t>
            </a:r>
            <a:endParaRPr b="0" i="0" sz="2000" u="none" cap="none" strike="noStrike">
              <a:solidFill>
                <a:schemeClr val="dk2"/>
              </a:solidFill>
              <a:latin typeface="Arial"/>
              <a:ea typeface="Arial"/>
              <a:cs typeface="Arial"/>
              <a:sym typeface="Arial"/>
            </a:endParaRPr>
          </a:p>
        </p:txBody>
      </p:sp>
      <p:sp>
        <p:nvSpPr>
          <p:cNvPr id="884" name="Google Shape;884;p103"/>
          <p:cNvSpPr txBox="1"/>
          <p:nvPr/>
        </p:nvSpPr>
        <p:spPr>
          <a:xfrm>
            <a:off x="4242575" y="4102350"/>
            <a:ext cx="3224100" cy="396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Smitning</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pic>
        <p:nvPicPr>
          <p:cNvPr id="889" name="Google Shape;889;p104"/>
          <p:cNvPicPr preferRelativeResize="0"/>
          <p:nvPr/>
        </p:nvPicPr>
        <p:blipFill rotWithShape="1">
          <a:blip r:embed="rId3">
            <a:alphaModFix/>
          </a:blip>
          <a:srcRect b="0" l="0" r="0" t="0"/>
          <a:stretch/>
        </p:blipFill>
        <p:spPr>
          <a:xfrm>
            <a:off x="6107025" y="1949851"/>
            <a:ext cx="2742600" cy="2252300"/>
          </a:xfrm>
          <a:prstGeom prst="rect">
            <a:avLst/>
          </a:prstGeom>
          <a:noFill/>
          <a:ln>
            <a:noFill/>
          </a:ln>
        </p:spPr>
      </p:pic>
      <p:sp>
        <p:nvSpPr>
          <p:cNvPr id="890" name="Google Shape;890;p104"/>
          <p:cNvSpPr txBox="1"/>
          <p:nvPr>
            <p:ph type="title"/>
          </p:nvPr>
        </p:nvSpPr>
        <p:spPr>
          <a:xfrm>
            <a:off x="0" y="80090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Skillnader mellan ordningsbot och dagsböter</a:t>
            </a:r>
            <a:endParaRPr/>
          </a:p>
        </p:txBody>
      </p:sp>
      <p:sp>
        <p:nvSpPr>
          <p:cNvPr id="891" name="Google Shape;891;p104"/>
          <p:cNvSpPr txBox="1"/>
          <p:nvPr>
            <p:ph idx="1" type="body"/>
          </p:nvPr>
        </p:nvSpPr>
        <p:spPr>
          <a:xfrm>
            <a:off x="214125" y="1319200"/>
            <a:ext cx="5892900" cy="35136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sv" sz="1525">
                <a:solidFill>
                  <a:srgbClr val="000000"/>
                </a:solidFill>
              </a:rPr>
              <a:t>ORDNINGSBOT</a:t>
            </a:r>
            <a:endParaRPr sz="1525">
              <a:solidFill>
                <a:srgbClr val="000000"/>
              </a:solidFill>
            </a:endParaRPr>
          </a:p>
          <a:p>
            <a:pPr indent="-325437" lvl="0" marL="457200" rtl="0" algn="l">
              <a:lnSpc>
                <a:spcPct val="105000"/>
              </a:lnSpc>
              <a:spcBef>
                <a:spcPts val="0"/>
              </a:spcBef>
              <a:spcAft>
                <a:spcPts val="0"/>
              </a:spcAft>
              <a:buClr>
                <a:srgbClr val="000000"/>
              </a:buClr>
              <a:buSzPts val="1525"/>
              <a:buChar char="-"/>
            </a:pPr>
            <a:r>
              <a:rPr lang="sv" sz="1525">
                <a:solidFill>
                  <a:srgbClr val="000000"/>
                </a:solidFill>
              </a:rPr>
              <a:t>Ett fast belopp som polisen kan skriva ut på plats.</a:t>
            </a:r>
            <a:br>
              <a:rPr lang="sv" sz="1525">
                <a:solidFill>
                  <a:srgbClr val="000000"/>
                </a:solidFill>
              </a:rPr>
            </a:br>
            <a:endParaRPr sz="1525">
              <a:solidFill>
                <a:srgbClr val="000000"/>
              </a:solidFill>
            </a:endParaRPr>
          </a:p>
          <a:p>
            <a:pPr indent="-325437" lvl="0" marL="457200" rtl="0" algn="l">
              <a:lnSpc>
                <a:spcPct val="105000"/>
              </a:lnSpc>
              <a:spcBef>
                <a:spcPts val="0"/>
              </a:spcBef>
              <a:spcAft>
                <a:spcPts val="0"/>
              </a:spcAft>
              <a:buSzPts val="1525"/>
              <a:buChar char="-"/>
            </a:pPr>
            <a:r>
              <a:rPr lang="sv" sz="1525">
                <a:solidFill>
                  <a:srgbClr val="000000"/>
                </a:solidFill>
              </a:rPr>
              <a:t>För enkla och klart reglerade trafikförseelser (</a:t>
            </a:r>
            <a:r>
              <a:rPr lang="sv" sz="1525">
                <a:solidFill>
                  <a:srgbClr val="000000"/>
                </a:solidFill>
                <a:uFill>
                  <a:noFill/>
                </a:uFill>
                <a:hlinkClick r:id="rId4">
                  <a:extLst>
                    <a:ext uri="{A12FA001-AC4F-418D-AE19-62706E023703}">
                      <ahyp:hlinkClr val="tx"/>
                    </a:ext>
                  </a:extLst>
                </a:hlinkClick>
              </a:rPr>
              <a:t>t.ex</a:t>
            </a:r>
            <a:r>
              <a:rPr lang="sv" sz="1525">
                <a:solidFill>
                  <a:srgbClr val="000000"/>
                </a:solidFill>
              </a:rPr>
              <a:t>. fortkörning, ej haft giltig behörighet med sig och avsaknad av hjälm.</a:t>
            </a:r>
            <a:br>
              <a:rPr lang="sv" sz="1525"/>
            </a:br>
            <a:endParaRPr sz="1525"/>
          </a:p>
          <a:p>
            <a:pPr indent="0" lvl="0" marL="0" rtl="0" algn="l">
              <a:lnSpc>
                <a:spcPct val="105000"/>
              </a:lnSpc>
              <a:spcBef>
                <a:spcPts val="0"/>
              </a:spcBef>
              <a:spcAft>
                <a:spcPts val="0"/>
              </a:spcAft>
              <a:buSzPts val="688"/>
              <a:buNone/>
            </a:pPr>
            <a:r>
              <a:rPr lang="sv" sz="1525">
                <a:solidFill>
                  <a:srgbClr val="333333"/>
                </a:solidFill>
              </a:rPr>
              <a:t>DAGSBÖTER </a:t>
            </a:r>
            <a:r>
              <a:rPr lang="sv" sz="1225">
                <a:solidFill>
                  <a:srgbClr val="333333"/>
                </a:solidFill>
              </a:rPr>
              <a:t>(Exempelvis olovlig körning)</a:t>
            </a:r>
            <a:endParaRPr sz="1225">
              <a:solidFill>
                <a:srgbClr val="333333"/>
              </a:solidFill>
            </a:endParaRPr>
          </a:p>
          <a:p>
            <a:pPr indent="-325437" lvl="0" marL="457200" rtl="0" algn="l">
              <a:lnSpc>
                <a:spcPct val="105000"/>
              </a:lnSpc>
              <a:spcBef>
                <a:spcPts val="0"/>
              </a:spcBef>
              <a:spcAft>
                <a:spcPts val="0"/>
              </a:spcAft>
              <a:buClr>
                <a:srgbClr val="333333"/>
              </a:buClr>
              <a:buSzPts val="1525"/>
              <a:buChar char="-"/>
            </a:pPr>
            <a:r>
              <a:rPr lang="sv" sz="1525">
                <a:solidFill>
                  <a:srgbClr val="333333"/>
                </a:solidFill>
              </a:rPr>
              <a:t>Bestäms av åklagare eller domstol - beloppet anpassas efter inkomst.</a:t>
            </a:r>
            <a:br>
              <a:rPr lang="sv" sz="1525">
                <a:solidFill>
                  <a:srgbClr val="333333"/>
                </a:solidFill>
              </a:rPr>
            </a:br>
            <a:endParaRPr sz="1525">
              <a:solidFill>
                <a:srgbClr val="FF0000"/>
              </a:solidFill>
            </a:endParaRPr>
          </a:p>
          <a:p>
            <a:pPr indent="-325437" lvl="0" marL="457200" rtl="0" algn="l">
              <a:lnSpc>
                <a:spcPct val="105000"/>
              </a:lnSpc>
              <a:spcBef>
                <a:spcPts val="0"/>
              </a:spcBef>
              <a:spcAft>
                <a:spcPts val="0"/>
              </a:spcAft>
              <a:buClr>
                <a:srgbClr val="000000"/>
              </a:buClr>
              <a:buSzPts val="1525"/>
              <a:buChar char="-"/>
            </a:pPr>
            <a:r>
              <a:rPr lang="sv" sz="1525">
                <a:solidFill>
                  <a:srgbClr val="333333"/>
                </a:solidFill>
              </a:rPr>
              <a:t>För brott som kräver utredning och inte täcks av ordningsbotskatalogen, ofta när det rör sig om lagbrott snarare än förseelser.</a:t>
            </a:r>
            <a:br>
              <a:rPr lang="sv" sz="1525">
                <a:solidFill>
                  <a:srgbClr val="FF0000"/>
                </a:solidFill>
              </a:rPr>
            </a:br>
            <a:endParaRPr sz="1525">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0" st="0"/>
                                            </p:txEl>
                                          </p:spTgt>
                                        </p:tgtEl>
                                        <p:attrNameLst>
                                          <p:attrName>style.visibility</p:attrName>
                                        </p:attrNameLst>
                                      </p:cBhvr>
                                      <p:to>
                                        <p:strVal val="visible"/>
                                      </p:to>
                                    </p:set>
                                    <p:animEffect filter="fade" transition="in">
                                      <p:cBhvr>
                                        <p:cTn dur="1000"/>
                                        <p:tgtEl>
                                          <p:spTgt spid="8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1" st="1"/>
                                            </p:txEl>
                                          </p:spTgt>
                                        </p:tgtEl>
                                        <p:attrNameLst>
                                          <p:attrName>style.visibility</p:attrName>
                                        </p:attrNameLst>
                                      </p:cBhvr>
                                      <p:to>
                                        <p:strVal val="visible"/>
                                      </p:to>
                                    </p:set>
                                    <p:animEffect filter="fade" transition="in">
                                      <p:cBhvr>
                                        <p:cTn dur="1000"/>
                                        <p:tgtEl>
                                          <p:spTgt spid="8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2" st="2"/>
                                            </p:txEl>
                                          </p:spTgt>
                                        </p:tgtEl>
                                        <p:attrNameLst>
                                          <p:attrName>style.visibility</p:attrName>
                                        </p:attrNameLst>
                                      </p:cBhvr>
                                      <p:to>
                                        <p:strVal val="visible"/>
                                      </p:to>
                                    </p:set>
                                    <p:animEffect filter="fade" transition="in">
                                      <p:cBhvr>
                                        <p:cTn dur="1000"/>
                                        <p:tgtEl>
                                          <p:spTgt spid="8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3" st="3"/>
                                            </p:txEl>
                                          </p:spTgt>
                                        </p:tgtEl>
                                        <p:attrNameLst>
                                          <p:attrName>style.visibility</p:attrName>
                                        </p:attrNameLst>
                                      </p:cBhvr>
                                      <p:to>
                                        <p:strVal val="visible"/>
                                      </p:to>
                                    </p:set>
                                    <p:animEffect filter="fade" transition="in">
                                      <p:cBhvr>
                                        <p:cTn dur="1000"/>
                                        <p:tgtEl>
                                          <p:spTgt spid="8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4" st="4"/>
                                            </p:txEl>
                                          </p:spTgt>
                                        </p:tgtEl>
                                        <p:attrNameLst>
                                          <p:attrName>style.visibility</p:attrName>
                                        </p:attrNameLst>
                                      </p:cBhvr>
                                      <p:to>
                                        <p:strVal val="visible"/>
                                      </p:to>
                                    </p:set>
                                    <p:animEffect filter="fade" transition="in">
                                      <p:cBhvr>
                                        <p:cTn dur="1000"/>
                                        <p:tgtEl>
                                          <p:spTgt spid="8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5" st="5"/>
                                            </p:txEl>
                                          </p:spTgt>
                                        </p:tgtEl>
                                        <p:attrNameLst>
                                          <p:attrName>style.visibility</p:attrName>
                                        </p:attrNameLst>
                                      </p:cBhvr>
                                      <p:to>
                                        <p:strVal val="visible"/>
                                      </p:to>
                                    </p:set>
                                    <p:animEffect filter="fade" transition="in">
                                      <p:cBhvr>
                                        <p:cTn dur="1000"/>
                                        <p:tgtEl>
                                          <p:spTgt spid="89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p105"/>
          <p:cNvPicPr preferRelativeResize="0"/>
          <p:nvPr/>
        </p:nvPicPr>
        <p:blipFill rotWithShape="1">
          <a:blip r:embed="rId3">
            <a:alphaModFix amt="6000"/>
          </a:blip>
          <a:srcRect b="0" l="0" r="0" t="0"/>
          <a:stretch/>
        </p:blipFill>
        <p:spPr>
          <a:xfrm>
            <a:off x="0" y="680226"/>
            <a:ext cx="9143998" cy="4366998"/>
          </a:xfrm>
          <a:prstGeom prst="rect">
            <a:avLst/>
          </a:prstGeom>
          <a:noFill/>
          <a:ln>
            <a:noFill/>
          </a:ln>
        </p:spPr>
      </p:pic>
      <p:sp>
        <p:nvSpPr>
          <p:cNvPr id="897" name="Google Shape;897;p105"/>
          <p:cNvSpPr txBox="1"/>
          <p:nvPr>
            <p:ph type="title"/>
          </p:nvPr>
        </p:nvSpPr>
        <p:spPr>
          <a:xfrm>
            <a:off x="4311725" y="755075"/>
            <a:ext cx="29298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Behörighetskrav</a:t>
            </a:r>
            <a:endParaRPr/>
          </a:p>
        </p:txBody>
      </p:sp>
      <p:pic>
        <p:nvPicPr>
          <p:cNvPr id="898" name="Google Shape;898;p105"/>
          <p:cNvPicPr preferRelativeResize="0"/>
          <p:nvPr/>
        </p:nvPicPr>
        <p:blipFill rotWithShape="1">
          <a:blip r:embed="rId4">
            <a:alphaModFix/>
          </a:blip>
          <a:srcRect b="6549" l="35830" r="36981" t="8618"/>
          <a:stretch/>
        </p:blipFill>
        <p:spPr>
          <a:xfrm>
            <a:off x="549650" y="902650"/>
            <a:ext cx="2792477" cy="1754650"/>
          </a:xfrm>
          <a:prstGeom prst="rect">
            <a:avLst/>
          </a:prstGeom>
          <a:noFill/>
          <a:ln>
            <a:noFill/>
          </a:ln>
        </p:spPr>
      </p:pic>
      <p:sp>
        <p:nvSpPr>
          <p:cNvPr id="899" name="Google Shape;899;p105"/>
          <p:cNvSpPr txBox="1"/>
          <p:nvPr>
            <p:ph idx="1" type="body"/>
          </p:nvPr>
        </p:nvSpPr>
        <p:spPr>
          <a:xfrm>
            <a:off x="549650" y="2724725"/>
            <a:ext cx="7526100" cy="1995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600"/>
              </a:spcBef>
              <a:spcAft>
                <a:spcPts val="0"/>
              </a:spcAft>
              <a:buSzPts val="1700"/>
              <a:buChar char="➔"/>
            </a:pPr>
            <a:r>
              <a:rPr lang="sv" sz="1700">
                <a:highlight>
                  <a:srgbClr val="FFFFFF"/>
                </a:highlight>
              </a:rPr>
              <a:t>För att få köra snöskoter så ska du vara 16 år gammal och har antingen ett godkänt förarbevis för snöskoter, utfärdat efter 1/10 2009 eller ett godkänt förarbevis för terrängskoter som är utfärdat före 1/10 2009. </a:t>
            </a:r>
            <a:br>
              <a:rPr lang="sv" sz="1700">
                <a:highlight>
                  <a:srgbClr val="FFFFFF"/>
                </a:highlight>
              </a:rPr>
            </a:br>
            <a:endParaRPr sz="1700"/>
          </a:p>
          <a:p>
            <a:pPr indent="-336550" lvl="0" marL="457200" rtl="0" algn="l">
              <a:lnSpc>
                <a:spcPct val="115000"/>
              </a:lnSpc>
              <a:spcBef>
                <a:spcPts val="0"/>
              </a:spcBef>
              <a:spcAft>
                <a:spcPts val="0"/>
              </a:spcAft>
              <a:buClr>
                <a:schemeClr val="dk1"/>
              </a:buClr>
              <a:buSzPts val="1700"/>
              <a:buChar char="➔"/>
            </a:pPr>
            <a:r>
              <a:rPr lang="sv" sz="1700">
                <a:solidFill>
                  <a:schemeClr val="dk1"/>
                </a:solidFill>
                <a:highlight>
                  <a:srgbClr val="FFFFFF"/>
                </a:highlight>
              </a:rPr>
              <a:t>Du får även köra snöskoter om du har ett traktorkort eller körkort som är utfärdat första gången före 1/1 2000. </a:t>
            </a:r>
            <a:endParaRPr sz="1700">
              <a:solidFill>
                <a:schemeClr val="dk1"/>
              </a:solidFill>
            </a:endParaRPr>
          </a:p>
        </p:txBody>
      </p:sp>
      <p:sp>
        <p:nvSpPr>
          <p:cNvPr id="900" name="Google Shape;900;p105"/>
          <p:cNvSpPr txBox="1"/>
          <p:nvPr/>
        </p:nvSpPr>
        <p:spPr>
          <a:xfrm>
            <a:off x="3862375" y="1327775"/>
            <a:ext cx="4159800" cy="12234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Arial"/>
              <a:buChar char="➔"/>
            </a:pPr>
            <a:r>
              <a:rPr b="1" i="0" lang="sv" sz="1500" u="none" cap="none" strike="noStrike">
                <a:solidFill>
                  <a:schemeClr val="dk1"/>
                </a:solidFill>
                <a:highlight>
                  <a:srgbClr val="FFFFFF"/>
                </a:highlight>
                <a:latin typeface="Arial"/>
                <a:ea typeface="Arial"/>
                <a:cs typeface="Arial"/>
                <a:sym typeface="Arial"/>
              </a:rPr>
              <a:t>Ett körkort (oavsett behörighet) eller traktorkort utfärdat från 1/1 2000 ger rätt att köra snöskoter inom ramen för organiserad turistverksamhet (snöskotersafari). </a:t>
            </a:r>
            <a:endParaRPr b="1" i="0" sz="15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xEl>
                                              <p:pRg end="0" st="0"/>
                                            </p:txEl>
                                          </p:spTgt>
                                        </p:tgtEl>
                                        <p:attrNameLst>
                                          <p:attrName>style.visibility</p:attrName>
                                        </p:attrNameLst>
                                      </p:cBhvr>
                                      <p:to>
                                        <p:strVal val="visible"/>
                                      </p:to>
                                    </p:set>
                                    <p:animEffect filter="fade" transition="in">
                                      <p:cBhvr>
                                        <p:cTn dur="1000"/>
                                        <p:tgtEl>
                                          <p:spTgt spid="8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xEl>
                                              <p:pRg end="1" st="1"/>
                                            </p:txEl>
                                          </p:spTgt>
                                        </p:tgtEl>
                                        <p:attrNameLst>
                                          <p:attrName>style.visibility</p:attrName>
                                        </p:attrNameLst>
                                      </p:cBhvr>
                                      <p:to>
                                        <p:strVal val="visible"/>
                                      </p:to>
                                    </p:set>
                                    <p:animEffect filter="fade" transition="in">
                                      <p:cBhvr>
                                        <p:cTn dur="1000"/>
                                        <p:tgtEl>
                                          <p:spTgt spid="8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1000"/>
                                        <p:tgtEl>
                                          <p:spTgt spid="9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06"/>
          <p:cNvSpPr txBox="1"/>
          <p:nvPr>
            <p:ph type="title"/>
          </p:nvPr>
        </p:nvSpPr>
        <p:spPr>
          <a:xfrm>
            <a:off x="0" y="80465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Försäkring</a:t>
            </a:r>
            <a:endParaRPr/>
          </a:p>
        </p:txBody>
      </p:sp>
      <p:sp>
        <p:nvSpPr>
          <p:cNvPr id="906" name="Google Shape;906;p106"/>
          <p:cNvSpPr txBox="1"/>
          <p:nvPr>
            <p:ph idx="1" type="body"/>
          </p:nvPr>
        </p:nvSpPr>
        <p:spPr>
          <a:xfrm>
            <a:off x="703375" y="1640425"/>
            <a:ext cx="811800" cy="3022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2"/>
              </a:buClr>
              <a:buSzPts val="1800"/>
              <a:buChar char="➔"/>
            </a:pPr>
            <a:r>
              <a:rPr lang="sv">
                <a:solidFill>
                  <a:schemeClr val="lt2"/>
                </a:solidFill>
              </a:rPr>
              <a:t> </a:t>
            </a:r>
            <a:br>
              <a:rPr lang="sv">
                <a:solidFill>
                  <a:schemeClr val="lt2"/>
                </a:solidFill>
              </a:rPr>
            </a:br>
            <a:endParaRPr>
              <a:solidFill>
                <a:schemeClr val="lt2"/>
              </a:solidFill>
            </a:endParaRPr>
          </a:p>
          <a:p>
            <a:pPr indent="0" lvl="0" marL="457200" rtl="0" algn="l">
              <a:lnSpc>
                <a:spcPct val="115000"/>
              </a:lnSpc>
              <a:spcBef>
                <a:spcPts val="0"/>
              </a:spcBef>
              <a:spcAft>
                <a:spcPts val="0"/>
              </a:spcAft>
              <a:buSzPts val="1800"/>
              <a:buNone/>
            </a:pPr>
            <a:r>
              <a:t/>
            </a: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br>
              <a:rPr lang="sv">
                <a:solidFill>
                  <a:schemeClr val="lt2"/>
                </a:solidFill>
              </a:rPr>
            </a:br>
            <a:br>
              <a:rPr lang="sv">
                <a:solidFill>
                  <a:schemeClr val="lt2"/>
                </a:solidFill>
              </a:rPr>
            </a:br>
            <a:endParaRPr>
              <a:solidFill>
                <a:schemeClr val="lt2"/>
              </a:solidFill>
            </a:endParaRPr>
          </a:p>
          <a:p>
            <a:pPr indent="-342900" lvl="0" marL="457200" rtl="0" algn="l">
              <a:lnSpc>
                <a:spcPct val="115000"/>
              </a:lnSpc>
              <a:spcBef>
                <a:spcPts val="0"/>
              </a:spcBef>
              <a:spcAft>
                <a:spcPts val="0"/>
              </a:spcAft>
              <a:buClr>
                <a:schemeClr val="lt2"/>
              </a:buClr>
              <a:buSzPts val="1800"/>
              <a:buChar char="➔"/>
            </a:pPr>
            <a:r>
              <a:rPr lang="sv">
                <a:solidFill>
                  <a:schemeClr val="lt2"/>
                </a:solidFill>
              </a:rPr>
              <a:t> </a:t>
            </a:r>
            <a:endParaRPr>
              <a:solidFill>
                <a:schemeClr val="lt2"/>
              </a:solidFill>
            </a:endParaRPr>
          </a:p>
        </p:txBody>
      </p:sp>
      <p:sp>
        <p:nvSpPr>
          <p:cNvPr id="907" name="Google Shape;907;p106"/>
          <p:cNvSpPr txBox="1"/>
          <p:nvPr>
            <p:ph idx="1" type="body"/>
          </p:nvPr>
        </p:nvSpPr>
        <p:spPr>
          <a:xfrm>
            <a:off x="703375" y="1298225"/>
            <a:ext cx="8141400" cy="3022800"/>
          </a:xfrm>
          <a:prstGeom prst="rect">
            <a:avLst/>
          </a:prstGeom>
          <a:noFill/>
          <a:ln>
            <a:noFill/>
          </a:ln>
        </p:spPr>
        <p:txBody>
          <a:bodyPr anchorCtr="0" anchor="t" bIns="91425" lIns="91425" spcFirstLastPara="1" rIns="91425" wrap="square" tIns="91425">
            <a:normAutofit fontScale="77500" lnSpcReduction="20000"/>
          </a:bodyPr>
          <a:lstStyle/>
          <a:p>
            <a:pPr indent="-317182" lvl="0" marL="457200" rtl="0" algn="l">
              <a:lnSpc>
                <a:spcPct val="115000"/>
              </a:lnSpc>
              <a:spcBef>
                <a:spcPts val="0"/>
              </a:spcBef>
              <a:spcAft>
                <a:spcPts val="0"/>
              </a:spcAft>
              <a:buSzPct val="100000"/>
              <a:buChar char="➔"/>
            </a:pPr>
            <a:r>
              <a:rPr lang="sv"/>
              <a:t>Trafikförsäkring- obligatorisk, ersätter personskador samt sakskador du vållar med fordonet.</a:t>
            </a:r>
            <a:br>
              <a:rPr lang="sv"/>
            </a:br>
            <a:endParaRPr/>
          </a:p>
          <a:p>
            <a:pPr indent="-317182" lvl="0" marL="457200" rtl="0" algn="l">
              <a:lnSpc>
                <a:spcPct val="115000"/>
              </a:lnSpc>
              <a:spcBef>
                <a:spcPts val="0"/>
              </a:spcBef>
              <a:spcAft>
                <a:spcPts val="0"/>
              </a:spcAft>
              <a:buSzPct val="100000"/>
              <a:buChar char="➔"/>
            </a:pPr>
            <a:r>
              <a:rPr lang="sv"/>
              <a:t>Vad händer om du är oförsäkrad?</a:t>
            </a:r>
            <a:br>
              <a:rPr lang="sv"/>
            </a:br>
            <a:endParaRPr/>
          </a:p>
          <a:p>
            <a:pPr indent="-317182" lvl="0" marL="457200" rtl="0" algn="l">
              <a:lnSpc>
                <a:spcPct val="115000"/>
              </a:lnSpc>
              <a:spcBef>
                <a:spcPts val="0"/>
              </a:spcBef>
              <a:spcAft>
                <a:spcPts val="0"/>
              </a:spcAft>
              <a:buSzPct val="100000"/>
              <a:buChar char="➔"/>
            </a:pPr>
            <a:r>
              <a:rPr lang="sv"/>
              <a:t>Trafikförsäkringsföreningen (TFF) - Trafikförsäkringsavgift 56 kr/dag</a:t>
            </a:r>
            <a:br>
              <a:rPr lang="sv"/>
            </a:br>
            <a:endParaRPr/>
          </a:p>
          <a:p>
            <a:pPr indent="-317182" lvl="0" marL="457200" rtl="0" algn="l">
              <a:lnSpc>
                <a:spcPct val="115000"/>
              </a:lnSpc>
              <a:spcBef>
                <a:spcPts val="0"/>
              </a:spcBef>
              <a:spcAft>
                <a:spcPts val="0"/>
              </a:spcAft>
              <a:buSzPct val="100000"/>
              <a:buChar char="➔"/>
            </a:pPr>
            <a:r>
              <a:rPr lang="sv"/>
              <a:t>Du själv får stå för kostnaderna för motparten</a:t>
            </a:r>
            <a:endParaRPr/>
          </a:p>
          <a:p>
            <a:pPr indent="0" lvl="0" marL="457200" rtl="0" algn="l">
              <a:lnSpc>
                <a:spcPct val="115000"/>
              </a:lnSpc>
              <a:spcBef>
                <a:spcPts val="0"/>
              </a:spcBef>
              <a:spcAft>
                <a:spcPts val="0"/>
              </a:spcAft>
              <a:buSzPct val="129032"/>
              <a:buNone/>
            </a:pPr>
            <a:r>
              <a:t/>
            </a:r>
            <a:endParaRPr/>
          </a:p>
          <a:p>
            <a:pPr indent="-317182" lvl="0" marL="457200" rtl="0" algn="l">
              <a:lnSpc>
                <a:spcPct val="115000"/>
              </a:lnSpc>
              <a:spcBef>
                <a:spcPts val="0"/>
              </a:spcBef>
              <a:spcAft>
                <a:spcPts val="0"/>
              </a:spcAft>
              <a:buSzPct val="100000"/>
              <a:buChar char="➔"/>
            </a:pPr>
            <a:r>
              <a:rPr lang="sv"/>
              <a:t>Halvförsäkring- innehåller trafik-, stöld-, brand-, glas-, maskin-, räddnings- och rättsskyddsförsäkring.</a:t>
            </a:r>
            <a:endParaRPr/>
          </a:p>
          <a:p>
            <a:pPr indent="0" lvl="0" marL="457200" rtl="0" algn="l">
              <a:lnSpc>
                <a:spcPct val="115000"/>
              </a:lnSpc>
              <a:spcBef>
                <a:spcPts val="0"/>
              </a:spcBef>
              <a:spcAft>
                <a:spcPts val="0"/>
              </a:spcAft>
              <a:buSzPct val="129032"/>
              <a:buNone/>
            </a:pPr>
            <a:r>
              <a:t/>
            </a:r>
            <a:endParaRPr/>
          </a:p>
          <a:p>
            <a:pPr indent="-317182" lvl="0" marL="457200" rtl="0" algn="l">
              <a:lnSpc>
                <a:spcPct val="115000"/>
              </a:lnSpc>
              <a:spcBef>
                <a:spcPts val="0"/>
              </a:spcBef>
              <a:spcAft>
                <a:spcPts val="0"/>
              </a:spcAft>
              <a:buSzPct val="100000"/>
              <a:buChar char="➔"/>
            </a:pPr>
            <a:r>
              <a:rPr lang="sv"/>
              <a:t>Helförsäkring- består av halvförsäkring samt vagnskadeförsäkring.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0" st="0"/>
                                            </p:txEl>
                                          </p:spTgt>
                                        </p:tgtEl>
                                        <p:attrNameLst>
                                          <p:attrName>style.visibility</p:attrName>
                                        </p:attrNameLst>
                                      </p:cBhvr>
                                      <p:to>
                                        <p:strVal val="visible"/>
                                      </p:to>
                                    </p:set>
                                    <p:animEffect filter="fade" transition="in">
                                      <p:cBhvr>
                                        <p:cTn dur="1000"/>
                                        <p:tgtEl>
                                          <p:spTgt spid="9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1" st="1"/>
                                            </p:txEl>
                                          </p:spTgt>
                                        </p:tgtEl>
                                        <p:attrNameLst>
                                          <p:attrName>style.visibility</p:attrName>
                                        </p:attrNameLst>
                                      </p:cBhvr>
                                      <p:to>
                                        <p:strVal val="visible"/>
                                      </p:to>
                                    </p:set>
                                    <p:animEffect filter="fade" transition="in">
                                      <p:cBhvr>
                                        <p:cTn dur="1000"/>
                                        <p:tgtEl>
                                          <p:spTgt spid="9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2" st="2"/>
                                            </p:txEl>
                                          </p:spTgt>
                                        </p:tgtEl>
                                        <p:attrNameLst>
                                          <p:attrName>style.visibility</p:attrName>
                                        </p:attrNameLst>
                                      </p:cBhvr>
                                      <p:to>
                                        <p:strVal val="visible"/>
                                      </p:to>
                                    </p:set>
                                    <p:animEffect filter="fade" transition="in">
                                      <p:cBhvr>
                                        <p:cTn dur="1000"/>
                                        <p:tgtEl>
                                          <p:spTgt spid="9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3" st="3"/>
                                            </p:txEl>
                                          </p:spTgt>
                                        </p:tgtEl>
                                        <p:attrNameLst>
                                          <p:attrName>style.visibility</p:attrName>
                                        </p:attrNameLst>
                                      </p:cBhvr>
                                      <p:to>
                                        <p:strVal val="visible"/>
                                      </p:to>
                                    </p:set>
                                    <p:animEffect filter="fade" transition="in">
                                      <p:cBhvr>
                                        <p:cTn dur="1000"/>
                                        <p:tgtEl>
                                          <p:spTgt spid="9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4" st="4"/>
                                            </p:txEl>
                                          </p:spTgt>
                                        </p:tgtEl>
                                        <p:attrNameLst>
                                          <p:attrName>style.visibility</p:attrName>
                                        </p:attrNameLst>
                                      </p:cBhvr>
                                      <p:to>
                                        <p:strVal val="visible"/>
                                      </p:to>
                                    </p:set>
                                    <p:animEffect filter="fade" transition="in">
                                      <p:cBhvr>
                                        <p:cTn dur="1000"/>
                                        <p:tgtEl>
                                          <p:spTgt spid="9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5" st="5"/>
                                            </p:txEl>
                                          </p:spTgt>
                                        </p:tgtEl>
                                        <p:attrNameLst>
                                          <p:attrName>style.visibility</p:attrName>
                                        </p:attrNameLst>
                                      </p:cBhvr>
                                      <p:to>
                                        <p:strVal val="visible"/>
                                      </p:to>
                                    </p:set>
                                    <p:animEffect filter="fade" transition="in">
                                      <p:cBhvr>
                                        <p:cTn dur="1000"/>
                                        <p:tgtEl>
                                          <p:spTgt spid="9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6" st="6"/>
                                            </p:txEl>
                                          </p:spTgt>
                                        </p:tgtEl>
                                        <p:attrNameLst>
                                          <p:attrName>style.visibility</p:attrName>
                                        </p:attrNameLst>
                                      </p:cBhvr>
                                      <p:to>
                                        <p:strVal val="visible"/>
                                      </p:to>
                                    </p:set>
                                    <p:animEffect filter="fade" transition="in">
                                      <p:cBhvr>
                                        <p:cTn dur="1000"/>
                                        <p:tgtEl>
                                          <p:spTgt spid="9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7" st="7"/>
                                            </p:txEl>
                                          </p:spTgt>
                                        </p:tgtEl>
                                        <p:attrNameLst>
                                          <p:attrName>style.visibility</p:attrName>
                                        </p:attrNameLst>
                                      </p:cBhvr>
                                      <p:to>
                                        <p:strVal val="visible"/>
                                      </p:to>
                                    </p:set>
                                    <p:animEffect filter="fade" transition="in">
                                      <p:cBhvr>
                                        <p:cTn dur="1000"/>
                                        <p:tgtEl>
                                          <p:spTgt spid="90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pic>
        <p:nvPicPr>
          <p:cNvPr id="912" name="Google Shape;912;p107"/>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913" name="Google Shape;913;p10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sv"/>
              <a:t>PRIMÄRA ÅTGÄRDER VID SNÖSKOTEROLYCKA</a:t>
            </a:r>
            <a:endParaRPr/>
          </a:p>
        </p:txBody>
      </p:sp>
      <p:cxnSp>
        <p:nvCxnSpPr>
          <p:cNvPr id="914" name="Google Shape;914;p107"/>
          <p:cNvCxnSpPr/>
          <p:nvPr/>
        </p:nvCxnSpPr>
        <p:spPr>
          <a:xfrm>
            <a:off x="1530950" y="3012900"/>
            <a:ext cx="6071700" cy="0"/>
          </a:xfrm>
          <a:prstGeom prst="straightConnector1">
            <a:avLst/>
          </a:prstGeom>
          <a:noFill/>
          <a:ln cap="flat" cmpd="sng" w="19050">
            <a:solidFill>
              <a:srgbClr val="999999"/>
            </a:solidFill>
            <a:prstDash val="solid"/>
            <a:round/>
            <a:headEnd len="med" w="med" type="diamond"/>
            <a:tailEnd len="med" w="med" type="diamond"/>
          </a:ln>
        </p:spPr>
      </p:cxnSp>
      <p:sp>
        <p:nvSpPr>
          <p:cNvPr id="915" name="Google Shape;915;p107"/>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9" name="Shape 919"/>
        <p:cNvGrpSpPr/>
        <p:nvPr/>
      </p:nvGrpSpPr>
      <p:grpSpPr>
        <a:xfrm>
          <a:off x="0" y="0"/>
          <a:ext cx="0" cy="0"/>
          <a:chOff x="0" y="0"/>
          <a:chExt cx="0" cy="0"/>
        </a:xfrm>
      </p:grpSpPr>
      <p:pic>
        <p:nvPicPr>
          <p:cNvPr id="920" name="Google Shape;920;p108"/>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921" name="Google Shape;921;p108"/>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922" name="Google Shape;922;p108"/>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Ge kunskap om skyldigheter, åligganden och åtgärder i samband med trafikolycka.</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6" name="Shape 926"/>
        <p:cNvGrpSpPr/>
        <p:nvPr/>
      </p:nvGrpSpPr>
      <p:grpSpPr>
        <a:xfrm>
          <a:off x="0" y="0"/>
          <a:ext cx="0" cy="0"/>
          <a:chOff x="0" y="0"/>
          <a:chExt cx="0" cy="0"/>
        </a:xfrm>
      </p:grpSpPr>
      <p:pic>
        <p:nvPicPr>
          <p:cNvPr id="927" name="Google Shape;927;p109"/>
          <p:cNvPicPr preferRelativeResize="0"/>
          <p:nvPr/>
        </p:nvPicPr>
        <p:blipFill rotWithShape="1">
          <a:blip r:embed="rId3">
            <a:alphaModFix amt="6000"/>
          </a:blip>
          <a:srcRect b="-699" l="0" r="0" t="11005"/>
          <a:stretch/>
        </p:blipFill>
        <p:spPr>
          <a:xfrm>
            <a:off x="0" y="714375"/>
            <a:ext cx="9144003" cy="4581526"/>
          </a:xfrm>
          <a:prstGeom prst="rect">
            <a:avLst/>
          </a:prstGeom>
          <a:noFill/>
          <a:ln>
            <a:noFill/>
          </a:ln>
        </p:spPr>
      </p:pic>
      <p:sp>
        <p:nvSpPr>
          <p:cNvPr id="928" name="Google Shape;928;p109"/>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Målet är uppnått när eleven kan redogöra för:</a:t>
            </a:r>
            <a:endParaRPr/>
          </a:p>
        </p:txBody>
      </p:sp>
      <p:sp>
        <p:nvSpPr>
          <p:cNvPr id="929" name="Google Shape;929;p109"/>
          <p:cNvSpPr txBox="1"/>
          <p:nvPr>
            <p:ph idx="1" type="body"/>
          </p:nvPr>
        </p:nvSpPr>
        <p:spPr>
          <a:xfrm>
            <a:off x="831700" y="1619050"/>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vilka skyldigheter vi har, åligganden och åtgärder genom första hjälpen, samt har vetskap om de vanligaste olyckstyperna enligt tillgänglig statistik från Trafikverket.</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pic>
        <p:nvPicPr>
          <p:cNvPr id="934" name="Google Shape;934;p110"/>
          <p:cNvPicPr preferRelativeResize="0"/>
          <p:nvPr/>
        </p:nvPicPr>
        <p:blipFill rotWithShape="1">
          <a:blip r:embed="rId3">
            <a:alphaModFix amt="6000"/>
          </a:blip>
          <a:srcRect b="-699" l="0" r="0" t="11005"/>
          <a:stretch/>
        </p:blipFill>
        <p:spPr>
          <a:xfrm>
            <a:off x="0" y="671600"/>
            <a:ext cx="9144003" cy="4581526"/>
          </a:xfrm>
          <a:prstGeom prst="rect">
            <a:avLst/>
          </a:prstGeom>
          <a:noFill/>
          <a:ln>
            <a:noFill/>
          </a:ln>
        </p:spPr>
      </p:pic>
      <p:sp>
        <p:nvSpPr>
          <p:cNvPr id="935" name="Google Shape;935;p110"/>
          <p:cNvSpPr txBox="1"/>
          <p:nvPr>
            <p:ph type="title"/>
          </p:nvPr>
        </p:nvSpPr>
        <p:spPr>
          <a:xfrm>
            <a:off x="192475" y="932975"/>
            <a:ext cx="9144000" cy="953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Vilka är de vanligaste olyckorna med snöskoter?</a:t>
            </a:r>
            <a:br>
              <a:rPr lang="sv"/>
            </a:br>
            <a:r>
              <a:rPr lang="sv"/>
              <a:t>Perioden 2012-07-01 – 2022-06-30</a:t>
            </a:r>
            <a:endParaRPr/>
          </a:p>
        </p:txBody>
      </p:sp>
      <p:sp>
        <p:nvSpPr>
          <p:cNvPr id="936" name="Google Shape;936;p110"/>
          <p:cNvSpPr txBox="1"/>
          <p:nvPr>
            <p:ph idx="1" type="body"/>
          </p:nvPr>
        </p:nvSpPr>
        <p:spPr>
          <a:xfrm>
            <a:off x="192475" y="1886375"/>
            <a:ext cx="6600000" cy="4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688"/>
              <a:buNone/>
            </a:pPr>
            <a:r>
              <a:rPr lang="sv" sz="1525">
                <a:solidFill>
                  <a:schemeClr val="dk1"/>
                </a:solidFill>
              </a:rPr>
              <a:t>2184 olyckor med totalt 2296 personer inblandade varav 64 omkomna</a:t>
            </a:r>
            <a:endParaRPr sz="1525"/>
          </a:p>
        </p:txBody>
      </p:sp>
      <p:sp>
        <p:nvSpPr>
          <p:cNvPr id="937" name="Google Shape;937;p110"/>
          <p:cNvSpPr txBox="1"/>
          <p:nvPr>
            <p:ph idx="1" type="body"/>
          </p:nvPr>
        </p:nvSpPr>
        <p:spPr>
          <a:xfrm>
            <a:off x="192475" y="2335475"/>
            <a:ext cx="8877600" cy="241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De vanligaste händelseförloppen vid dödsolyckor och allvarliga olyckor:</a:t>
            </a:r>
            <a:endParaRPr/>
          </a:p>
        </p:txBody>
      </p:sp>
      <p:sp>
        <p:nvSpPr>
          <p:cNvPr id="938" name="Google Shape;938;p110"/>
          <p:cNvSpPr txBox="1"/>
          <p:nvPr/>
        </p:nvSpPr>
        <p:spPr>
          <a:xfrm>
            <a:off x="192475" y="2791200"/>
            <a:ext cx="38283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Krockat med fast föremål</a:t>
            </a:r>
            <a:endParaRPr b="1" i="0" sz="1500" u="none" cap="none" strike="noStrike">
              <a:solidFill>
                <a:schemeClr val="dk2"/>
              </a:solidFill>
              <a:latin typeface="Arial"/>
              <a:ea typeface="Arial"/>
              <a:cs typeface="Arial"/>
              <a:sym typeface="Arial"/>
            </a:endParaRPr>
          </a:p>
        </p:txBody>
      </p:sp>
      <p:sp>
        <p:nvSpPr>
          <p:cNvPr id="939" name="Google Shape;939;p110"/>
          <p:cNvSpPr txBox="1"/>
          <p:nvPr/>
        </p:nvSpPr>
        <p:spPr>
          <a:xfrm>
            <a:off x="192475" y="3133500"/>
            <a:ext cx="38283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Vält, voltat eller fått sladd</a:t>
            </a:r>
            <a:endParaRPr b="1" i="0" sz="1500" u="none" cap="none" strike="noStrike">
              <a:solidFill>
                <a:schemeClr val="dk2"/>
              </a:solidFill>
              <a:latin typeface="Arial"/>
              <a:ea typeface="Arial"/>
              <a:cs typeface="Arial"/>
              <a:sym typeface="Arial"/>
            </a:endParaRPr>
          </a:p>
        </p:txBody>
      </p:sp>
      <p:sp>
        <p:nvSpPr>
          <p:cNvPr id="940" name="Google Shape;940;p110"/>
          <p:cNvSpPr txBox="1"/>
          <p:nvPr/>
        </p:nvSpPr>
        <p:spPr>
          <a:xfrm>
            <a:off x="192475" y="3475800"/>
            <a:ext cx="38283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Bristande is och vak</a:t>
            </a:r>
            <a:endParaRPr b="1" i="0" sz="1500" u="none" cap="none" strike="noStrike">
              <a:solidFill>
                <a:schemeClr val="dk2"/>
              </a:solidFill>
              <a:latin typeface="Arial"/>
              <a:ea typeface="Arial"/>
              <a:cs typeface="Arial"/>
              <a:sym typeface="Arial"/>
            </a:endParaRPr>
          </a:p>
        </p:txBody>
      </p:sp>
      <p:sp>
        <p:nvSpPr>
          <p:cNvPr id="941" name="Google Shape;941;p110"/>
          <p:cNvSpPr txBox="1"/>
          <p:nvPr/>
        </p:nvSpPr>
        <p:spPr>
          <a:xfrm>
            <a:off x="192475" y="3818100"/>
            <a:ext cx="3828300" cy="60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Tappat kontroll efter att ha kör upp/ner i olika hinder</a:t>
            </a:r>
            <a:endParaRPr b="1" i="0" sz="1500" u="none" cap="none" strike="noStrike">
              <a:solidFill>
                <a:schemeClr val="dk2"/>
              </a:solidFill>
              <a:latin typeface="Arial"/>
              <a:ea typeface="Arial"/>
              <a:cs typeface="Arial"/>
              <a:sym typeface="Arial"/>
            </a:endParaRPr>
          </a:p>
        </p:txBody>
      </p:sp>
      <p:sp>
        <p:nvSpPr>
          <p:cNvPr id="942" name="Google Shape;942;p110"/>
          <p:cNvSpPr txBox="1"/>
          <p:nvPr/>
        </p:nvSpPr>
        <p:spPr>
          <a:xfrm>
            <a:off x="4341575" y="2791200"/>
            <a:ext cx="38283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Ramlat av snöskotern</a:t>
            </a:r>
            <a:endParaRPr b="1" i="0" sz="1500" u="none" cap="none" strike="noStrike">
              <a:solidFill>
                <a:schemeClr val="dk2"/>
              </a:solidFill>
              <a:latin typeface="Arial"/>
              <a:ea typeface="Arial"/>
              <a:cs typeface="Arial"/>
              <a:sym typeface="Arial"/>
            </a:endParaRPr>
          </a:p>
        </p:txBody>
      </p:sp>
      <p:sp>
        <p:nvSpPr>
          <p:cNvPr id="943" name="Google Shape;943;p110"/>
          <p:cNvSpPr txBox="1"/>
          <p:nvPr/>
        </p:nvSpPr>
        <p:spPr>
          <a:xfrm>
            <a:off x="4341575" y="3133500"/>
            <a:ext cx="43650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Krock med fordon </a:t>
            </a:r>
            <a:r>
              <a:rPr b="1" i="0" lang="sv" sz="1300" u="none" cap="none" strike="noStrike">
                <a:solidFill>
                  <a:schemeClr val="dk2"/>
                </a:solidFill>
                <a:latin typeface="Arial"/>
                <a:ea typeface="Arial"/>
                <a:cs typeface="Arial"/>
                <a:sym typeface="Arial"/>
              </a:rPr>
              <a:t>(snöskoter, bil, traktor eller tåg)</a:t>
            </a:r>
            <a:endParaRPr b="1" i="0" sz="1300" u="none" cap="none" strike="noStrike">
              <a:solidFill>
                <a:schemeClr val="dk2"/>
              </a:solidFill>
              <a:latin typeface="Arial"/>
              <a:ea typeface="Arial"/>
              <a:cs typeface="Arial"/>
              <a:sym typeface="Arial"/>
            </a:endParaRPr>
          </a:p>
        </p:txBody>
      </p:sp>
      <p:sp>
        <p:nvSpPr>
          <p:cNvPr id="944" name="Google Shape;944;p110"/>
          <p:cNvSpPr txBox="1"/>
          <p:nvPr/>
        </p:nvSpPr>
        <p:spPr>
          <a:xfrm>
            <a:off x="4341575" y="3475800"/>
            <a:ext cx="38283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Kört ner för brant, stup eller ravin</a:t>
            </a:r>
            <a:endParaRPr b="1" i="0" sz="1500" u="none" cap="none" strike="noStrike">
              <a:solidFill>
                <a:schemeClr val="dk2"/>
              </a:solidFill>
              <a:latin typeface="Arial"/>
              <a:ea typeface="Arial"/>
              <a:cs typeface="Arial"/>
              <a:sym typeface="Arial"/>
            </a:endParaRPr>
          </a:p>
        </p:txBody>
      </p:sp>
      <p:sp>
        <p:nvSpPr>
          <p:cNvPr id="945" name="Google Shape;945;p110"/>
          <p:cNvSpPr txBox="1"/>
          <p:nvPr/>
        </p:nvSpPr>
        <p:spPr>
          <a:xfrm>
            <a:off x="4341575" y="3818100"/>
            <a:ext cx="3828300" cy="3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sv" sz="1500" u="none" cap="none" strike="noStrike">
                <a:solidFill>
                  <a:schemeClr val="dk2"/>
                </a:solidFill>
                <a:latin typeface="Arial"/>
                <a:ea typeface="Arial"/>
                <a:cs typeface="Arial"/>
                <a:sym typeface="Arial"/>
              </a:rPr>
              <a:t>Misslyckade hopp</a:t>
            </a:r>
            <a:endParaRPr b="1" i="0" sz="15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11"/>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Vilka skyldigheter har man vid en trafikolycka?</a:t>
            </a:r>
            <a:endParaRPr/>
          </a:p>
        </p:txBody>
      </p:sp>
      <p:sp>
        <p:nvSpPr>
          <p:cNvPr id="951" name="Google Shape;951;p111"/>
          <p:cNvSpPr txBox="1"/>
          <p:nvPr>
            <p:ph idx="1" type="body"/>
          </p:nvPr>
        </p:nvSpPr>
        <p:spPr>
          <a:xfrm>
            <a:off x="246450" y="1757325"/>
            <a:ext cx="7358700" cy="11769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800"/>
              <a:buNone/>
            </a:pPr>
            <a:r>
              <a:rPr lang="sv" sz="2000">
                <a:solidFill>
                  <a:srgbClr val="202124"/>
                </a:solidFill>
                <a:highlight>
                  <a:srgbClr val="FFFFFF"/>
                </a:highlight>
              </a:rPr>
              <a:t>I </a:t>
            </a:r>
            <a:r>
              <a:rPr lang="sv" sz="2000">
                <a:solidFill>
                  <a:srgbClr val="202124"/>
                </a:solidFill>
                <a:highlight>
                  <a:schemeClr val="lt1"/>
                </a:highlight>
              </a:rPr>
              <a:t>2 kap 8 § Trafikförordningen </a:t>
            </a:r>
            <a:r>
              <a:rPr b="0" lang="sv" sz="2000">
                <a:solidFill>
                  <a:srgbClr val="202124"/>
                </a:solidFill>
                <a:highlight>
                  <a:srgbClr val="FFFFFF"/>
                </a:highlight>
              </a:rPr>
              <a:t>anges vilka skyldigheter du som trafikant har om du ”med eller utan egen skuld haft del i en trafikolycka”. </a:t>
            </a:r>
            <a:endParaRPr b="0" sz="2000">
              <a:solidFill>
                <a:srgbClr val="202124"/>
              </a:solidFill>
              <a:highlight>
                <a:srgbClr val="FFFFFF"/>
              </a:highlight>
            </a:endParaRPr>
          </a:p>
          <a:p>
            <a:pPr indent="0" lvl="0" marL="457200" rtl="0" algn="l">
              <a:lnSpc>
                <a:spcPct val="115000"/>
              </a:lnSpc>
              <a:spcBef>
                <a:spcPts val="0"/>
              </a:spcBef>
              <a:spcAft>
                <a:spcPts val="0"/>
              </a:spcAft>
              <a:buSzPts val="1800"/>
              <a:buNone/>
            </a:pPr>
            <a:r>
              <a:t/>
            </a:r>
            <a:endParaRPr sz="1700">
              <a:solidFill>
                <a:srgbClr val="202124"/>
              </a:solidFill>
              <a:highlight>
                <a:srgbClr val="FFFFFF"/>
              </a:highlight>
            </a:endParaRPr>
          </a:p>
          <a:p>
            <a:pPr indent="0" lvl="0" marL="457200" rtl="0" algn="l">
              <a:lnSpc>
                <a:spcPct val="115000"/>
              </a:lnSpc>
              <a:spcBef>
                <a:spcPts val="0"/>
              </a:spcBef>
              <a:spcAft>
                <a:spcPts val="0"/>
              </a:spcAft>
              <a:buSzPts val="1800"/>
              <a:buNone/>
            </a:pPr>
            <a:r>
              <a:t/>
            </a:r>
            <a:endParaRPr sz="2000"/>
          </a:p>
        </p:txBody>
      </p:sp>
      <p:sp>
        <p:nvSpPr>
          <p:cNvPr id="952" name="Google Shape;952;p111"/>
          <p:cNvSpPr txBox="1"/>
          <p:nvPr/>
        </p:nvSpPr>
        <p:spPr>
          <a:xfrm>
            <a:off x="579575" y="3106013"/>
            <a:ext cx="3881700" cy="470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Stanna kvar på platsen</a:t>
            </a:r>
            <a:endParaRPr b="1" i="0" sz="2000" u="none" cap="none" strike="noStrike">
              <a:solidFill>
                <a:schemeClr val="dk2"/>
              </a:solidFill>
              <a:latin typeface="Arial"/>
              <a:ea typeface="Arial"/>
              <a:cs typeface="Arial"/>
              <a:sym typeface="Arial"/>
            </a:endParaRPr>
          </a:p>
        </p:txBody>
      </p:sp>
      <p:sp>
        <p:nvSpPr>
          <p:cNvPr id="953" name="Google Shape;953;p111"/>
          <p:cNvSpPr txBox="1"/>
          <p:nvPr/>
        </p:nvSpPr>
        <p:spPr>
          <a:xfrm>
            <a:off x="579575" y="3576425"/>
            <a:ext cx="5111400" cy="470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Hjälpa skadade</a:t>
            </a:r>
            <a:r>
              <a:rPr b="0" i="0" lang="sv" sz="2000" u="none" cap="none" strike="noStrike">
                <a:solidFill>
                  <a:schemeClr val="dk2"/>
                </a:solidFill>
                <a:latin typeface="Arial"/>
                <a:ea typeface="Arial"/>
                <a:cs typeface="Arial"/>
                <a:sym typeface="Arial"/>
              </a:rPr>
              <a:t> efter bästa förmåga</a:t>
            </a:r>
            <a:endParaRPr b="0" i="0" sz="2000" u="none" cap="none" strike="noStrike">
              <a:solidFill>
                <a:schemeClr val="dk2"/>
              </a:solidFill>
              <a:latin typeface="Arial"/>
              <a:ea typeface="Arial"/>
              <a:cs typeface="Arial"/>
              <a:sym typeface="Arial"/>
            </a:endParaRPr>
          </a:p>
        </p:txBody>
      </p:sp>
      <p:sp>
        <p:nvSpPr>
          <p:cNvPr id="954" name="Google Shape;954;p111"/>
          <p:cNvSpPr txBox="1"/>
          <p:nvPr/>
        </p:nvSpPr>
        <p:spPr>
          <a:xfrm>
            <a:off x="579575" y="4046825"/>
            <a:ext cx="3272100" cy="470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Larma 112</a:t>
            </a:r>
            <a:r>
              <a:rPr b="0" i="0" lang="sv" sz="2000" u="none" cap="none" strike="noStrike">
                <a:solidFill>
                  <a:schemeClr val="dk2"/>
                </a:solidFill>
                <a:latin typeface="Arial"/>
                <a:ea typeface="Arial"/>
                <a:cs typeface="Arial"/>
                <a:sym typeface="Arial"/>
              </a:rPr>
              <a:t> vid behov</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1000"/>
                                        <p:tgtEl>
                                          <p:spTgt spid="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12"/>
          <p:cNvSpPr txBox="1"/>
          <p:nvPr>
            <p:ph type="title"/>
          </p:nvPr>
        </p:nvSpPr>
        <p:spPr>
          <a:xfrm>
            <a:off x="366300" y="831500"/>
            <a:ext cx="8411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Åligganden &amp; åtgärder</a:t>
            </a:r>
            <a:endParaRPr/>
          </a:p>
        </p:txBody>
      </p:sp>
      <p:sp>
        <p:nvSpPr>
          <p:cNvPr id="960" name="Google Shape;960;p112"/>
          <p:cNvSpPr txBox="1"/>
          <p:nvPr>
            <p:ph idx="1" type="body"/>
          </p:nvPr>
        </p:nvSpPr>
        <p:spPr>
          <a:xfrm>
            <a:off x="357100" y="1536249"/>
            <a:ext cx="8149200" cy="40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500"/>
          </a:p>
          <a:p>
            <a:pPr indent="0" lvl="0" marL="135149" rtl="0" algn="l">
              <a:lnSpc>
                <a:spcPct val="115000"/>
              </a:lnSpc>
              <a:spcBef>
                <a:spcPts val="0"/>
              </a:spcBef>
              <a:spcAft>
                <a:spcPts val="0"/>
              </a:spcAft>
              <a:buSzPts val="1500"/>
              <a:buNone/>
            </a:pPr>
            <a:r>
              <a:t/>
            </a:r>
            <a:endParaRPr sz="1500"/>
          </a:p>
        </p:txBody>
      </p:sp>
      <p:sp>
        <p:nvSpPr>
          <p:cNvPr id="961" name="Google Shape;961;p112"/>
          <p:cNvSpPr txBox="1"/>
          <p:nvPr>
            <p:ph idx="1" type="body"/>
          </p:nvPr>
        </p:nvSpPr>
        <p:spPr>
          <a:xfrm>
            <a:off x="242175" y="1592399"/>
            <a:ext cx="8149200" cy="4035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sv" sz="1700"/>
              <a:t>Handla snabbt, men lugnt </a:t>
            </a:r>
            <a:r>
              <a:rPr b="0" lang="sv" sz="1700"/>
              <a:t>- tveka inte att ingripa</a:t>
            </a:r>
            <a:endParaRPr b="0" sz="1700"/>
          </a:p>
          <a:p>
            <a:pPr indent="0" lvl="0" marL="135149" rtl="0" algn="l">
              <a:lnSpc>
                <a:spcPct val="115000"/>
              </a:lnSpc>
              <a:spcBef>
                <a:spcPts val="0"/>
              </a:spcBef>
              <a:spcAft>
                <a:spcPts val="0"/>
              </a:spcAft>
              <a:buSzPts val="1500"/>
              <a:buNone/>
            </a:pPr>
            <a:r>
              <a:t/>
            </a:r>
            <a:endParaRPr sz="1500"/>
          </a:p>
        </p:txBody>
      </p:sp>
      <p:sp>
        <p:nvSpPr>
          <p:cNvPr id="962" name="Google Shape;962;p112"/>
          <p:cNvSpPr txBox="1"/>
          <p:nvPr>
            <p:ph idx="1" type="body"/>
          </p:nvPr>
        </p:nvSpPr>
        <p:spPr>
          <a:xfrm>
            <a:off x="242175" y="2288401"/>
            <a:ext cx="8149200" cy="7539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sv" sz="1700"/>
              <a:t>Samarbeta med andra </a:t>
            </a:r>
            <a:r>
              <a:rPr b="0" lang="sv" sz="1700"/>
              <a:t>på plats</a:t>
            </a:r>
            <a:endParaRPr b="0" sz="1500"/>
          </a:p>
        </p:txBody>
      </p:sp>
      <p:sp>
        <p:nvSpPr>
          <p:cNvPr id="963" name="Google Shape;963;p112"/>
          <p:cNvSpPr txBox="1"/>
          <p:nvPr>
            <p:ph idx="1" type="body"/>
          </p:nvPr>
        </p:nvSpPr>
        <p:spPr>
          <a:xfrm>
            <a:off x="242175" y="2978151"/>
            <a:ext cx="8149200" cy="684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sv" sz="1700"/>
              <a:t>Skaffa en överblick </a:t>
            </a:r>
            <a:r>
              <a:rPr b="0" lang="sv" sz="1700"/>
              <a:t>över antalet skadade och skadornas allvarlighetsgrad</a:t>
            </a:r>
            <a:endParaRPr b="0" sz="1700"/>
          </a:p>
          <a:p>
            <a:pPr indent="0" lvl="0" marL="135149" rtl="0" algn="l">
              <a:lnSpc>
                <a:spcPct val="115000"/>
              </a:lnSpc>
              <a:spcBef>
                <a:spcPts val="0"/>
              </a:spcBef>
              <a:spcAft>
                <a:spcPts val="0"/>
              </a:spcAft>
              <a:buSzPts val="1500"/>
              <a:buNone/>
            </a:pPr>
            <a:r>
              <a:t/>
            </a:r>
            <a:endParaRPr sz="1500"/>
          </a:p>
        </p:txBody>
      </p:sp>
      <p:sp>
        <p:nvSpPr>
          <p:cNvPr id="964" name="Google Shape;964;p112"/>
          <p:cNvSpPr txBox="1"/>
          <p:nvPr>
            <p:ph idx="1" type="body"/>
          </p:nvPr>
        </p:nvSpPr>
        <p:spPr>
          <a:xfrm>
            <a:off x="242175" y="3662449"/>
            <a:ext cx="8149200" cy="4035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sv" sz="1700"/>
              <a:t>Flytta personer endast vid livsfara</a:t>
            </a:r>
            <a:endParaRPr sz="1700"/>
          </a:p>
          <a:p>
            <a:pPr indent="0" lvl="0" marL="135149" rtl="0" algn="l">
              <a:lnSpc>
                <a:spcPct val="115000"/>
              </a:lnSpc>
              <a:spcBef>
                <a:spcPts val="0"/>
              </a:spcBef>
              <a:spcAft>
                <a:spcPts val="0"/>
              </a:spcAft>
              <a:buSzPts val="1500"/>
              <a:buNone/>
            </a:pPr>
            <a:r>
              <a:t/>
            </a:r>
            <a:endParaRPr sz="1500"/>
          </a:p>
        </p:txBody>
      </p:sp>
      <p:sp>
        <p:nvSpPr>
          <p:cNvPr id="965" name="Google Shape;965;p112"/>
          <p:cNvSpPr txBox="1"/>
          <p:nvPr>
            <p:ph idx="1" type="body"/>
          </p:nvPr>
        </p:nvSpPr>
        <p:spPr>
          <a:xfrm>
            <a:off x="242175" y="4340049"/>
            <a:ext cx="8149200" cy="4035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sv" sz="1700"/>
              <a:t>Varna andra trafikanter</a:t>
            </a:r>
            <a:endParaRPr sz="1700"/>
          </a:p>
          <a:p>
            <a:pPr indent="0" lvl="0" marL="135149" rtl="0" algn="l">
              <a:lnSpc>
                <a:spcPct val="115000"/>
              </a:lnSpc>
              <a:spcBef>
                <a:spcPts val="0"/>
              </a:spcBef>
              <a:spcAft>
                <a:spcPts val="0"/>
              </a:spcAft>
              <a:buSzPts val="1500"/>
              <a:buNone/>
            </a:pPr>
            <a:r>
              <a:t/>
            </a:r>
            <a:endParaRPr sz="1500"/>
          </a:p>
        </p:txBody>
      </p:sp>
      <p:pic>
        <p:nvPicPr>
          <p:cNvPr id="966" name="Google Shape;966;p112"/>
          <p:cNvPicPr preferRelativeResize="0"/>
          <p:nvPr/>
        </p:nvPicPr>
        <p:blipFill rotWithShape="1">
          <a:blip r:embed="rId3">
            <a:alphaModFix/>
          </a:blip>
          <a:srcRect b="0" l="0" r="0" t="9231"/>
          <a:stretch/>
        </p:blipFill>
        <p:spPr>
          <a:xfrm>
            <a:off x="5720175" y="1019700"/>
            <a:ext cx="3181850" cy="10110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13"/>
          <p:cNvSpPr txBox="1"/>
          <p:nvPr>
            <p:ph type="title"/>
          </p:nvPr>
        </p:nvSpPr>
        <p:spPr>
          <a:xfrm>
            <a:off x="226000" y="826825"/>
            <a:ext cx="586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Åtgärder första hjälpen L-ABCDE</a:t>
            </a:r>
            <a:endParaRPr/>
          </a:p>
        </p:txBody>
      </p:sp>
      <p:sp>
        <p:nvSpPr>
          <p:cNvPr id="972" name="Google Shape;972;p113"/>
          <p:cNvSpPr txBox="1"/>
          <p:nvPr>
            <p:ph idx="1" type="body"/>
          </p:nvPr>
        </p:nvSpPr>
        <p:spPr>
          <a:xfrm>
            <a:off x="357100" y="1536249"/>
            <a:ext cx="8149200" cy="40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500"/>
          </a:p>
          <a:p>
            <a:pPr indent="0" lvl="0" marL="135149" rtl="0" algn="l">
              <a:lnSpc>
                <a:spcPct val="115000"/>
              </a:lnSpc>
              <a:spcBef>
                <a:spcPts val="0"/>
              </a:spcBef>
              <a:spcAft>
                <a:spcPts val="0"/>
              </a:spcAft>
              <a:buSzPts val="1500"/>
              <a:buNone/>
            </a:pPr>
            <a:r>
              <a:t/>
            </a:r>
            <a:endParaRPr sz="1500"/>
          </a:p>
        </p:txBody>
      </p:sp>
      <p:sp>
        <p:nvSpPr>
          <p:cNvPr id="973" name="Google Shape;973;p113"/>
          <p:cNvSpPr txBox="1"/>
          <p:nvPr>
            <p:ph idx="1" type="body"/>
          </p:nvPr>
        </p:nvSpPr>
        <p:spPr>
          <a:xfrm>
            <a:off x="242175" y="1345950"/>
            <a:ext cx="8149200" cy="165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700"/>
              <a:t>L. Livsfarligt läge:</a:t>
            </a:r>
            <a:endParaRPr sz="1700"/>
          </a:p>
          <a:p>
            <a:pPr indent="-336550" lvl="0" marL="457200" rtl="0" algn="l">
              <a:lnSpc>
                <a:spcPct val="115000"/>
              </a:lnSpc>
              <a:spcBef>
                <a:spcPts val="0"/>
              </a:spcBef>
              <a:spcAft>
                <a:spcPts val="0"/>
              </a:spcAft>
              <a:buSzPts val="1700"/>
              <a:buChar char="●"/>
            </a:pPr>
            <a:r>
              <a:rPr lang="sv" sz="1700"/>
              <a:t>Säkerställ</a:t>
            </a:r>
            <a:r>
              <a:rPr b="0" lang="sv" sz="1700"/>
              <a:t> din och den skadades säkerhet innan du ingriper</a:t>
            </a:r>
            <a:endParaRPr b="0" sz="1700"/>
          </a:p>
          <a:p>
            <a:pPr indent="-336550" lvl="0" marL="457200" rtl="0" algn="l">
              <a:lnSpc>
                <a:spcPct val="115000"/>
              </a:lnSpc>
              <a:spcBef>
                <a:spcPts val="0"/>
              </a:spcBef>
              <a:spcAft>
                <a:spcPts val="0"/>
              </a:spcAft>
              <a:buSzPts val="1700"/>
              <a:buChar char="●"/>
            </a:pPr>
            <a:r>
              <a:rPr lang="sv" sz="1700"/>
              <a:t>Flytta den skadade </a:t>
            </a:r>
            <a:r>
              <a:rPr b="0" lang="sv" sz="1700"/>
              <a:t>till en säker plats och endast vid livsfara</a:t>
            </a:r>
            <a:br>
              <a:rPr b="0" lang="sv" sz="1700"/>
            </a:br>
            <a:endParaRPr b="0" sz="1700"/>
          </a:p>
          <a:p>
            <a:pPr indent="0" lvl="0" marL="457200" rtl="0" algn="l">
              <a:lnSpc>
                <a:spcPct val="115000"/>
              </a:lnSpc>
              <a:spcBef>
                <a:spcPts val="0"/>
              </a:spcBef>
              <a:spcAft>
                <a:spcPts val="0"/>
              </a:spcAft>
              <a:buSzPts val="1800"/>
              <a:buNone/>
            </a:pPr>
            <a:r>
              <a:rPr lang="sv" sz="1700"/>
              <a:t>Vad finns det för exempel som kan innebära fara?</a:t>
            </a:r>
            <a:endParaRPr sz="1700"/>
          </a:p>
          <a:p>
            <a:pPr indent="0" lvl="0" marL="135149" rtl="0" algn="l">
              <a:lnSpc>
                <a:spcPct val="115000"/>
              </a:lnSpc>
              <a:spcBef>
                <a:spcPts val="0"/>
              </a:spcBef>
              <a:spcAft>
                <a:spcPts val="0"/>
              </a:spcAft>
              <a:buSzPts val="1500"/>
              <a:buNone/>
            </a:pPr>
            <a:r>
              <a:t/>
            </a:r>
            <a:endParaRPr sz="1500"/>
          </a:p>
        </p:txBody>
      </p:sp>
      <p:pic>
        <p:nvPicPr>
          <p:cNvPr id="974" name="Google Shape;974;p113"/>
          <p:cNvPicPr preferRelativeResize="0"/>
          <p:nvPr/>
        </p:nvPicPr>
        <p:blipFill rotWithShape="1">
          <a:blip r:embed="rId3">
            <a:alphaModFix/>
          </a:blip>
          <a:srcRect b="0" l="0" r="0" t="0"/>
          <a:stretch/>
        </p:blipFill>
        <p:spPr>
          <a:xfrm>
            <a:off x="5386525" y="3090175"/>
            <a:ext cx="1283225" cy="1658700"/>
          </a:xfrm>
          <a:prstGeom prst="rect">
            <a:avLst/>
          </a:prstGeom>
          <a:noFill/>
          <a:ln>
            <a:noFill/>
          </a:ln>
        </p:spPr>
      </p:pic>
      <p:sp>
        <p:nvSpPr>
          <p:cNvPr id="975" name="Google Shape;975;p113"/>
          <p:cNvSpPr txBox="1"/>
          <p:nvPr/>
        </p:nvSpPr>
        <p:spPr>
          <a:xfrm>
            <a:off x="242175" y="3004650"/>
            <a:ext cx="5085300" cy="197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b="1" i="0" lang="sv" sz="1700" u="none" cap="none" strike="noStrike">
                <a:solidFill>
                  <a:srgbClr val="595959"/>
                </a:solidFill>
                <a:latin typeface="Arial"/>
                <a:ea typeface="Arial"/>
                <a:cs typeface="Arial"/>
                <a:sym typeface="Arial"/>
              </a:rPr>
              <a:t>A. Airway, öppen luftväg:</a:t>
            </a:r>
            <a:endParaRPr b="1" i="0" sz="1700" u="none" cap="none" strike="noStrike">
              <a:solidFill>
                <a:srgbClr val="595959"/>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1" i="0" lang="sv" sz="1700" u="none" cap="none" strike="noStrike">
                <a:solidFill>
                  <a:schemeClr val="dk1"/>
                </a:solidFill>
                <a:latin typeface="Arial"/>
                <a:ea typeface="Arial"/>
                <a:cs typeface="Arial"/>
                <a:sym typeface="Arial"/>
              </a:rPr>
              <a:t>Kontrollera</a:t>
            </a:r>
            <a:r>
              <a:rPr b="0" i="0" lang="sv" sz="1700" u="none" cap="none" strike="noStrike">
                <a:solidFill>
                  <a:schemeClr val="dk1"/>
                </a:solidFill>
                <a:latin typeface="Arial"/>
                <a:ea typeface="Arial"/>
                <a:cs typeface="Arial"/>
                <a:sym typeface="Arial"/>
              </a:rPr>
              <a:t> luftvägen. Avlägsna eventuella hinder och främmande föremål.</a:t>
            </a:r>
            <a:br>
              <a:rPr b="0" i="0" lang="sv" sz="1700" u="none" cap="none" strike="noStrike">
                <a:solidFill>
                  <a:schemeClr val="dk1"/>
                </a:solidFill>
                <a:latin typeface="Arial"/>
                <a:ea typeface="Arial"/>
                <a:cs typeface="Arial"/>
                <a:sym typeface="Arial"/>
              </a:rPr>
            </a:br>
            <a:endParaRPr b="1" i="0" sz="800" u="none" cap="none" strike="noStrike">
              <a:solidFill>
                <a:schemeClr val="dk1"/>
              </a:solidFill>
              <a:latin typeface="Arial"/>
              <a:ea typeface="Arial"/>
              <a:cs typeface="Arial"/>
              <a:sym typeface="Arial"/>
            </a:endParaRPr>
          </a:p>
          <a:p>
            <a:pPr indent="457200" lvl="0" marL="0" marR="0" rtl="0" algn="l">
              <a:lnSpc>
                <a:spcPct val="115000"/>
              </a:lnSpc>
              <a:spcBef>
                <a:spcPts val="0"/>
              </a:spcBef>
              <a:spcAft>
                <a:spcPts val="0"/>
              </a:spcAft>
              <a:buClr>
                <a:srgbClr val="000000"/>
              </a:buClr>
              <a:buSzPts val="1700"/>
              <a:buFont typeface="Arial"/>
              <a:buNone/>
            </a:pPr>
            <a:r>
              <a:rPr b="1" i="0" lang="sv" sz="1700" u="none" cap="none" strike="noStrike">
                <a:solidFill>
                  <a:schemeClr val="dk1"/>
                </a:solidFill>
                <a:latin typeface="Arial"/>
                <a:ea typeface="Arial"/>
                <a:cs typeface="Arial"/>
                <a:sym typeface="Arial"/>
              </a:rPr>
              <a:t>Vad kan påverka luftvägen?</a:t>
            </a:r>
            <a:endParaRPr b="1" i="0" sz="1700" u="none" cap="none" strike="noStrike">
              <a:solidFill>
                <a:schemeClr val="dk1"/>
              </a:solidFill>
              <a:latin typeface="Arial"/>
              <a:ea typeface="Arial"/>
              <a:cs typeface="Arial"/>
              <a:sym typeface="Arial"/>
            </a:endParaRPr>
          </a:p>
          <a:p>
            <a:pPr indent="0" lvl="0" marL="135149" marR="0" rtl="0" algn="l">
              <a:lnSpc>
                <a:spcPct val="115000"/>
              </a:lnSpc>
              <a:spcBef>
                <a:spcPts val="0"/>
              </a:spcBef>
              <a:spcAft>
                <a:spcPts val="0"/>
              </a:spcAft>
              <a:buClr>
                <a:srgbClr val="000000"/>
              </a:buClr>
              <a:buSzPts val="1500"/>
              <a:buFont typeface="Arial"/>
              <a:buNone/>
            </a:pPr>
            <a:r>
              <a:t/>
            </a:r>
            <a:endParaRPr b="1" i="0" sz="1500" u="none" cap="none" strike="noStrike">
              <a:solidFill>
                <a:srgbClr val="595959"/>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14"/>
          <p:cNvSpPr txBox="1"/>
          <p:nvPr>
            <p:ph idx="1" type="body"/>
          </p:nvPr>
        </p:nvSpPr>
        <p:spPr>
          <a:xfrm>
            <a:off x="357100" y="1536249"/>
            <a:ext cx="8149200" cy="40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500"/>
          </a:p>
          <a:p>
            <a:pPr indent="0" lvl="0" marL="135149" rtl="0" algn="l">
              <a:lnSpc>
                <a:spcPct val="115000"/>
              </a:lnSpc>
              <a:spcBef>
                <a:spcPts val="0"/>
              </a:spcBef>
              <a:spcAft>
                <a:spcPts val="0"/>
              </a:spcAft>
              <a:buSzPts val="1500"/>
              <a:buNone/>
            </a:pPr>
            <a:r>
              <a:t/>
            </a:r>
            <a:endParaRPr sz="1500"/>
          </a:p>
        </p:txBody>
      </p:sp>
      <p:pic>
        <p:nvPicPr>
          <p:cNvPr id="981" name="Google Shape;981;p114"/>
          <p:cNvPicPr preferRelativeResize="0"/>
          <p:nvPr/>
        </p:nvPicPr>
        <p:blipFill rotWithShape="1">
          <a:blip r:embed="rId3">
            <a:alphaModFix/>
          </a:blip>
          <a:srcRect b="0" l="0" r="0" t="0"/>
          <a:stretch/>
        </p:blipFill>
        <p:spPr>
          <a:xfrm>
            <a:off x="5584875" y="1322299"/>
            <a:ext cx="2907186" cy="2898951"/>
          </a:xfrm>
          <a:prstGeom prst="rect">
            <a:avLst/>
          </a:prstGeom>
          <a:noFill/>
          <a:ln>
            <a:noFill/>
          </a:ln>
        </p:spPr>
      </p:pic>
      <p:sp>
        <p:nvSpPr>
          <p:cNvPr id="982" name="Google Shape;982;p114"/>
          <p:cNvSpPr txBox="1"/>
          <p:nvPr>
            <p:ph type="title"/>
          </p:nvPr>
        </p:nvSpPr>
        <p:spPr>
          <a:xfrm>
            <a:off x="226000" y="826825"/>
            <a:ext cx="586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Åtgärder vid första hjälpen L-ABCDE</a:t>
            </a:r>
            <a:endParaRPr/>
          </a:p>
        </p:txBody>
      </p:sp>
      <p:sp>
        <p:nvSpPr>
          <p:cNvPr id="983" name="Google Shape;983;p114"/>
          <p:cNvSpPr txBox="1"/>
          <p:nvPr/>
        </p:nvSpPr>
        <p:spPr>
          <a:xfrm>
            <a:off x="226000" y="1605825"/>
            <a:ext cx="5342700" cy="2706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b="1" i="0" lang="sv" sz="1700" u="none" cap="none" strike="noStrike">
                <a:solidFill>
                  <a:schemeClr val="dk1"/>
                </a:solidFill>
                <a:latin typeface="Arial"/>
                <a:ea typeface="Arial"/>
                <a:cs typeface="Arial"/>
                <a:sym typeface="Arial"/>
              </a:rPr>
              <a:t>B. Breathing, andning:</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1" i="0" lang="sv" sz="1700" u="none" cap="none" strike="noStrike">
                <a:solidFill>
                  <a:schemeClr val="dk1"/>
                </a:solidFill>
                <a:latin typeface="Arial"/>
                <a:ea typeface="Arial"/>
                <a:cs typeface="Arial"/>
                <a:sym typeface="Arial"/>
              </a:rPr>
              <a:t>Kontrollera andning genom att:</a:t>
            </a:r>
            <a:br>
              <a:rPr b="0" i="0" lang="sv" sz="1700" u="none" cap="none" strike="noStrike">
                <a:solidFill>
                  <a:schemeClr val="dk1"/>
                </a:solidFill>
                <a:latin typeface="Arial"/>
                <a:ea typeface="Arial"/>
                <a:cs typeface="Arial"/>
                <a:sym typeface="Arial"/>
              </a:rPr>
            </a:br>
            <a:endParaRPr b="1"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1" i="0" lang="sv" sz="1700" u="none" cap="none" strike="noStrike">
                <a:solidFill>
                  <a:schemeClr val="dk1"/>
                </a:solidFill>
                <a:latin typeface="Arial"/>
                <a:ea typeface="Arial"/>
                <a:cs typeface="Arial"/>
                <a:sym typeface="Arial"/>
              </a:rPr>
              <a:t>Se</a:t>
            </a:r>
            <a:r>
              <a:rPr b="0" i="0" lang="sv" sz="1700" u="none" cap="none" strike="noStrike">
                <a:solidFill>
                  <a:schemeClr val="dk1"/>
                </a:solidFill>
                <a:latin typeface="Arial"/>
                <a:ea typeface="Arial"/>
                <a:cs typeface="Arial"/>
                <a:sym typeface="Arial"/>
              </a:rPr>
              <a:t>  om bröstkorgen höjs och sänks</a:t>
            </a:r>
            <a:br>
              <a:rPr b="0" i="0" lang="sv"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1" i="0" lang="sv" sz="1700" u="none" cap="none" strike="noStrike">
                <a:solidFill>
                  <a:schemeClr val="dk1"/>
                </a:solidFill>
                <a:latin typeface="Arial"/>
                <a:ea typeface="Arial"/>
                <a:cs typeface="Arial"/>
                <a:sym typeface="Arial"/>
              </a:rPr>
              <a:t>Lyssna  </a:t>
            </a:r>
            <a:r>
              <a:rPr b="0" i="0" lang="sv" sz="1700" u="none" cap="none" strike="noStrike">
                <a:solidFill>
                  <a:schemeClr val="dk1"/>
                </a:solidFill>
                <a:latin typeface="Arial"/>
                <a:ea typeface="Arial"/>
                <a:cs typeface="Arial"/>
                <a:sym typeface="Arial"/>
              </a:rPr>
              <a:t>efter andningsljud/andetag</a:t>
            </a:r>
            <a:br>
              <a:rPr b="0" i="0" lang="sv"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1" i="0" lang="sv" sz="1700" u="none" cap="none" strike="noStrike">
                <a:solidFill>
                  <a:schemeClr val="dk1"/>
                </a:solidFill>
                <a:latin typeface="Arial"/>
                <a:ea typeface="Arial"/>
                <a:cs typeface="Arial"/>
                <a:sym typeface="Arial"/>
              </a:rPr>
              <a:t>Känn  </a:t>
            </a:r>
            <a:r>
              <a:rPr b="0" i="0" lang="sv" sz="1700" u="none" cap="none" strike="noStrike">
                <a:solidFill>
                  <a:schemeClr val="dk1"/>
                </a:solidFill>
                <a:latin typeface="Arial"/>
                <a:ea typeface="Arial"/>
                <a:cs typeface="Arial"/>
                <a:sym typeface="Arial"/>
              </a:rPr>
              <a:t>om du känner andetag mot din kind/öra</a:t>
            </a:r>
            <a:endParaRPr b="0" i="0" sz="17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300"/>
              <a:buFont typeface="Arial"/>
              <a:buNone/>
            </a:pPr>
            <a:r>
              <a:t/>
            </a:r>
            <a:endParaRPr b="1" i="0" sz="1300" u="none" cap="none" strike="noStrike">
              <a:solidFill>
                <a:srgbClr val="595959"/>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700"/>
              <a:buFont typeface="Arial"/>
              <a:buNone/>
            </a:pPr>
            <a:r>
              <a:t/>
            </a:r>
            <a:endParaRPr b="0" i="0" sz="1700" u="none" cap="none" strike="noStrike">
              <a:solidFill>
                <a:srgbClr val="595959"/>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700"/>
              <a:buFont typeface="Arial"/>
              <a:buNone/>
            </a:pPr>
            <a:br>
              <a:rPr b="1" i="0" lang="sv" sz="1700" u="none" cap="none" strike="noStrike">
                <a:solidFill>
                  <a:srgbClr val="595959"/>
                </a:solidFill>
                <a:latin typeface="Arial"/>
                <a:ea typeface="Arial"/>
                <a:cs typeface="Arial"/>
                <a:sym typeface="Arial"/>
              </a:rPr>
            </a:br>
            <a:endParaRPr b="1" i="0" sz="1700" u="none" cap="none" strike="noStrike">
              <a:solidFill>
                <a:srgbClr val="595959"/>
              </a:solidFill>
              <a:latin typeface="Arial"/>
              <a:ea typeface="Arial"/>
              <a:cs typeface="Arial"/>
              <a:sym typeface="Arial"/>
            </a:endParaRPr>
          </a:p>
          <a:p>
            <a:pPr indent="0" lvl="0" marL="135149" marR="0" rtl="0" algn="l">
              <a:lnSpc>
                <a:spcPct val="115000"/>
              </a:lnSpc>
              <a:spcBef>
                <a:spcPts val="0"/>
              </a:spcBef>
              <a:spcAft>
                <a:spcPts val="0"/>
              </a:spcAft>
              <a:buClr>
                <a:srgbClr val="000000"/>
              </a:buClr>
              <a:buSzPts val="1500"/>
              <a:buFont typeface="Arial"/>
              <a:buNone/>
            </a:pPr>
            <a:r>
              <a:t/>
            </a:r>
            <a:endParaRPr b="1" i="0" sz="1500" u="none" cap="none" strike="noStrike">
              <a:solidFill>
                <a:srgbClr val="595959"/>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15"/>
          <p:cNvSpPr txBox="1"/>
          <p:nvPr>
            <p:ph type="title"/>
          </p:nvPr>
        </p:nvSpPr>
        <p:spPr>
          <a:xfrm>
            <a:off x="0" y="92560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4"/>
              <a:buNone/>
            </a:pPr>
            <a:r>
              <a:rPr lang="sv" sz="2777">
                <a:solidFill>
                  <a:schemeClr val="dk1"/>
                </a:solidFill>
              </a:rPr>
              <a:t>Åtgärder vid första hjälpen L-ABCDE</a:t>
            </a:r>
            <a:endParaRPr>
              <a:solidFill>
                <a:schemeClr val="dk1"/>
              </a:solidFill>
            </a:endParaRPr>
          </a:p>
        </p:txBody>
      </p:sp>
      <p:sp>
        <p:nvSpPr>
          <p:cNvPr id="989" name="Google Shape;989;p115"/>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sv" sz="1700">
                <a:solidFill>
                  <a:schemeClr val="dk1"/>
                </a:solidFill>
              </a:rPr>
              <a:t>B. Breathing, andning:</a:t>
            </a:r>
            <a:endParaRPr sz="1700">
              <a:solidFill>
                <a:schemeClr val="dk1"/>
              </a:solidFill>
            </a:endParaRPr>
          </a:p>
          <a:p>
            <a:pPr indent="0" lvl="0" marL="914400" rtl="0" algn="l">
              <a:lnSpc>
                <a:spcPct val="115000"/>
              </a:lnSpc>
              <a:spcBef>
                <a:spcPts val="0"/>
              </a:spcBef>
              <a:spcAft>
                <a:spcPts val="0"/>
              </a:spcAft>
              <a:buSzPts val="1800"/>
              <a:buNone/>
            </a:pPr>
            <a:r>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sv" sz="1700">
                <a:solidFill>
                  <a:schemeClr val="dk1"/>
                </a:solidFill>
              </a:rPr>
              <a:t>Om</a:t>
            </a:r>
            <a:r>
              <a:rPr b="0" lang="sv" sz="1700">
                <a:solidFill>
                  <a:schemeClr val="dk1"/>
                </a:solidFill>
              </a:rPr>
              <a:t> ingen eller onormal andning, </a:t>
            </a:r>
            <a:br>
              <a:rPr b="0" lang="sv" sz="1700">
                <a:solidFill>
                  <a:schemeClr val="dk1"/>
                </a:solidFill>
              </a:rPr>
            </a:br>
            <a:r>
              <a:rPr b="0" lang="sv" sz="1700">
                <a:solidFill>
                  <a:schemeClr val="dk1"/>
                </a:solidFill>
              </a:rPr>
              <a:t>larma 112 och starta hjärt-lungräddning.</a:t>
            </a:r>
            <a:endParaRPr b="0" sz="1700">
              <a:solidFill>
                <a:schemeClr val="dk1"/>
              </a:solidFill>
            </a:endParaRPr>
          </a:p>
          <a:p>
            <a:pPr indent="0" lvl="0" marL="914400" rtl="0" algn="l">
              <a:lnSpc>
                <a:spcPct val="115000"/>
              </a:lnSpc>
              <a:spcBef>
                <a:spcPts val="0"/>
              </a:spcBef>
              <a:spcAft>
                <a:spcPts val="0"/>
              </a:spcAft>
              <a:buSzPts val="1800"/>
              <a:buNone/>
            </a:pPr>
            <a:r>
              <a:t/>
            </a:r>
            <a:endParaRPr b="0"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sv" sz="1700">
                <a:solidFill>
                  <a:schemeClr val="dk1"/>
                </a:solidFill>
              </a:rPr>
              <a:t>Om </a:t>
            </a:r>
            <a:r>
              <a:rPr b="0" lang="sv" sz="1700">
                <a:solidFill>
                  <a:schemeClr val="dk1"/>
                </a:solidFill>
              </a:rPr>
              <a:t>medvetslöshet med normal andning, </a:t>
            </a:r>
            <a:br>
              <a:rPr b="0" lang="sv" sz="1700">
                <a:solidFill>
                  <a:schemeClr val="dk1"/>
                </a:solidFill>
              </a:rPr>
            </a:br>
            <a:r>
              <a:rPr b="0" lang="sv" sz="1700">
                <a:solidFill>
                  <a:schemeClr val="dk1"/>
                </a:solidFill>
              </a:rPr>
              <a:t>lägg i stabilt sidoläge och larma 112</a:t>
            </a:r>
            <a:endParaRPr b="0" sz="1700">
              <a:solidFill>
                <a:schemeClr val="dk1"/>
              </a:solidFill>
            </a:endParaRPr>
          </a:p>
          <a:p>
            <a:pPr indent="0" lvl="0" marL="914400" rtl="0" algn="l">
              <a:lnSpc>
                <a:spcPct val="115000"/>
              </a:lnSpc>
              <a:spcBef>
                <a:spcPts val="0"/>
              </a:spcBef>
              <a:spcAft>
                <a:spcPts val="0"/>
              </a:spcAft>
              <a:buSzPts val="1800"/>
              <a:buNone/>
            </a:pPr>
            <a:r>
              <a:t/>
            </a:r>
            <a:endParaRPr b="0"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sv" sz="1700">
                <a:solidFill>
                  <a:schemeClr val="dk1"/>
                </a:solidFill>
              </a:rPr>
              <a:t>Underlätta </a:t>
            </a:r>
            <a:r>
              <a:rPr b="0" lang="sv" sz="1700">
                <a:solidFill>
                  <a:schemeClr val="dk1"/>
                </a:solidFill>
              </a:rPr>
              <a:t>andningen genom att lossa på åtsittande kläder runt ansikte och hals, exempelvis hjälm och halsduk.</a:t>
            </a:r>
            <a:endParaRPr b="0" sz="1700">
              <a:solidFill>
                <a:schemeClr val="dk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pic>
        <p:nvPicPr>
          <p:cNvPr id="994" name="Google Shape;994;p116" title="Lär dig hjärt lungräddning HLR">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17"/>
          <p:cNvSpPr txBox="1"/>
          <p:nvPr>
            <p:ph idx="1" type="body"/>
          </p:nvPr>
        </p:nvSpPr>
        <p:spPr>
          <a:xfrm>
            <a:off x="399975" y="1536249"/>
            <a:ext cx="8149200" cy="40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500"/>
          </a:p>
          <a:p>
            <a:pPr indent="0" lvl="0" marL="135149" rtl="0" algn="l">
              <a:lnSpc>
                <a:spcPct val="115000"/>
              </a:lnSpc>
              <a:spcBef>
                <a:spcPts val="0"/>
              </a:spcBef>
              <a:spcAft>
                <a:spcPts val="0"/>
              </a:spcAft>
              <a:buSzPts val="1500"/>
              <a:buNone/>
            </a:pPr>
            <a:r>
              <a:t/>
            </a:r>
            <a:endParaRPr sz="1500"/>
          </a:p>
        </p:txBody>
      </p:sp>
      <p:sp>
        <p:nvSpPr>
          <p:cNvPr id="1000" name="Google Shape;1000;p117"/>
          <p:cNvSpPr txBox="1"/>
          <p:nvPr>
            <p:ph idx="1" type="body"/>
          </p:nvPr>
        </p:nvSpPr>
        <p:spPr>
          <a:xfrm>
            <a:off x="226000" y="1433950"/>
            <a:ext cx="7136400" cy="96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700"/>
              <a:t>C. Cirkulation och blödning:</a:t>
            </a:r>
            <a:endParaRPr sz="1700"/>
          </a:p>
          <a:p>
            <a:pPr indent="-336550" lvl="0" marL="457200" rtl="0" algn="l">
              <a:lnSpc>
                <a:spcPct val="115000"/>
              </a:lnSpc>
              <a:spcBef>
                <a:spcPts val="0"/>
              </a:spcBef>
              <a:spcAft>
                <a:spcPts val="0"/>
              </a:spcAft>
              <a:buSzPts val="1700"/>
              <a:buChar char="●"/>
            </a:pPr>
            <a:r>
              <a:rPr lang="sv" sz="1700">
                <a:solidFill>
                  <a:schemeClr val="dk1"/>
                </a:solidFill>
              </a:rPr>
              <a:t>Stoppa blödning</a:t>
            </a:r>
            <a:r>
              <a:rPr b="0" lang="sv" sz="1700">
                <a:solidFill>
                  <a:schemeClr val="dk1"/>
                </a:solidFill>
              </a:rPr>
              <a:t> - Lägg tryckförband med tryck där det blöder som mest, annars kan den cirkulerande blodmängden blir otillräcklig. </a:t>
            </a:r>
            <a:endParaRPr b="0" sz="1700"/>
          </a:p>
          <a:p>
            <a:pPr indent="0" lvl="0" marL="457200" rtl="0" algn="l">
              <a:lnSpc>
                <a:spcPct val="115000"/>
              </a:lnSpc>
              <a:spcBef>
                <a:spcPts val="0"/>
              </a:spcBef>
              <a:spcAft>
                <a:spcPts val="0"/>
              </a:spcAft>
              <a:buSzPts val="1800"/>
              <a:buNone/>
            </a:pPr>
            <a:r>
              <a:t/>
            </a:r>
            <a:endParaRPr b="0" sz="1700"/>
          </a:p>
          <a:p>
            <a:pPr indent="0" lvl="0" marL="457200" rtl="0" algn="l">
              <a:lnSpc>
                <a:spcPct val="115000"/>
              </a:lnSpc>
              <a:spcBef>
                <a:spcPts val="0"/>
              </a:spcBef>
              <a:spcAft>
                <a:spcPts val="0"/>
              </a:spcAft>
              <a:buSzPts val="1800"/>
              <a:buNone/>
            </a:pPr>
            <a:br>
              <a:rPr lang="sv" sz="1700"/>
            </a:br>
            <a:endParaRPr sz="1700"/>
          </a:p>
          <a:p>
            <a:pPr indent="0" lvl="0" marL="135149" rtl="0" algn="l">
              <a:lnSpc>
                <a:spcPct val="115000"/>
              </a:lnSpc>
              <a:spcBef>
                <a:spcPts val="0"/>
              </a:spcBef>
              <a:spcAft>
                <a:spcPts val="0"/>
              </a:spcAft>
              <a:buSzPts val="1500"/>
              <a:buNone/>
            </a:pPr>
            <a:r>
              <a:t/>
            </a:r>
            <a:endParaRPr sz="1500"/>
          </a:p>
        </p:txBody>
      </p:sp>
      <p:pic>
        <p:nvPicPr>
          <p:cNvPr id="1001" name="Google Shape;1001;p117"/>
          <p:cNvPicPr preferRelativeResize="0"/>
          <p:nvPr/>
        </p:nvPicPr>
        <p:blipFill rotWithShape="1">
          <a:blip r:embed="rId3">
            <a:alphaModFix/>
          </a:blip>
          <a:srcRect b="0" l="0" r="0" t="0"/>
          <a:stretch/>
        </p:blipFill>
        <p:spPr>
          <a:xfrm>
            <a:off x="7321375" y="1536250"/>
            <a:ext cx="1752415" cy="1153125"/>
          </a:xfrm>
          <a:prstGeom prst="rect">
            <a:avLst/>
          </a:prstGeom>
          <a:noFill/>
          <a:ln>
            <a:noFill/>
          </a:ln>
        </p:spPr>
      </p:pic>
      <p:sp>
        <p:nvSpPr>
          <p:cNvPr id="1002" name="Google Shape;1002;p117"/>
          <p:cNvSpPr txBox="1"/>
          <p:nvPr>
            <p:ph type="title"/>
          </p:nvPr>
        </p:nvSpPr>
        <p:spPr>
          <a:xfrm>
            <a:off x="226000" y="861250"/>
            <a:ext cx="586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Åtgärder vid första hjälpen L-ABCDE</a:t>
            </a:r>
            <a:endParaRPr/>
          </a:p>
        </p:txBody>
      </p:sp>
      <p:sp>
        <p:nvSpPr>
          <p:cNvPr id="1003" name="Google Shape;1003;p117"/>
          <p:cNvSpPr txBox="1"/>
          <p:nvPr>
            <p:ph idx="1" type="body"/>
          </p:nvPr>
        </p:nvSpPr>
        <p:spPr>
          <a:xfrm>
            <a:off x="226000" y="2462475"/>
            <a:ext cx="5894700" cy="6474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sv" sz="1700">
                <a:solidFill>
                  <a:schemeClr val="dk1"/>
                </a:solidFill>
              </a:rPr>
              <a:t>Vid kraftiga blödningar</a:t>
            </a:r>
            <a:r>
              <a:rPr b="0" lang="sv" sz="1700">
                <a:solidFill>
                  <a:schemeClr val="dk1"/>
                </a:solidFill>
              </a:rPr>
              <a:t> - </a:t>
            </a:r>
            <a:r>
              <a:rPr lang="sv" sz="1700">
                <a:solidFill>
                  <a:srgbClr val="FF0000"/>
                </a:solidFill>
              </a:rPr>
              <a:t>LARMA 112</a:t>
            </a:r>
            <a:endParaRPr sz="1700">
              <a:solidFill>
                <a:srgbClr val="FF0000"/>
              </a:solidFill>
            </a:endParaRPr>
          </a:p>
          <a:p>
            <a:pPr indent="0" lvl="0" marL="457200" rtl="0" algn="l">
              <a:lnSpc>
                <a:spcPct val="115000"/>
              </a:lnSpc>
              <a:spcBef>
                <a:spcPts val="0"/>
              </a:spcBef>
              <a:spcAft>
                <a:spcPts val="0"/>
              </a:spcAft>
              <a:buSzPts val="1800"/>
              <a:buNone/>
            </a:pPr>
            <a:br>
              <a:rPr lang="sv" sz="1700"/>
            </a:br>
            <a:endParaRPr sz="1700"/>
          </a:p>
          <a:p>
            <a:pPr indent="0" lvl="0" marL="135149" rtl="0" algn="l">
              <a:lnSpc>
                <a:spcPct val="115000"/>
              </a:lnSpc>
              <a:spcBef>
                <a:spcPts val="0"/>
              </a:spcBef>
              <a:spcAft>
                <a:spcPts val="0"/>
              </a:spcAft>
              <a:buSzPts val="1500"/>
              <a:buNone/>
            </a:pPr>
            <a:r>
              <a:t/>
            </a:r>
            <a:endParaRPr sz="1500"/>
          </a:p>
        </p:txBody>
      </p:sp>
      <p:sp>
        <p:nvSpPr>
          <p:cNvPr id="1004" name="Google Shape;1004;p117"/>
          <p:cNvSpPr txBox="1"/>
          <p:nvPr>
            <p:ph idx="1" type="body"/>
          </p:nvPr>
        </p:nvSpPr>
        <p:spPr>
          <a:xfrm>
            <a:off x="226000" y="2982325"/>
            <a:ext cx="5342700" cy="17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700"/>
              <a:t>D. Disability, medvetandegrad &amp; känsel:</a:t>
            </a:r>
            <a:endParaRPr sz="1700">
              <a:solidFill>
                <a:schemeClr val="dk1"/>
              </a:solidFill>
            </a:endParaRPr>
          </a:p>
          <a:p>
            <a:pPr indent="0" lvl="0" marL="0" rtl="0" algn="l">
              <a:lnSpc>
                <a:spcPct val="115000"/>
              </a:lnSpc>
              <a:spcBef>
                <a:spcPts val="0"/>
              </a:spcBef>
              <a:spcAft>
                <a:spcPts val="0"/>
              </a:spcAft>
              <a:buSzPts val="1800"/>
              <a:buNone/>
            </a:pPr>
            <a:r>
              <a:rPr b="0" lang="sv" sz="1700">
                <a:solidFill>
                  <a:schemeClr val="dk1"/>
                </a:solidFill>
              </a:rPr>
              <a:t>Är personen:</a:t>
            </a:r>
            <a:endParaRPr b="0" sz="1700">
              <a:solidFill>
                <a:schemeClr val="dk1"/>
              </a:solidFill>
            </a:endParaRPr>
          </a:p>
          <a:p>
            <a:pPr indent="-336550" lvl="0" marL="457200" rtl="0" algn="l">
              <a:lnSpc>
                <a:spcPct val="115000"/>
              </a:lnSpc>
              <a:spcBef>
                <a:spcPts val="0"/>
              </a:spcBef>
              <a:spcAft>
                <a:spcPts val="0"/>
              </a:spcAft>
              <a:buClr>
                <a:schemeClr val="dk1"/>
              </a:buClr>
              <a:buSzPts val="1700"/>
              <a:buChar char="●"/>
            </a:pPr>
            <a:r>
              <a:rPr b="0" lang="sv" sz="1700">
                <a:solidFill>
                  <a:schemeClr val="dk1"/>
                </a:solidFill>
              </a:rPr>
              <a:t>Vaken/Alert</a:t>
            </a:r>
            <a:endParaRPr b="0" sz="1700">
              <a:solidFill>
                <a:schemeClr val="dk1"/>
              </a:solidFill>
            </a:endParaRPr>
          </a:p>
          <a:p>
            <a:pPr indent="-336550" lvl="0" marL="457200" rtl="0" algn="l">
              <a:lnSpc>
                <a:spcPct val="115000"/>
              </a:lnSpc>
              <a:spcBef>
                <a:spcPts val="0"/>
              </a:spcBef>
              <a:spcAft>
                <a:spcPts val="0"/>
              </a:spcAft>
              <a:buClr>
                <a:schemeClr val="dk1"/>
              </a:buClr>
              <a:buSzPts val="1700"/>
              <a:buChar char="●"/>
            </a:pPr>
            <a:r>
              <a:rPr b="0" lang="sv" sz="1700">
                <a:solidFill>
                  <a:schemeClr val="dk1"/>
                </a:solidFill>
              </a:rPr>
              <a:t>Reagerar på smärta</a:t>
            </a:r>
            <a:endParaRPr b="0" sz="1700">
              <a:solidFill>
                <a:schemeClr val="dk1"/>
              </a:solidFill>
            </a:endParaRPr>
          </a:p>
          <a:p>
            <a:pPr indent="-336550" lvl="0" marL="457200" rtl="0" algn="l">
              <a:lnSpc>
                <a:spcPct val="115000"/>
              </a:lnSpc>
              <a:spcBef>
                <a:spcPts val="0"/>
              </a:spcBef>
              <a:spcAft>
                <a:spcPts val="0"/>
              </a:spcAft>
              <a:buClr>
                <a:schemeClr val="dk1"/>
              </a:buClr>
              <a:buSzPts val="1700"/>
              <a:buChar char="●"/>
            </a:pPr>
            <a:r>
              <a:rPr b="0" lang="sv" sz="1700">
                <a:solidFill>
                  <a:schemeClr val="dk1"/>
                </a:solidFill>
              </a:rPr>
              <a:t>Reagerar inte alls = medvetslös</a:t>
            </a:r>
            <a:endParaRPr b="0" sz="1700">
              <a:solidFill>
                <a:schemeClr val="dk1"/>
              </a:solidFill>
            </a:endParaRPr>
          </a:p>
          <a:p>
            <a:pPr indent="0" lvl="0" marL="457200" rtl="0" algn="l">
              <a:lnSpc>
                <a:spcPct val="115000"/>
              </a:lnSpc>
              <a:spcBef>
                <a:spcPts val="0"/>
              </a:spcBef>
              <a:spcAft>
                <a:spcPts val="0"/>
              </a:spcAft>
              <a:buSzPts val="1800"/>
              <a:buNone/>
            </a:pPr>
            <a:r>
              <a:t/>
            </a:r>
            <a:endParaRPr b="0" sz="1000">
              <a:solidFill>
                <a:srgbClr val="FF0000"/>
              </a:solidFill>
            </a:endParaRPr>
          </a:p>
          <a:p>
            <a:pPr indent="0" lvl="0" marL="0" rtl="0" algn="l">
              <a:lnSpc>
                <a:spcPct val="115000"/>
              </a:lnSpc>
              <a:spcBef>
                <a:spcPts val="0"/>
              </a:spcBef>
              <a:spcAft>
                <a:spcPts val="0"/>
              </a:spcAft>
              <a:buSzPts val="1800"/>
              <a:buNone/>
            </a:pPr>
            <a:r>
              <a:t/>
            </a:r>
            <a:endParaRPr b="0" sz="1700"/>
          </a:p>
          <a:p>
            <a:pPr indent="0" lvl="0" marL="457200" rtl="0" algn="l">
              <a:lnSpc>
                <a:spcPct val="115000"/>
              </a:lnSpc>
              <a:spcBef>
                <a:spcPts val="0"/>
              </a:spcBef>
              <a:spcAft>
                <a:spcPts val="0"/>
              </a:spcAft>
              <a:buSzPts val="1800"/>
              <a:buNone/>
            </a:pPr>
            <a:r>
              <a:t/>
            </a:r>
            <a:endParaRPr b="0" sz="1700"/>
          </a:p>
          <a:p>
            <a:pPr indent="0" lvl="0" marL="457200" rtl="0" algn="l">
              <a:lnSpc>
                <a:spcPct val="115000"/>
              </a:lnSpc>
              <a:spcBef>
                <a:spcPts val="0"/>
              </a:spcBef>
              <a:spcAft>
                <a:spcPts val="0"/>
              </a:spcAft>
              <a:buSzPts val="1800"/>
              <a:buNone/>
            </a:pPr>
            <a:r>
              <a:t/>
            </a:r>
            <a:endParaRPr b="0" sz="1700"/>
          </a:p>
          <a:p>
            <a:pPr indent="0" lvl="0" marL="457200" rtl="0" algn="l">
              <a:lnSpc>
                <a:spcPct val="115000"/>
              </a:lnSpc>
              <a:spcBef>
                <a:spcPts val="0"/>
              </a:spcBef>
              <a:spcAft>
                <a:spcPts val="0"/>
              </a:spcAft>
              <a:buSzPts val="1800"/>
              <a:buNone/>
            </a:pPr>
            <a:br>
              <a:rPr lang="sv" sz="1700"/>
            </a:br>
            <a:endParaRPr sz="1700"/>
          </a:p>
          <a:p>
            <a:pPr indent="0" lvl="0" marL="135149" rtl="0" algn="l">
              <a:lnSpc>
                <a:spcPct val="115000"/>
              </a:lnSpc>
              <a:spcBef>
                <a:spcPts val="0"/>
              </a:spcBef>
              <a:spcAft>
                <a:spcPts val="0"/>
              </a:spcAft>
              <a:buSzPts val="1500"/>
              <a:buNone/>
            </a:pPr>
            <a:r>
              <a:t/>
            </a:r>
            <a:endParaRPr sz="1500"/>
          </a:p>
        </p:txBody>
      </p:sp>
      <p:pic>
        <p:nvPicPr>
          <p:cNvPr id="1005" name="Google Shape;1005;p117"/>
          <p:cNvPicPr preferRelativeResize="0"/>
          <p:nvPr/>
        </p:nvPicPr>
        <p:blipFill rotWithShape="1">
          <a:blip r:embed="rId4">
            <a:alphaModFix/>
          </a:blip>
          <a:srcRect b="0" l="0" r="0" t="0"/>
          <a:stretch/>
        </p:blipFill>
        <p:spPr>
          <a:xfrm>
            <a:off x="4011650" y="3325050"/>
            <a:ext cx="1822614" cy="1266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18"/>
          <p:cNvSpPr txBox="1"/>
          <p:nvPr>
            <p:ph idx="1" type="body"/>
          </p:nvPr>
        </p:nvSpPr>
        <p:spPr>
          <a:xfrm>
            <a:off x="357100" y="1536249"/>
            <a:ext cx="8149200" cy="40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500"/>
          </a:p>
          <a:p>
            <a:pPr indent="0" lvl="0" marL="135149" rtl="0" algn="l">
              <a:lnSpc>
                <a:spcPct val="115000"/>
              </a:lnSpc>
              <a:spcBef>
                <a:spcPts val="0"/>
              </a:spcBef>
              <a:spcAft>
                <a:spcPts val="0"/>
              </a:spcAft>
              <a:buSzPts val="1500"/>
              <a:buNone/>
            </a:pPr>
            <a:r>
              <a:t/>
            </a:r>
            <a:endParaRPr sz="1500"/>
          </a:p>
        </p:txBody>
      </p:sp>
      <p:sp>
        <p:nvSpPr>
          <p:cNvPr id="1011" name="Google Shape;1011;p118"/>
          <p:cNvSpPr txBox="1"/>
          <p:nvPr>
            <p:ph idx="1" type="body"/>
          </p:nvPr>
        </p:nvSpPr>
        <p:spPr>
          <a:xfrm>
            <a:off x="242175" y="1399525"/>
            <a:ext cx="5778000" cy="141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sv" sz="1700"/>
              <a:t>E. Expose, helkroppsundersökning och förhindra nedkylning:</a:t>
            </a:r>
            <a:endParaRPr sz="1700"/>
          </a:p>
          <a:p>
            <a:pPr indent="0" lvl="0" marL="0" rtl="0" algn="l">
              <a:lnSpc>
                <a:spcPct val="115000"/>
              </a:lnSpc>
              <a:spcBef>
                <a:spcPts val="0"/>
              </a:spcBef>
              <a:spcAft>
                <a:spcPts val="0"/>
              </a:spcAft>
              <a:buSzPts val="1800"/>
              <a:buNone/>
            </a:pPr>
            <a:r>
              <a:t/>
            </a:r>
            <a:endParaRPr sz="1700"/>
          </a:p>
          <a:p>
            <a:pPr indent="-336550" lvl="0" marL="457200" rtl="0" algn="l">
              <a:lnSpc>
                <a:spcPct val="115000"/>
              </a:lnSpc>
              <a:spcBef>
                <a:spcPts val="0"/>
              </a:spcBef>
              <a:spcAft>
                <a:spcPts val="0"/>
              </a:spcAft>
              <a:buSzPts val="1700"/>
              <a:buChar char="●"/>
            </a:pPr>
            <a:r>
              <a:rPr lang="sv" sz="1700"/>
              <a:t>Håll</a:t>
            </a:r>
            <a:r>
              <a:rPr b="0" lang="sv" sz="1700"/>
              <a:t> </a:t>
            </a:r>
            <a:r>
              <a:rPr lang="sv" sz="1700"/>
              <a:t>personen varm</a:t>
            </a:r>
            <a:r>
              <a:rPr b="0" lang="sv" sz="1700"/>
              <a:t>, skydda mot väta och kyla.  </a:t>
            </a:r>
            <a:endParaRPr b="0" sz="1700"/>
          </a:p>
          <a:p>
            <a:pPr indent="0" lvl="0" marL="457200" rtl="0" algn="l">
              <a:lnSpc>
                <a:spcPct val="115000"/>
              </a:lnSpc>
              <a:spcBef>
                <a:spcPts val="0"/>
              </a:spcBef>
              <a:spcAft>
                <a:spcPts val="0"/>
              </a:spcAft>
              <a:buSzPts val="1800"/>
              <a:buNone/>
            </a:pPr>
            <a:r>
              <a:t/>
            </a:r>
            <a:endParaRPr b="0" sz="1700"/>
          </a:p>
          <a:p>
            <a:pPr indent="0" lvl="0" marL="0" rtl="0" algn="l">
              <a:lnSpc>
                <a:spcPct val="115000"/>
              </a:lnSpc>
              <a:spcBef>
                <a:spcPts val="0"/>
              </a:spcBef>
              <a:spcAft>
                <a:spcPts val="0"/>
              </a:spcAft>
              <a:buSzPts val="1800"/>
              <a:buNone/>
            </a:pPr>
            <a:r>
              <a:t/>
            </a:r>
            <a:endParaRPr b="0" sz="1700"/>
          </a:p>
          <a:p>
            <a:pPr indent="0" lvl="0" marL="457200" rtl="0" algn="l">
              <a:lnSpc>
                <a:spcPct val="115000"/>
              </a:lnSpc>
              <a:spcBef>
                <a:spcPts val="0"/>
              </a:spcBef>
              <a:spcAft>
                <a:spcPts val="0"/>
              </a:spcAft>
              <a:buSzPts val="1800"/>
              <a:buNone/>
            </a:pPr>
            <a:br>
              <a:rPr lang="sv" sz="1700"/>
            </a:br>
            <a:endParaRPr sz="1700"/>
          </a:p>
          <a:p>
            <a:pPr indent="0" lvl="0" marL="135149" rtl="0" algn="l">
              <a:lnSpc>
                <a:spcPct val="115000"/>
              </a:lnSpc>
              <a:spcBef>
                <a:spcPts val="0"/>
              </a:spcBef>
              <a:spcAft>
                <a:spcPts val="0"/>
              </a:spcAft>
              <a:buSzPts val="1500"/>
              <a:buNone/>
            </a:pPr>
            <a:r>
              <a:t/>
            </a:r>
            <a:endParaRPr sz="1500"/>
          </a:p>
        </p:txBody>
      </p:sp>
      <p:sp>
        <p:nvSpPr>
          <p:cNvPr id="1012" name="Google Shape;1012;p118"/>
          <p:cNvSpPr txBox="1"/>
          <p:nvPr>
            <p:ph type="title"/>
          </p:nvPr>
        </p:nvSpPr>
        <p:spPr>
          <a:xfrm>
            <a:off x="226000" y="826825"/>
            <a:ext cx="586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Åtgärder vid första hjälpen L-ABCDE</a:t>
            </a:r>
            <a:endParaRPr/>
          </a:p>
        </p:txBody>
      </p:sp>
      <p:pic>
        <p:nvPicPr>
          <p:cNvPr id="1013" name="Google Shape;1013;p118"/>
          <p:cNvPicPr preferRelativeResize="0"/>
          <p:nvPr/>
        </p:nvPicPr>
        <p:blipFill rotWithShape="1">
          <a:blip r:embed="rId3">
            <a:alphaModFix/>
          </a:blip>
          <a:srcRect b="0" l="0" r="0" t="0"/>
          <a:stretch/>
        </p:blipFill>
        <p:spPr>
          <a:xfrm>
            <a:off x="6445775" y="1597974"/>
            <a:ext cx="2514600" cy="2705100"/>
          </a:xfrm>
          <a:prstGeom prst="rect">
            <a:avLst/>
          </a:prstGeom>
          <a:noFill/>
          <a:ln>
            <a:noFill/>
          </a:ln>
        </p:spPr>
      </p:pic>
      <p:sp>
        <p:nvSpPr>
          <p:cNvPr id="1014" name="Google Shape;1014;p118"/>
          <p:cNvSpPr txBox="1"/>
          <p:nvPr/>
        </p:nvSpPr>
        <p:spPr>
          <a:xfrm>
            <a:off x="242175" y="2818525"/>
            <a:ext cx="6146100" cy="11040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15000"/>
              </a:lnSpc>
              <a:spcBef>
                <a:spcPts val="0"/>
              </a:spcBef>
              <a:spcAft>
                <a:spcPts val="0"/>
              </a:spcAft>
              <a:buClr>
                <a:schemeClr val="dk1"/>
              </a:buClr>
              <a:buSzPts val="1700"/>
              <a:buFont typeface="Arial"/>
              <a:buChar char="●"/>
            </a:pPr>
            <a:r>
              <a:rPr b="1" i="0" lang="sv" sz="1700" u="none" cap="none" strike="noStrike">
                <a:solidFill>
                  <a:schemeClr val="dk1"/>
                </a:solidFill>
                <a:latin typeface="Arial"/>
                <a:ea typeface="Arial"/>
                <a:cs typeface="Arial"/>
                <a:sym typeface="Arial"/>
              </a:rPr>
              <a:t>Undersök</a:t>
            </a:r>
            <a:r>
              <a:rPr b="0" i="0" lang="sv" sz="1700" u="none" cap="none" strike="noStrike">
                <a:solidFill>
                  <a:schemeClr val="dk1"/>
                </a:solidFill>
                <a:latin typeface="Arial"/>
                <a:ea typeface="Arial"/>
                <a:cs typeface="Arial"/>
                <a:sym typeface="Arial"/>
              </a:rPr>
              <a:t> </a:t>
            </a:r>
            <a:r>
              <a:rPr b="1" i="0" lang="sv" sz="1700" u="none" cap="none" strike="noStrike">
                <a:solidFill>
                  <a:schemeClr val="dk1"/>
                </a:solidFill>
                <a:latin typeface="Arial"/>
                <a:ea typeface="Arial"/>
                <a:cs typeface="Arial"/>
                <a:sym typeface="Arial"/>
              </a:rPr>
              <a:t>hela personen</a:t>
            </a:r>
            <a:r>
              <a:rPr b="0" i="0" lang="sv" sz="1700" u="none" cap="none" strike="noStrike">
                <a:solidFill>
                  <a:schemeClr val="dk1"/>
                </a:solidFill>
                <a:latin typeface="Arial"/>
                <a:ea typeface="Arial"/>
                <a:cs typeface="Arial"/>
                <a:sym typeface="Arial"/>
              </a:rPr>
              <a:t> för att finna andra eventuella skador som tex. benbrott, sårskador eller brännskador. </a:t>
            </a:r>
            <a:endParaRPr b="0" i="0" sz="17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1015" name="Google Shape;1015;p118"/>
          <p:cNvSpPr txBox="1"/>
          <p:nvPr/>
        </p:nvSpPr>
        <p:spPr>
          <a:xfrm>
            <a:off x="242175" y="3618325"/>
            <a:ext cx="6146100" cy="13953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15000"/>
              </a:lnSpc>
              <a:spcBef>
                <a:spcPts val="0"/>
              </a:spcBef>
              <a:spcAft>
                <a:spcPts val="0"/>
              </a:spcAft>
              <a:buClr>
                <a:schemeClr val="dk1"/>
              </a:buClr>
              <a:buSzPts val="1700"/>
              <a:buFont typeface="Arial"/>
              <a:buChar char="●"/>
            </a:pPr>
            <a:r>
              <a:rPr b="1" i="0" lang="sv" sz="1700" u="none" cap="none" strike="noStrike">
                <a:solidFill>
                  <a:schemeClr val="dk1"/>
                </a:solidFill>
                <a:latin typeface="Arial"/>
                <a:ea typeface="Arial"/>
                <a:cs typeface="Arial"/>
                <a:sym typeface="Arial"/>
              </a:rPr>
              <a:t>Skydda personen</a:t>
            </a:r>
            <a:r>
              <a:rPr b="0" i="0" lang="sv" sz="1700" u="none" cap="none" strike="noStrike">
                <a:solidFill>
                  <a:schemeClr val="dk1"/>
                </a:solidFill>
                <a:latin typeface="Arial"/>
                <a:ea typeface="Arial"/>
                <a:cs typeface="Arial"/>
                <a:sym typeface="Arial"/>
              </a:rPr>
              <a:t> mot skadlig exponering såsom: Brandrök, nedkylning, andra farliga ämnen, fotografering från 3:e part etc.</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19"/>
          <p:cNvSpPr txBox="1"/>
          <p:nvPr>
            <p:ph type="title"/>
          </p:nvPr>
        </p:nvSpPr>
        <p:spPr>
          <a:xfrm>
            <a:off x="226000" y="773025"/>
            <a:ext cx="586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Chock och nedkylning</a:t>
            </a:r>
            <a:endParaRPr/>
          </a:p>
        </p:txBody>
      </p:sp>
      <p:sp>
        <p:nvSpPr>
          <p:cNvPr id="1021" name="Google Shape;1021;p119"/>
          <p:cNvSpPr txBox="1"/>
          <p:nvPr/>
        </p:nvSpPr>
        <p:spPr>
          <a:xfrm>
            <a:off x="226000" y="1195075"/>
            <a:ext cx="2925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Tecken på chock:</a:t>
            </a:r>
            <a:endParaRPr b="1" i="0" sz="2000" u="none" cap="none" strike="noStrike">
              <a:solidFill>
                <a:schemeClr val="dk2"/>
              </a:solidFill>
              <a:latin typeface="Arial"/>
              <a:ea typeface="Arial"/>
              <a:cs typeface="Arial"/>
              <a:sym typeface="Arial"/>
            </a:endParaRPr>
          </a:p>
        </p:txBody>
      </p:sp>
      <p:sp>
        <p:nvSpPr>
          <p:cNvPr id="1022" name="Google Shape;1022;p119"/>
          <p:cNvSpPr txBox="1"/>
          <p:nvPr/>
        </p:nvSpPr>
        <p:spPr>
          <a:xfrm>
            <a:off x="151075" y="1529213"/>
            <a:ext cx="4516200" cy="572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Blek, kall och kallsvettig hud</a:t>
            </a:r>
            <a:endParaRPr b="0" i="0" sz="2000" u="none" cap="none" strike="noStrike">
              <a:solidFill>
                <a:schemeClr val="dk2"/>
              </a:solidFill>
              <a:latin typeface="Arial"/>
              <a:ea typeface="Arial"/>
              <a:cs typeface="Arial"/>
              <a:sym typeface="Arial"/>
            </a:endParaRPr>
          </a:p>
        </p:txBody>
      </p:sp>
      <p:sp>
        <p:nvSpPr>
          <p:cNvPr id="1023" name="Google Shape;1023;p119"/>
          <p:cNvSpPr txBox="1"/>
          <p:nvPr/>
        </p:nvSpPr>
        <p:spPr>
          <a:xfrm>
            <a:off x="151075" y="1887250"/>
            <a:ext cx="4516200" cy="572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Snabb puls och ytlig andning</a:t>
            </a:r>
            <a:endParaRPr b="0" i="0" sz="2000" u="none" cap="none" strike="noStrike">
              <a:solidFill>
                <a:schemeClr val="dk2"/>
              </a:solidFill>
              <a:latin typeface="Arial"/>
              <a:ea typeface="Arial"/>
              <a:cs typeface="Arial"/>
              <a:sym typeface="Arial"/>
            </a:endParaRPr>
          </a:p>
        </p:txBody>
      </p:sp>
      <p:sp>
        <p:nvSpPr>
          <p:cNvPr id="1024" name="Google Shape;1024;p119"/>
          <p:cNvSpPr txBox="1"/>
          <p:nvPr/>
        </p:nvSpPr>
        <p:spPr>
          <a:xfrm>
            <a:off x="151075" y="2285425"/>
            <a:ext cx="5685000" cy="572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0" i="0" lang="sv" sz="2000" u="none" cap="none" strike="noStrike">
                <a:solidFill>
                  <a:schemeClr val="dk2"/>
                </a:solidFill>
                <a:latin typeface="Arial"/>
                <a:ea typeface="Arial"/>
                <a:cs typeface="Arial"/>
                <a:sym typeface="Arial"/>
              </a:rPr>
              <a:t>Oro, förvirring eller medvetandepåverkan</a:t>
            </a:r>
            <a:endParaRPr b="0" i="0" sz="2000" u="none" cap="none" strike="noStrike">
              <a:solidFill>
                <a:schemeClr val="dk2"/>
              </a:solidFill>
              <a:latin typeface="Arial"/>
              <a:ea typeface="Arial"/>
              <a:cs typeface="Arial"/>
              <a:sym typeface="Arial"/>
            </a:endParaRPr>
          </a:p>
        </p:txBody>
      </p:sp>
      <p:sp>
        <p:nvSpPr>
          <p:cNvPr id="1025" name="Google Shape;1025;p119"/>
          <p:cNvSpPr txBox="1"/>
          <p:nvPr/>
        </p:nvSpPr>
        <p:spPr>
          <a:xfrm>
            <a:off x="226000" y="2701375"/>
            <a:ext cx="2925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Åtgärder vid chock:</a:t>
            </a:r>
            <a:endParaRPr b="1" i="0" sz="2000" u="none" cap="none" strike="noStrike">
              <a:solidFill>
                <a:schemeClr val="dk2"/>
              </a:solidFill>
              <a:latin typeface="Arial"/>
              <a:ea typeface="Arial"/>
              <a:cs typeface="Arial"/>
              <a:sym typeface="Arial"/>
            </a:endParaRPr>
          </a:p>
        </p:txBody>
      </p:sp>
      <p:sp>
        <p:nvSpPr>
          <p:cNvPr id="1026" name="Google Shape;1026;p119"/>
          <p:cNvSpPr txBox="1"/>
          <p:nvPr/>
        </p:nvSpPr>
        <p:spPr>
          <a:xfrm>
            <a:off x="151075" y="3119550"/>
            <a:ext cx="8705100" cy="817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Lägg den skadade ner </a:t>
            </a:r>
            <a:r>
              <a:rPr b="0" i="0" lang="sv" sz="2000" u="none" cap="none" strike="noStrike">
                <a:solidFill>
                  <a:schemeClr val="dk2"/>
                </a:solidFill>
                <a:latin typeface="Arial"/>
                <a:ea typeface="Arial"/>
                <a:cs typeface="Arial"/>
                <a:sym typeface="Arial"/>
              </a:rPr>
              <a:t>- gärna med benen något höjda om det inte finns exempelvis rygg- eller nackskador</a:t>
            </a:r>
            <a:endParaRPr b="0" i="0" sz="2000" u="none" cap="none" strike="noStrike">
              <a:solidFill>
                <a:schemeClr val="dk2"/>
              </a:solidFill>
              <a:latin typeface="Arial"/>
              <a:ea typeface="Arial"/>
              <a:cs typeface="Arial"/>
              <a:sym typeface="Arial"/>
            </a:endParaRPr>
          </a:p>
        </p:txBody>
      </p:sp>
      <p:sp>
        <p:nvSpPr>
          <p:cNvPr id="1027" name="Google Shape;1027;p119"/>
          <p:cNvSpPr txBox="1"/>
          <p:nvPr/>
        </p:nvSpPr>
        <p:spPr>
          <a:xfrm>
            <a:off x="279775" y="3873525"/>
            <a:ext cx="81156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chemeClr val="dk2"/>
                </a:solidFill>
                <a:latin typeface="Arial"/>
                <a:ea typeface="Arial"/>
                <a:cs typeface="Arial"/>
                <a:sym typeface="Arial"/>
              </a:rPr>
              <a:t>Högläge av benen förbättrar blodcirkulationen genom att mer blod rinner tillbaka till hjärtat</a:t>
            </a:r>
            <a:endParaRPr b="1"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2"/>
              </a:solidFill>
              <a:latin typeface="Arial"/>
              <a:ea typeface="Arial"/>
              <a:cs typeface="Arial"/>
              <a:sym typeface="Arial"/>
            </a:endParaRPr>
          </a:p>
          <a:p>
            <a:pPr indent="-298450" lvl="0" marL="457200" marR="0" rtl="0" algn="l">
              <a:lnSpc>
                <a:spcPct val="100000"/>
              </a:lnSpc>
              <a:spcBef>
                <a:spcPts val="0"/>
              </a:spcBef>
              <a:spcAft>
                <a:spcPts val="0"/>
              </a:spcAft>
              <a:buClr>
                <a:schemeClr val="dk2"/>
              </a:buClr>
              <a:buSzPts val="1100"/>
              <a:buFont typeface="Arial"/>
              <a:buChar char="●"/>
            </a:pPr>
            <a:r>
              <a:rPr b="0" i="0" lang="sv" sz="1100" u="none" cap="none" strike="noStrike">
                <a:solidFill>
                  <a:schemeClr val="dk2"/>
                </a:solidFill>
                <a:latin typeface="Arial"/>
                <a:ea typeface="Arial"/>
                <a:cs typeface="Arial"/>
                <a:sym typeface="Arial"/>
              </a:rPr>
              <a:t>Det höjer blodtrycket, förbättrar syresättningen till hjärnan och kan bromsa utvecklingen av chock.</a:t>
            </a:r>
            <a:endParaRPr b="0" i="0" sz="1100" u="none" cap="none" strike="noStrike">
              <a:solidFill>
                <a:schemeClr val="dk2"/>
              </a:solidFill>
              <a:latin typeface="Arial"/>
              <a:ea typeface="Arial"/>
              <a:cs typeface="Arial"/>
              <a:sym typeface="Arial"/>
            </a:endParaRPr>
          </a:p>
          <a:p>
            <a:pPr indent="-298450" lvl="0" marL="457200" marR="0" rtl="0" algn="l">
              <a:lnSpc>
                <a:spcPct val="100000"/>
              </a:lnSpc>
              <a:spcBef>
                <a:spcPts val="0"/>
              </a:spcBef>
              <a:spcAft>
                <a:spcPts val="0"/>
              </a:spcAft>
              <a:buClr>
                <a:schemeClr val="dk2"/>
              </a:buClr>
              <a:buSzPts val="1100"/>
              <a:buFont typeface="Arial"/>
              <a:buChar char="●"/>
            </a:pPr>
            <a:r>
              <a:rPr b="0" i="0" lang="sv" sz="1100" u="none" cap="none" strike="noStrike">
                <a:solidFill>
                  <a:schemeClr val="dk2"/>
                </a:solidFill>
                <a:latin typeface="Arial"/>
                <a:ea typeface="Arial"/>
                <a:cs typeface="Arial"/>
                <a:sym typeface="Arial"/>
              </a:rPr>
              <a:t>Används vid cirkulationssvikt </a:t>
            </a:r>
            <a:r>
              <a:rPr b="1" i="1" lang="sv" sz="1100" u="none" cap="none" strike="noStrike">
                <a:solidFill>
                  <a:schemeClr val="dk2"/>
                </a:solidFill>
                <a:latin typeface="Arial"/>
                <a:ea typeface="Arial"/>
                <a:cs typeface="Arial"/>
                <a:sym typeface="Arial"/>
              </a:rPr>
              <a:t>om det inte finns skador som talar emot</a:t>
            </a:r>
            <a:r>
              <a:rPr b="1" i="0" lang="sv" sz="1100" u="none" cap="none" strike="noStrike">
                <a:solidFill>
                  <a:schemeClr val="dk2"/>
                </a:solidFill>
                <a:latin typeface="Arial"/>
                <a:ea typeface="Arial"/>
                <a:cs typeface="Arial"/>
                <a:sym typeface="Arial"/>
              </a:rPr>
              <a:t>.</a:t>
            </a:r>
            <a:endParaRPr b="1" i="0" sz="14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20"/>
          <p:cNvSpPr txBox="1"/>
          <p:nvPr>
            <p:ph type="title"/>
          </p:nvPr>
        </p:nvSpPr>
        <p:spPr>
          <a:xfrm>
            <a:off x="226000" y="826825"/>
            <a:ext cx="8121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0033"/>
              <a:buNone/>
            </a:pPr>
            <a:r>
              <a:rPr lang="sv" sz="2777"/>
              <a:t>Åtgärder vid chock och nedkylning forts.</a:t>
            </a:r>
            <a:endParaRPr/>
          </a:p>
        </p:txBody>
      </p:sp>
      <p:sp>
        <p:nvSpPr>
          <p:cNvPr id="1033" name="Google Shape;1033;p120"/>
          <p:cNvSpPr txBox="1"/>
          <p:nvPr/>
        </p:nvSpPr>
        <p:spPr>
          <a:xfrm>
            <a:off x="151075" y="1345425"/>
            <a:ext cx="9321900" cy="572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Håll den skadade varm</a:t>
            </a:r>
            <a:r>
              <a:rPr b="0" i="0" lang="sv" sz="2000" u="none" cap="none" strike="noStrike">
                <a:solidFill>
                  <a:schemeClr val="dk2"/>
                </a:solidFill>
                <a:latin typeface="Arial"/>
                <a:ea typeface="Arial"/>
                <a:cs typeface="Arial"/>
                <a:sym typeface="Arial"/>
              </a:rPr>
              <a:t> - använd kläder, filtar eller räddningsfolie</a:t>
            </a:r>
            <a:endParaRPr b="0" i="0" sz="2000" u="none" cap="none" strike="noStrike">
              <a:solidFill>
                <a:schemeClr val="dk2"/>
              </a:solidFill>
              <a:latin typeface="Arial"/>
              <a:ea typeface="Arial"/>
              <a:cs typeface="Arial"/>
              <a:sym typeface="Arial"/>
            </a:endParaRPr>
          </a:p>
        </p:txBody>
      </p:sp>
      <p:sp>
        <p:nvSpPr>
          <p:cNvPr id="1034" name="Google Shape;1034;p120"/>
          <p:cNvSpPr txBox="1"/>
          <p:nvPr/>
        </p:nvSpPr>
        <p:spPr>
          <a:xfrm>
            <a:off x="151075" y="1795000"/>
            <a:ext cx="6031500" cy="572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LARMA 112 </a:t>
            </a:r>
            <a:r>
              <a:rPr b="0" i="0" lang="sv" sz="2000" u="none" cap="none" strike="noStrike">
                <a:solidFill>
                  <a:schemeClr val="dk2"/>
                </a:solidFill>
                <a:latin typeface="Arial"/>
                <a:ea typeface="Arial"/>
                <a:cs typeface="Arial"/>
                <a:sym typeface="Arial"/>
              </a:rPr>
              <a:t>- och övervaka tillståndet</a:t>
            </a:r>
            <a:endParaRPr b="0" i="0" sz="2000" u="none" cap="none" strike="noStrike">
              <a:solidFill>
                <a:schemeClr val="dk2"/>
              </a:solidFill>
              <a:latin typeface="Arial"/>
              <a:ea typeface="Arial"/>
              <a:cs typeface="Arial"/>
              <a:sym typeface="Arial"/>
            </a:endParaRPr>
          </a:p>
        </p:txBody>
      </p:sp>
      <p:sp>
        <p:nvSpPr>
          <p:cNvPr id="1035" name="Google Shape;1035;p120"/>
          <p:cNvSpPr txBox="1"/>
          <p:nvPr/>
        </p:nvSpPr>
        <p:spPr>
          <a:xfrm>
            <a:off x="-260225" y="2285400"/>
            <a:ext cx="5685000" cy="5727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000"/>
              <a:buFont typeface="Arial"/>
              <a:buNone/>
            </a:pPr>
            <a:r>
              <a:rPr b="1" i="0" lang="sv" sz="2000" u="none" cap="none" strike="noStrike">
                <a:solidFill>
                  <a:schemeClr val="dk2"/>
                </a:solidFill>
                <a:latin typeface="Arial"/>
                <a:ea typeface="Arial"/>
                <a:cs typeface="Arial"/>
                <a:sym typeface="Arial"/>
              </a:rPr>
              <a:t>Vikten av att förhindra nedkylning:</a:t>
            </a:r>
            <a:endParaRPr b="1" i="0" sz="2000" u="none" cap="none" strike="noStrike">
              <a:solidFill>
                <a:schemeClr val="dk2"/>
              </a:solidFill>
              <a:latin typeface="Arial"/>
              <a:ea typeface="Arial"/>
              <a:cs typeface="Arial"/>
              <a:sym typeface="Arial"/>
            </a:endParaRPr>
          </a:p>
        </p:txBody>
      </p:sp>
      <p:sp>
        <p:nvSpPr>
          <p:cNvPr id="1036" name="Google Shape;1036;p120"/>
          <p:cNvSpPr txBox="1"/>
          <p:nvPr/>
        </p:nvSpPr>
        <p:spPr>
          <a:xfrm>
            <a:off x="151075" y="2763175"/>
            <a:ext cx="4007400" cy="11310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Nedkylning </a:t>
            </a:r>
            <a:r>
              <a:rPr b="0" i="0" lang="sv" sz="2000" u="none" cap="none" strike="noStrike">
                <a:solidFill>
                  <a:schemeClr val="dk2"/>
                </a:solidFill>
                <a:latin typeface="Arial"/>
                <a:ea typeface="Arial"/>
                <a:cs typeface="Arial"/>
                <a:sym typeface="Arial"/>
              </a:rPr>
              <a:t>(hypotermi) försämrar kroppens förmåga </a:t>
            </a:r>
            <a:br>
              <a:rPr b="0" i="0" lang="sv" sz="2000" u="none" cap="none" strike="noStrike">
                <a:solidFill>
                  <a:schemeClr val="dk2"/>
                </a:solidFill>
                <a:latin typeface="Arial"/>
                <a:ea typeface="Arial"/>
                <a:cs typeface="Arial"/>
                <a:sym typeface="Arial"/>
              </a:rPr>
            </a:br>
            <a:r>
              <a:rPr b="0" i="0" lang="sv" sz="2000" u="none" cap="none" strike="noStrike">
                <a:solidFill>
                  <a:schemeClr val="dk2"/>
                </a:solidFill>
                <a:latin typeface="Arial"/>
                <a:ea typeface="Arial"/>
                <a:cs typeface="Arial"/>
                <a:sym typeface="Arial"/>
              </a:rPr>
              <a:t>att klara av skador och chock</a:t>
            </a:r>
            <a:endParaRPr b="0" i="0" sz="2000" u="none" cap="none" strike="noStrike">
              <a:solidFill>
                <a:schemeClr val="dk2"/>
              </a:solidFill>
              <a:latin typeface="Arial"/>
              <a:ea typeface="Arial"/>
              <a:cs typeface="Arial"/>
              <a:sym typeface="Arial"/>
            </a:endParaRPr>
          </a:p>
        </p:txBody>
      </p:sp>
      <p:sp>
        <p:nvSpPr>
          <p:cNvPr id="1037" name="Google Shape;1037;p120"/>
          <p:cNvSpPr txBox="1"/>
          <p:nvPr/>
        </p:nvSpPr>
        <p:spPr>
          <a:xfrm>
            <a:off x="4572000" y="2763175"/>
            <a:ext cx="4682400" cy="1039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Vid minusgrader: </a:t>
            </a:r>
            <a:r>
              <a:rPr b="0" i="0" lang="sv" sz="2000" u="none" cap="none" strike="noStrike">
                <a:solidFill>
                  <a:schemeClr val="dk2"/>
                </a:solidFill>
                <a:latin typeface="Arial"/>
                <a:ea typeface="Arial"/>
                <a:cs typeface="Arial"/>
                <a:sym typeface="Arial"/>
              </a:rPr>
              <a:t>Isolera den skadade från marken och skydda mot vind</a:t>
            </a:r>
            <a:endParaRPr b="0" i="0" sz="2000" u="none" cap="none" strike="noStrike">
              <a:solidFill>
                <a:schemeClr val="dk2"/>
              </a:solidFill>
              <a:latin typeface="Arial"/>
              <a:ea typeface="Arial"/>
              <a:cs typeface="Arial"/>
              <a:sym typeface="Arial"/>
            </a:endParaRPr>
          </a:p>
        </p:txBody>
      </p:sp>
      <p:sp>
        <p:nvSpPr>
          <p:cNvPr id="1038" name="Google Shape;1038;p120"/>
          <p:cNvSpPr txBox="1"/>
          <p:nvPr/>
        </p:nvSpPr>
        <p:spPr>
          <a:xfrm>
            <a:off x="151075" y="3802975"/>
            <a:ext cx="5111100" cy="1277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Vid genomblöta kläder: </a:t>
            </a:r>
            <a:r>
              <a:rPr b="0" i="0" lang="sv" sz="2000" u="none" cap="none" strike="noStrike">
                <a:solidFill>
                  <a:schemeClr val="dk2"/>
                </a:solidFill>
                <a:latin typeface="Arial"/>
                <a:ea typeface="Arial"/>
                <a:cs typeface="Arial"/>
                <a:sym typeface="Arial"/>
              </a:rPr>
              <a:t>Försök</a:t>
            </a:r>
            <a:br>
              <a:rPr b="0" i="0" lang="sv" sz="2000" u="none" cap="none" strike="noStrike">
                <a:solidFill>
                  <a:schemeClr val="dk2"/>
                </a:solidFill>
                <a:latin typeface="Arial"/>
                <a:ea typeface="Arial"/>
                <a:cs typeface="Arial"/>
                <a:sym typeface="Arial"/>
              </a:rPr>
            </a:br>
            <a:r>
              <a:rPr b="0" i="0" lang="sv" sz="2000" u="none" cap="none" strike="noStrike">
                <a:solidFill>
                  <a:schemeClr val="dk2"/>
                </a:solidFill>
                <a:latin typeface="Arial"/>
                <a:ea typeface="Arial"/>
                <a:cs typeface="Arial"/>
                <a:sym typeface="Arial"/>
              </a:rPr>
              <a:t>byta till torra kläder eller svep in i värmeisolerande material (foliefilt)</a:t>
            </a:r>
            <a:endParaRPr b="0" i="0" sz="2000" u="none" cap="none" strike="noStrike">
              <a:solidFill>
                <a:schemeClr val="dk2"/>
              </a:solidFill>
              <a:latin typeface="Arial"/>
              <a:ea typeface="Arial"/>
              <a:cs typeface="Arial"/>
              <a:sym typeface="Arial"/>
            </a:endParaRPr>
          </a:p>
        </p:txBody>
      </p:sp>
      <p:sp>
        <p:nvSpPr>
          <p:cNvPr id="1039" name="Google Shape;1039;p120"/>
          <p:cNvSpPr txBox="1"/>
          <p:nvPr/>
        </p:nvSpPr>
        <p:spPr>
          <a:xfrm>
            <a:off x="4572000" y="3802975"/>
            <a:ext cx="4682400" cy="1039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2"/>
              </a:buClr>
              <a:buSzPts val="2000"/>
              <a:buFont typeface="Arial"/>
              <a:buChar char="●"/>
            </a:pPr>
            <a:r>
              <a:rPr b="1" i="0" lang="sv" sz="2000" u="none" cap="none" strike="noStrike">
                <a:solidFill>
                  <a:schemeClr val="dk2"/>
                </a:solidFill>
                <a:latin typeface="Arial"/>
                <a:ea typeface="Arial"/>
                <a:cs typeface="Arial"/>
                <a:sym typeface="Arial"/>
              </a:rPr>
              <a:t>Om medvetslös: </a:t>
            </a:r>
            <a:r>
              <a:rPr b="0" i="0" lang="sv" sz="2000" u="none" cap="none" strike="noStrike">
                <a:solidFill>
                  <a:schemeClr val="dk2"/>
                </a:solidFill>
                <a:latin typeface="Arial"/>
                <a:ea typeface="Arial"/>
                <a:cs typeface="Arial"/>
                <a:sym typeface="Arial"/>
              </a:rPr>
              <a:t>Kontrollera andning och lägg i stabilt sidoläge</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21"/>
          <p:cNvSpPr txBox="1"/>
          <p:nvPr>
            <p:ph type="title"/>
          </p:nvPr>
        </p:nvSpPr>
        <p:spPr>
          <a:xfrm>
            <a:off x="267475" y="856775"/>
            <a:ext cx="3501300" cy="50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sv" sz="2500"/>
              <a:t> När hjälpen anländer</a:t>
            </a:r>
            <a:endParaRPr sz="2500"/>
          </a:p>
        </p:txBody>
      </p:sp>
      <p:sp>
        <p:nvSpPr>
          <p:cNvPr id="1045" name="Google Shape;1045;p121"/>
          <p:cNvSpPr txBox="1"/>
          <p:nvPr>
            <p:ph idx="1" type="body"/>
          </p:nvPr>
        </p:nvSpPr>
        <p:spPr>
          <a:xfrm>
            <a:off x="66675" y="1411875"/>
            <a:ext cx="9077100" cy="703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sv" sz="2000"/>
              <a:t>Vid olyckor nära samhällen:</a:t>
            </a:r>
            <a:r>
              <a:rPr lang="sv" sz="1400"/>
              <a:t> </a:t>
            </a:r>
            <a:r>
              <a:rPr b="0" lang="sv" sz="1700"/>
              <a:t>Räddningstjänst och ambulans anländer ofta först</a:t>
            </a:r>
            <a:endParaRPr b="0" sz="1700"/>
          </a:p>
          <a:p>
            <a:pPr indent="0" lvl="0" marL="457200" rtl="0" algn="l">
              <a:lnSpc>
                <a:spcPct val="115000"/>
              </a:lnSpc>
              <a:spcBef>
                <a:spcPts val="0"/>
              </a:spcBef>
              <a:spcAft>
                <a:spcPts val="0"/>
              </a:spcAft>
              <a:buSzPts val="1800"/>
              <a:buNone/>
            </a:pPr>
            <a:r>
              <a:t/>
            </a:r>
            <a:endParaRPr/>
          </a:p>
          <a:p>
            <a:pPr indent="0" lvl="0" marL="141499" rtl="0" algn="l">
              <a:lnSpc>
                <a:spcPct val="115000"/>
              </a:lnSpc>
              <a:spcBef>
                <a:spcPts val="0"/>
              </a:spcBef>
              <a:spcAft>
                <a:spcPts val="0"/>
              </a:spcAft>
              <a:buSzPts val="1400"/>
              <a:buNone/>
            </a:pPr>
            <a:r>
              <a:t/>
            </a:r>
            <a:endParaRPr sz="1400"/>
          </a:p>
        </p:txBody>
      </p:sp>
      <p:pic>
        <p:nvPicPr>
          <p:cNvPr id="1046" name="Google Shape;1046;p121"/>
          <p:cNvPicPr preferRelativeResize="0"/>
          <p:nvPr/>
        </p:nvPicPr>
        <p:blipFill rotWithShape="1">
          <a:blip r:embed="rId3">
            <a:alphaModFix/>
          </a:blip>
          <a:srcRect b="2619" l="0" r="0" t="12885"/>
          <a:stretch/>
        </p:blipFill>
        <p:spPr>
          <a:xfrm>
            <a:off x="0" y="3071126"/>
            <a:ext cx="9144000" cy="2047450"/>
          </a:xfrm>
          <a:prstGeom prst="rect">
            <a:avLst/>
          </a:prstGeom>
          <a:noFill/>
          <a:ln>
            <a:noFill/>
          </a:ln>
        </p:spPr>
      </p:pic>
      <p:pic>
        <p:nvPicPr>
          <p:cNvPr id="1047" name="Google Shape;1047;p121"/>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1048" name="Google Shape;1048;p121"/>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
        <p:nvSpPr>
          <p:cNvPr id="1049" name="Google Shape;1049;p121"/>
          <p:cNvSpPr txBox="1"/>
          <p:nvPr>
            <p:ph idx="1" type="body"/>
          </p:nvPr>
        </p:nvSpPr>
        <p:spPr>
          <a:xfrm>
            <a:off x="66675" y="1900425"/>
            <a:ext cx="9077100" cy="1095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sv" sz="2000"/>
              <a:t>I fjällmiljö:</a:t>
            </a:r>
            <a:r>
              <a:rPr lang="sv" sz="1400"/>
              <a:t> </a:t>
            </a:r>
            <a:r>
              <a:rPr b="0" lang="sv" sz="1700"/>
              <a:t>Fjällräddningen kan ha lång framkörningstid, men är en fantastisk resurs att ha tillgång till, när olyckan har skett långt från farbar väg. Ambulanshelikopter kan användas om vädret så tillåter</a:t>
            </a:r>
            <a:endParaRPr b="0" sz="1700"/>
          </a:p>
          <a:p>
            <a:pPr indent="0" lvl="0" marL="457200" rtl="0" algn="l">
              <a:lnSpc>
                <a:spcPct val="115000"/>
              </a:lnSpc>
              <a:spcBef>
                <a:spcPts val="0"/>
              </a:spcBef>
              <a:spcAft>
                <a:spcPts val="0"/>
              </a:spcAft>
              <a:buSzPts val="1800"/>
              <a:buNone/>
            </a:pPr>
            <a:r>
              <a:t/>
            </a:r>
            <a:endParaRPr/>
          </a:p>
          <a:p>
            <a:pPr indent="0" lvl="0" marL="141499" rtl="0" algn="l">
              <a:lnSpc>
                <a:spcPct val="115000"/>
              </a:lnSpc>
              <a:spcBef>
                <a:spcPts val="0"/>
              </a:spcBef>
              <a:spcAft>
                <a:spcPts val="0"/>
              </a:spcAft>
              <a:buSzPts val="1400"/>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pic>
        <p:nvPicPr>
          <p:cNvPr id="1054" name="Google Shape;1054;p122" title="Hur fungerar fjällräddningen">
            <a:hlinkClick r:id="rId3"/>
          </p:cNvPr>
          <p:cNvPicPr preferRelativeResize="0"/>
          <p:nvPr/>
        </p:nvPicPr>
        <p:blipFill rotWithShape="1">
          <a:blip r:embed="rId4">
            <a:alphaModFix/>
          </a:blip>
          <a:srcRect b="0" l="0" r="0" t="0"/>
          <a:stretch/>
        </p:blipFill>
        <p:spPr>
          <a:xfrm>
            <a:off x="0" y="5"/>
            <a:ext cx="9144000" cy="51434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1000"/>
                                        <p:tgtEl>
                                          <p:spTgt spid="10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pic>
        <p:nvPicPr>
          <p:cNvPr id="1059" name="Google Shape;1059;p123"/>
          <p:cNvPicPr preferRelativeResize="0"/>
          <p:nvPr/>
        </p:nvPicPr>
        <p:blipFill rotWithShape="1">
          <a:blip r:embed="rId3">
            <a:alphaModFix/>
          </a:blip>
          <a:srcRect b="0" l="0" r="0" t="0"/>
          <a:stretch/>
        </p:blipFill>
        <p:spPr>
          <a:xfrm>
            <a:off x="457175" y="3134950"/>
            <a:ext cx="2804976" cy="1577776"/>
          </a:xfrm>
          <a:prstGeom prst="rect">
            <a:avLst/>
          </a:prstGeom>
          <a:noFill/>
          <a:ln>
            <a:noFill/>
          </a:ln>
        </p:spPr>
      </p:pic>
      <p:sp>
        <p:nvSpPr>
          <p:cNvPr id="1060" name="Google Shape;1060;p123"/>
          <p:cNvSpPr txBox="1"/>
          <p:nvPr>
            <p:ph type="title"/>
          </p:nvPr>
        </p:nvSpPr>
        <p:spPr>
          <a:xfrm>
            <a:off x="267475" y="856775"/>
            <a:ext cx="4692000" cy="50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sv" sz="2500"/>
              <a:t> 112-appen SOS Alarm</a:t>
            </a:r>
            <a:endParaRPr sz="2500"/>
          </a:p>
        </p:txBody>
      </p:sp>
      <p:pic>
        <p:nvPicPr>
          <p:cNvPr id="1061" name="Google Shape;1061;p123"/>
          <p:cNvPicPr preferRelativeResize="0"/>
          <p:nvPr/>
        </p:nvPicPr>
        <p:blipFill rotWithShape="1">
          <a:blip r:embed="rId4">
            <a:alphaModFix/>
          </a:blip>
          <a:srcRect b="0" l="0" r="0" t="0"/>
          <a:stretch/>
        </p:blipFill>
        <p:spPr>
          <a:xfrm>
            <a:off x="510900" y="1389650"/>
            <a:ext cx="2699550" cy="1796900"/>
          </a:xfrm>
          <a:prstGeom prst="rect">
            <a:avLst/>
          </a:prstGeom>
          <a:noFill/>
          <a:ln>
            <a:noFill/>
          </a:ln>
        </p:spPr>
      </p:pic>
      <p:sp>
        <p:nvSpPr>
          <p:cNvPr id="1062" name="Google Shape;1062;p123"/>
          <p:cNvSpPr txBox="1"/>
          <p:nvPr/>
        </p:nvSpPr>
        <p:spPr>
          <a:xfrm>
            <a:off x="4082725" y="1303075"/>
            <a:ext cx="4957500" cy="233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500"/>
              <a:buFont typeface="Arial"/>
              <a:buNone/>
            </a:pP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Exakt GPS-position</a:t>
            </a:r>
            <a:r>
              <a:rPr b="0" i="0" lang="sv" sz="1500" u="none" cap="none" strike="noStrike">
                <a:solidFill>
                  <a:srgbClr val="000000"/>
                </a:solidFill>
                <a:latin typeface="Arial"/>
                <a:ea typeface="Arial"/>
                <a:cs typeface="Arial"/>
                <a:sym typeface="Arial"/>
              </a:rPr>
              <a:t> vid larmsamtal</a:t>
            </a:r>
            <a:br>
              <a:rPr b="0"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Snabbare räddningsinsats</a:t>
            </a:r>
            <a:br>
              <a:rPr b="1"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Meddelanden &amp; varningar vid olyckor</a:t>
            </a:r>
            <a:br>
              <a:rPr b="1"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Chattfunktion om du inte kan prata</a:t>
            </a:r>
            <a:br>
              <a:rPr b="1"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Tyst larm vid hotfulla situationer</a:t>
            </a:r>
            <a:br>
              <a:rPr b="1"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Visar närmaste hjärtstartare</a:t>
            </a:r>
            <a:br>
              <a:rPr b="1"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Aktuella kris- och vädervarningar</a:t>
            </a:r>
            <a:br>
              <a:rPr b="1" i="0" lang="sv" sz="1500" u="none" cap="none" strike="noStrike">
                <a:solidFill>
                  <a:srgbClr val="000000"/>
                </a:solidFill>
                <a:latin typeface="Arial"/>
                <a:ea typeface="Arial"/>
                <a:cs typeface="Arial"/>
                <a:sym typeface="Arial"/>
              </a:rPr>
            </a:br>
            <a:r>
              <a:rPr b="0" i="0" lang="sv" sz="1500" u="none" cap="none" strike="noStrike">
                <a:solidFill>
                  <a:srgbClr val="000000"/>
                </a:solidFill>
                <a:latin typeface="Arial"/>
                <a:ea typeface="Arial"/>
                <a:cs typeface="Arial"/>
                <a:sym typeface="Arial"/>
              </a:rPr>
              <a:t>✅ </a:t>
            </a:r>
            <a:r>
              <a:rPr b="1" i="0" lang="sv" sz="1500" u="none" cap="none" strike="noStrike">
                <a:solidFill>
                  <a:srgbClr val="000000"/>
                </a:solidFill>
                <a:latin typeface="Arial"/>
                <a:ea typeface="Arial"/>
                <a:cs typeface="Arial"/>
                <a:sym typeface="Arial"/>
              </a:rPr>
              <a:t>Perfekt för fjällräddning och friluftsliv</a:t>
            </a:r>
            <a:endParaRPr b="1" i="0" sz="15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1063" name="Google Shape;1063;p123"/>
          <p:cNvSpPr txBox="1"/>
          <p:nvPr/>
        </p:nvSpPr>
        <p:spPr>
          <a:xfrm>
            <a:off x="4088275" y="3641275"/>
            <a:ext cx="4946400" cy="963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500"/>
              <a:buFont typeface="Arial"/>
              <a:buNone/>
            </a:pPr>
            <a:r>
              <a:rPr b="0" i="0" lang="sv" sz="1500" u="none" cap="none" strike="noStrike">
                <a:solidFill>
                  <a:srgbClr val="000000"/>
                </a:solidFill>
                <a:latin typeface="Arial"/>
                <a:ea typeface="Arial"/>
                <a:cs typeface="Arial"/>
                <a:sym typeface="Arial"/>
              </a:rPr>
              <a:t>Att ha </a:t>
            </a:r>
            <a:r>
              <a:rPr b="1" i="0" lang="sv" sz="1500" u="none" cap="none" strike="noStrike">
                <a:solidFill>
                  <a:srgbClr val="000000"/>
                </a:solidFill>
                <a:latin typeface="Arial"/>
                <a:ea typeface="Arial"/>
                <a:cs typeface="Arial"/>
                <a:sym typeface="Arial"/>
              </a:rPr>
              <a:t>SOS Alarm 112-appen</a:t>
            </a:r>
            <a:r>
              <a:rPr b="0" i="0" lang="sv" sz="1500" u="none" cap="none" strike="noStrike">
                <a:solidFill>
                  <a:srgbClr val="000000"/>
                </a:solidFill>
                <a:latin typeface="Arial"/>
                <a:ea typeface="Arial"/>
                <a:cs typeface="Arial"/>
                <a:sym typeface="Arial"/>
              </a:rPr>
              <a:t> kan alltså vara en </a:t>
            </a:r>
            <a:r>
              <a:rPr b="1" i="0" lang="sv" sz="1500" u="none" cap="none" strike="noStrike">
                <a:solidFill>
                  <a:srgbClr val="000000"/>
                </a:solidFill>
                <a:latin typeface="Arial"/>
                <a:ea typeface="Arial"/>
                <a:cs typeface="Arial"/>
                <a:sym typeface="Arial"/>
              </a:rPr>
              <a:t>livräddare</a:t>
            </a:r>
            <a:r>
              <a:rPr b="0" i="0" lang="sv" sz="1500" u="none" cap="none" strike="noStrike">
                <a:solidFill>
                  <a:srgbClr val="000000"/>
                </a:solidFill>
                <a:latin typeface="Arial"/>
                <a:ea typeface="Arial"/>
                <a:cs typeface="Arial"/>
                <a:sym typeface="Arial"/>
              </a:rPr>
              <a:t> i en nödsituation, särskilt vid skoterolyckor där positionering är avgörande. </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pic>
        <p:nvPicPr>
          <p:cNvPr id="1068" name="Google Shape;1068;p124"/>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1069" name="Google Shape;1069;p1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0"/>
              </a:spcAft>
              <a:buSzPts val="2800"/>
              <a:buNone/>
            </a:pPr>
            <a:r>
              <a:rPr lang="sv"/>
              <a:t>PERSONLIGA FÖRUTSÄTTNINGAR</a:t>
            </a:r>
            <a:endParaRPr/>
          </a:p>
        </p:txBody>
      </p:sp>
      <p:cxnSp>
        <p:nvCxnSpPr>
          <p:cNvPr id="1070" name="Google Shape;1070;p124"/>
          <p:cNvCxnSpPr/>
          <p:nvPr/>
        </p:nvCxnSpPr>
        <p:spPr>
          <a:xfrm>
            <a:off x="916475" y="3012900"/>
            <a:ext cx="7373700" cy="0"/>
          </a:xfrm>
          <a:prstGeom prst="straightConnector1">
            <a:avLst/>
          </a:prstGeom>
          <a:noFill/>
          <a:ln cap="flat" cmpd="sng" w="19050">
            <a:solidFill>
              <a:srgbClr val="999999"/>
            </a:solidFill>
            <a:prstDash val="solid"/>
            <a:round/>
            <a:headEnd len="med" w="med" type="diamond"/>
            <a:tailEnd len="med" w="med" type="diamond"/>
          </a:ln>
        </p:spPr>
      </p:cxnSp>
      <p:sp>
        <p:nvSpPr>
          <p:cNvPr id="1071" name="Google Shape;1071;p124"/>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5" name="Shape 1075"/>
        <p:cNvGrpSpPr/>
        <p:nvPr/>
      </p:nvGrpSpPr>
      <p:grpSpPr>
        <a:xfrm>
          <a:off x="0" y="0"/>
          <a:ext cx="0" cy="0"/>
          <a:chOff x="0" y="0"/>
          <a:chExt cx="0" cy="0"/>
        </a:xfrm>
      </p:grpSpPr>
      <p:pic>
        <p:nvPicPr>
          <p:cNvPr id="1076" name="Google Shape;1076;p125"/>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1077" name="Google Shape;1077;p125"/>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1078" name="Google Shape;1078;p125"/>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Påvisa människans ofullkomlighet. Ge deltagaren ökad självkännedom samt hur man motverkar självöverskattning. Betona att en god snöskoterförare kännetecknas av personlig mognad som visar hänsyn för människor, djur och natur samt visar stor respekt för miljön.</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2" name="Shape 1082"/>
        <p:cNvGrpSpPr/>
        <p:nvPr/>
      </p:nvGrpSpPr>
      <p:grpSpPr>
        <a:xfrm>
          <a:off x="0" y="0"/>
          <a:ext cx="0" cy="0"/>
          <a:chOff x="0" y="0"/>
          <a:chExt cx="0" cy="0"/>
        </a:xfrm>
      </p:grpSpPr>
      <p:pic>
        <p:nvPicPr>
          <p:cNvPr id="1083" name="Google Shape;1083;p126"/>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1084" name="Google Shape;1084;p126"/>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Målet är uppnått när eleven kan redogöra för:</a:t>
            </a:r>
            <a:endParaRPr/>
          </a:p>
        </p:txBody>
      </p:sp>
      <p:sp>
        <p:nvSpPr>
          <p:cNvPr id="1085" name="Google Shape;1085;p126"/>
          <p:cNvSpPr txBox="1"/>
          <p:nvPr>
            <p:ph idx="1" type="body"/>
          </p:nvPr>
        </p:nvSpPr>
        <p:spPr>
          <a:xfrm>
            <a:off x="703375" y="1640425"/>
            <a:ext cx="77637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t>faktorer som påverkar beteendet, social påverkan och grupptryck.</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127"/>
          <p:cNvSpPr txBox="1"/>
          <p:nvPr>
            <p:ph type="title"/>
          </p:nvPr>
        </p:nvSpPr>
        <p:spPr>
          <a:xfrm>
            <a:off x="2545800" y="783175"/>
            <a:ext cx="4052400" cy="4755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En fungerande motorik</a:t>
            </a:r>
            <a:endParaRPr/>
          </a:p>
        </p:txBody>
      </p:sp>
      <p:pic>
        <p:nvPicPr>
          <p:cNvPr id="1091" name="Google Shape;1091;p127" title="ChatGPT Image 29 okt. 2025 17_20_10.png"/>
          <p:cNvPicPr preferRelativeResize="0"/>
          <p:nvPr/>
        </p:nvPicPr>
        <p:blipFill rotWithShape="1">
          <a:blip r:embed="rId3">
            <a:alphaModFix/>
          </a:blip>
          <a:srcRect b="0" l="0" r="0" t="0"/>
          <a:stretch/>
        </p:blipFill>
        <p:spPr>
          <a:xfrm>
            <a:off x="2854375" y="1314975"/>
            <a:ext cx="3435251" cy="3435251"/>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pic>
        <p:nvPicPr>
          <p:cNvPr id="1096" name="Google Shape;1096;p128"/>
          <p:cNvPicPr preferRelativeResize="0"/>
          <p:nvPr/>
        </p:nvPicPr>
        <p:blipFill rotWithShape="1">
          <a:blip r:embed="rId3">
            <a:alphaModFix/>
          </a:blip>
          <a:srcRect b="0" l="0" r="0" t="2969"/>
          <a:stretch/>
        </p:blipFill>
        <p:spPr>
          <a:xfrm>
            <a:off x="152400" y="885250"/>
            <a:ext cx="8839199" cy="38654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pic>
        <p:nvPicPr>
          <p:cNvPr id="1101" name="Google Shape;1101;p129"/>
          <p:cNvPicPr preferRelativeResize="0"/>
          <p:nvPr/>
        </p:nvPicPr>
        <p:blipFill rotWithShape="1">
          <a:blip r:embed="rId3">
            <a:alphaModFix/>
          </a:blip>
          <a:srcRect b="2597" l="0" r="0" t="3619"/>
          <a:stretch/>
        </p:blipFill>
        <p:spPr>
          <a:xfrm>
            <a:off x="2594225" y="881950"/>
            <a:ext cx="3955551" cy="3877501"/>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pic>
        <p:nvPicPr>
          <p:cNvPr id="1106" name="Google Shape;1106;p130"/>
          <p:cNvPicPr preferRelativeResize="0"/>
          <p:nvPr/>
        </p:nvPicPr>
        <p:blipFill rotWithShape="1">
          <a:blip r:embed="rId3">
            <a:alphaModFix/>
          </a:blip>
          <a:srcRect b="0" l="0" r="0" t="0"/>
          <a:stretch/>
        </p:blipFill>
        <p:spPr>
          <a:xfrm>
            <a:off x="2088925" y="801925"/>
            <a:ext cx="4966150" cy="396795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31"/>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Att skjutsa på snöskoter med passagerare</a:t>
            </a:r>
            <a:endParaRPr/>
          </a:p>
        </p:txBody>
      </p:sp>
      <p:pic>
        <p:nvPicPr>
          <p:cNvPr id="1112" name="Google Shape;1112;p131"/>
          <p:cNvPicPr preferRelativeResize="0"/>
          <p:nvPr/>
        </p:nvPicPr>
        <p:blipFill rotWithShape="1">
          <a:blip r:embed="rId3">
            <a:alphaModFix/>
          </a:blip>
          <a:srcRect b="0" l="0" r="0" t="0"/>
          <a:stretch/>
        </p:blipFill>
        <p:spPr>
          <a:xfrm>
            <a:off x="6119750" y="2231038"/>
            <a:ext cx="2888531" cy="1906775"/>
          </a:xfrm>
          <a:prstGeom prst="rect">
            <a:avLst/>
          </a:prstGeom>
          <a:noFill/>
          <a:ln>
            <a:noFill/>
          </a:ln>
        </p:spPr>
      </p:pic>
      <p:pic>
        <p:nvPicPr>
          <p:cNvPr id="1113" name="Google Shape;1113;p131"/>
          <p:cNvPicPr preferRelativeResize="0"/>
          <p:nvPr/>
        </p:nvPicPr>
        <p:blipFill rotWithShape="1">
          <a:blip r:embed="rId4">
            <a:alphaModFix/>
          </a:blip>
          <a:srcRect b="6469" l="0" r="0" t="6460"/>
          <a:stretch/>
        </p:blipFill>
        <p:spPr>
          <a:xfrm>
            <a:off x="132375" y="2260226"/>
            <a:ext cx="2836675" cy="1848400"/>
          </a:xfrm>
          <a:prstGeom prst="rect">
            <a:avLst/>
          </a:prstGeom>
          <a:noFill/>
          <a:ln>
            <a:noFill/>
          </a:ln>
        </p:spPr>
      </p:pic>
      <p:sp>
        <p:nvSpPr>
          <p:cNvPr id="1114" name="Google Shape;1114;p131"/>
          <p:cNvSpPr txBox="1"/>
          <p:nvPr/>
        </p:nvSpPr>
        <p:spPr>
          <a:xfrm>
            <a:off x="1513650" y="1505675"/>
            <a:ext cx="6116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Hur påverkas köregenskaperna &amp; vad bör vi tänka på?</a:t>
            </a:r>
            <a:endParaRPr b="0" i="0" sz="2000" u="none" cap="none" strike="noStrike">
              <a:solidFill>
                <a:schemeClr val="dk2"/>
              </a:solidFill>
              <a:latin typeface="Arial"/>
              <a:ea typeface="Arial"/>
              <a:cs typeface="Arial"/>
              <a:sym typeface="Arial"/>
            </a:endParaRPr>
          </a:p>
        </p:txBody>
      </p:sp>
      <p:sp>
        <p:nvSpPr>
          <p:cNvPr id="1115" name="Google Shape;1115;p131"/>
          <p:cNvSpPr txBox="1"/>
          <p:nvPr/>
        </p:nvSpPr>
        <p:spPr>
          <a:xfrm>
            <a:off x="3100200" y="2260225"/>
            <a:ext cx="28884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Tyngdpunkten förändras</a:t>
            </a:r>
            <a:endParaRPr b="0" i="0" sz="2000" u="none" cap="none" strike="noStrike">
              <a:solidFill>
                <a:schemeClr val="dk2"/>
              </a:solidFill>
              <a:latin typeface="Arial"/>
              <a:ea typeface="Arial"/>
              <a:cs typeface="Arial"/>
              <a:sym typeface="Arial"/>
            </a:endParaRPr>
          </a:p>
        </p:txBody>
      </p:sp>
      <p:sp>
        <p:nvSpPr>
          <p:cNvPr id="1116" name="Google Shape;1116;p131"/>
          <p:cNvSpPr txBox="1"/>
          <p:nvPr/>
        </p:nvSpPr>
        <p:spPr>
          <a:xfrm>
            <a:off x="3100200" y="2698525"/>
            <a:ext cx="28884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Längre bromssträcka</a:t>
            </a:r>
            <a:endParaRPr b="0" i="0" sz="2000" u="none" cap="none" strike="noStrike">
              <a:solidFill>
                <a:schemeClr val="dk2"/>
              </a:solidFill>
              <a:latin typeface="Arial"/>
              <a:ea typeface="Arial"/>
              <a:cs typeface="Arial"/>
              <a:sym typeface="Arial"/>
            </a:endParaRPr>
          </a:p>
        </p:txBody>
      </p:sp>
      <p:sp>
        <p:nvSpPr>
          <p:cNvPr id="1117" name="Google Shape;1117;p131"/>
          <p:cNvSpPr txBox="1"/>
          <p:nvPr/>
        </p:nvSpPr>
        <p:spPr>
          <a:xfrm>
            <a:off x="3100200" y="3136825"/>
            <a:ext cx="2888400" cy="1069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Justera dämpare &amp; fjädring för den ökade belastningen</a:t>
            </a:r>
            <a:endParaRPr b="0" i="0" sz="2000" u="none" cap="none" strike="noStrike">
              <a:solidFill>
                <a:schemeClr val="dk2"/>
              </a:solidFill>
              <a:latin typeface="Arial"/>
              <a:ea typeface="Arial"/>
              <a:cs typeface="Arial"/>
              <a:sym typeface="Arial"/>
            </a:endParaRPr>
          </a:p>
        </p:txBody>
      </p:sp>
      <p:sp>
        <p:nvSpPr>
          <p:cNvPr id="1118" name="Google Shape;1118;p131"/>
          <p:cNvSpPr txBox="1"/>
          <p:nvPr/>
        </p:nvSpPr>
        <p:spPr>
          <a:xfrm>
            <a:off x="3127800" y="4108625"/>
            <a:ext cx="2888400" cy="72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sv" sz="1800" u="none" cap="none" strike="noStrike">
                <a:solidFill>
                  <a:schemeClr val="dk1"/>
                </a:solidFill>
                <a:latin typeface="Arial"/>
                <a:ea typeface="Arial"/>
                <a:cs typeface="Arial"/>
                <a:sym typeface="Arial"/>
              </a:rPr>
              <a:t>Något annat att tänka på?</a:t>
            </a:r>
            <a:endParaRPr b="0" i="0" sz="2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32"/>
          <p:cNvSpPr txBox="1"/>
          <p:nvPr>
            <p:ph type="title"/>
          </p:nvPr>
        </p:nvSpPr>
        <p:spPr>
          <a:xfrm>
            <a:off x="0" y="84750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Att skjutsa barn på snöskoter</a:t>
            </a:r>
            <a:endParaRPr/>
          </a:p>
        </p:txBody>
      </p:sp>
      <p:sp>
        <p:nvSpPr>
          <p:cNvPr id="1124" name="Google Shape;1124;p132"/>
          <p:cNvSpPr txBox="1"/>
          <p:nvPr/>
        </p:nvSpPr>
        <p:spPr>
          <a:xfrm>
            <a:off x="2874450" y="1350275"/>
            <a:ext cx="33951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sv" sz="1800" u="none" cap="none" strike="noStrike">
                <a:solidFill>
                  <a:srgbClr val="005281"/>
                </a:solidFill>
                <a:latin typeface="Arial"/>
                <a:ea typeface="Arial"/>
                <a:cs typeface="Arial"/>
                <a:sym typeface="Arial"/>
              </a:rPr>
              <a:t>Vad bör vi tänka på?</a:t>
            </a:r>
            <a:endParaRPr b="0" i="0" sz="2000" u="none" cap="none" strike="noStrike">
              <a:solidFill>
                <a:srgbClr val="005281"/>
              </a:solidFill>
              <a:latin typeface="Arial"/>
              <a:ea typeface="Arial"/>
              <a:cs typeface="Arial"/>
              <a:sym typeface="Arial"/>
            </a:endParaRPr>
          </a:p>
        </p:txBody>
      </p:sp>
      <p:pic>
        <p:nvPicPr>
          <p:cNvPr id="1125" name="Google Shape;1125;p132"/>
          <p:cNvPicPr preferRelativeResize="0"/>
          <p:nvPr/>
        </p:nvPicPr>
        <p:blipFill rotWithShape="1">
          <a:blip r:embed="rId3">
            <a:alphaModFix/>
          </a:blip>
          <a:srcRect b="0" l="0" r="0" t="0"/>
          <a:stretch/>
        </p:blipFill>
        <p:spPr>
          <a:xfrm>
            <a:off x="1150553" y="2164325"/>
            <a:ext cx="2609974" cy="2566250"/>
          </a:xfrm>
          <a:prstGeom prst="rect">
            <a:avLst/>
          </a:prstGeom>
          <a:noFill/>
          <a:ln>
            <a:noFill/>
          </a:ln>
        </p:spPr>
      </p:pic>
      <p:pic>
        <p:nvPicPr>
          <p:cNvPr id="1126" name="Google Shape;1126;p132"/>
          <p:cNvPicPr preferRelativeResize="0"/>
          <p:nvPr/>
        </p:nvPicPr>
        <p:blipFill rotWithShape="1">
          <a:blip r:embed="rId4">
            <a:alphaModFix/>
          </a:blip>
          <a:srcRect b="0" l="0" r="0" t="0"/>
          <a:stretch/>
        </p:blipFill>
        <p:spPr>
          <a:xfrm>
            <a:off x="5379775" y="2164325"/>
            <a:ext cx="2571096" cy="2566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33"/>
          <p:cNvSpPr txBox="1"/>
          <p:nvPr>
            <p:ph type="title"/>
          </p:nvPr>
        </p:nvSpPr>
        <p:spPr>
          <a:xfrm>
            <a:off x="0" y="7805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Personligheter i snöskotertrafiken</a:t>
            </a:r>
            <a:endParaRPr/>
          </a:p>
        </p:txBody>
      </p:sp>
      <p:sp>
        <p:nvSpPr>
          <p:cNvPr id="1132" name="Google Shape;1132;p133"/>
          <p:cNvSpPr txBox="1"/>
          <p:nvPr/>
        </p:nvSpPr>
        <p:spPr>
          <a:xfrm>
            <a:off x="186475" y="1353275"/>
            <a:ext cx="16317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Impulsivitet</a:t>
            </a:r>
            <a:endParaRPr b="1" i="0" sz="2000" u="none" cap="none" strike="noStrike">
              <a:solidFill>
                <a:schemeClr val="accent1"/>
              </a:solidFill>
              <a:latin typeface="Arial"/>
              <a:ea typeface="Arial"/>
              <a:cs typeface="Arial"/>
              <a:sym typeface="Arial"/>
            </a:endParaRPr>
          </a:p>
        </p:txBody>
      </p:sp>
      <p:sp>
        <p:nvSpPr>
          <p:cNvPr id="1133" name="Google Shape;1133;p133"/>
          <p:cNvSpPr txBox="1"/>
          <p:nvPr/>
        </p:nvSpPr>
        <p:spPr>
          <a:xfrm>
            <a:off x="186475" y="1849900"/>
            <a:ext cx="17094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sv" sz="2000" u="none" cap="none" strike="noStrike">
                <a:solidFill>
                  <a:schemeClr val="accent1"/>
                </a:solidFill>
                <a:latin typeface="Arial"/>
                <a:ea typeface="Arial"/>
                <a:cs typeface="Arial"/>
                <a:sym typeface="Arial"/>
              </a:rPr>
              <a:t>Bortförklaring</a:t>
            </a:r>
            <a:endParaRPr b="0" i="0" sz="2000" u="none" cap="none" strike="noStrike">
              <a:solidFill>
                <a:schemeClr val="accent1"/>
              </a:solidFill>
              <a:latin typeface="Arial"/>
              <a:ea typeface="Arial"/>
              <a:cs typeface="Arial"/>
              <a:sym typeface="Arial"/>
            </a:endParaRPr>
          </a:p>
        </p:txBody>
      </p:sp>
      <p:sp>
        <p:nvSpPr>
          <p:cNvPr id="1134" name="Google Shape;1134;p133"/>
          <p:cNvSpPr txBox="1"/>
          <p:nvPr/>
        </p:nvSpPr>
        <p:spPr>
          <a:xfrm>
            <a:off x="186475" y="2346525"/>
            <a:ext cx="18957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Bortträngning</a:t>
            </a:r>
            <a:endParaRPr b="1" i="0" sz="2000" u="none" cap="none" strike="noStrike">
              <a:solidFill>
                <a:schemeClr val="accent1"/>
              </a:solidFill>
              <a:latin typeface="Arial"/>
              <a:ea typeface="Arial"/>
              <a:cs typeface="Arial"/>
              <a:sym typeface="Arial"/>
            </a:endParaRPr>
          </a:p>
        </p:txBody>
      </p:sp>
      <p:sp>
        <p:nvSpPr>
          <p:cNvPr id="1135" name="Google Shape;1135;p133"/>
          <p:cNvSpPr txBox="1"/>
          <p:nvPr/>
        </p:nvSpPr>
        <p:spPr>
          <a:xfrm>
            <a:off x="186475" y="2848875"/>
            <a:ext cx="222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sv" sz="2000" u="none" cap="none" strike="noStrike">
                <a:solidFill>
                  <a:schemeClr val="accent1"/>
                </a:solidFill>
                <a:latin typeface="Arial"/>
                <a:ea typeface="Arial"/>
                <a:cs typeface="Arial"/>
                <a:sym typeface="Arial"/>
              </a:rPr>
              <a:t>Reaktionsbildning</a:t>
            </a:r>
            <a:endParaRPr b="0" i="0" sz="2000" u="none" cap="none" strike="noStrike">
              <a:solidFill>
                <a:schemeClr val="accent1"/>
              </a:solidFill>
              <a:latin typeface="Arial"/>
              <a:ea typeface="Arial"/>
              <a:cs typeface="Arial"/>
              <a:sym typeface="Arial"/>
            </a:endParaRPr>
          </a:p>
        </p:txBody>
      </p:sp>
      <p:sp>
        <p:nvSpPr>
          <p:cNvPr id="1136" name="Google Shape;1136;p133"/>
          <p:cNvSpPr txBox="1"/>
          <p:nvPr/>
        </p:nvSpPr>
        <p:spPr>
          <a:xfrm>
            <a:off x="186475" y="3339775"/>
            <a:ext cx="18957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Självhävdelse</a:t>
            </a:r>
            <a:endParaRPr b="1" i="0" sz="2000" u="none" cap="none" strike="noStrike">
              <a:solidFill>
                <a:schemeClr val="accent1"/>
              </a:solidFill>
              <a:latin typeface="Arial"/>
              <a:ea typeface="Arial"/>
              <a:cs typeface="Arial"/>
              <a:sym typeface="Arial"/>
            </a:endParaRPr>
          </a:p>
        </p:txBody>
      </p:sp>
      <p:sp>
        <p:nvSpPr>
          <p:cNvPr id="1137" name="Google Shape;1137;p133"/>
          <p:cNvSpPr txBox="1"/>
          <p:nvPr/>
        </p:nvSpPr>
        <p:spPr>
          <a:xfrm>
            <a:off x="171450" y="3830675"/>
            <a:ext cx="21678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sv" sz="2000" u="none" cap="none" strike="noStrike">
                <a:solidFill>
                  <a:schemeClr val="accent1"/>
                </a:solidFill>
                <a:latin typeface="Arial"/>
                <a:ea typeface="Arial"/>
                <a:cs typeface="Arial"/>
                <a:sym typeface="Arial"/>
              </a:rPr>
              <a:t>Prestigetänkande</a:t>
            </a:r>
            <a:endParaRPr b="0" i="0" sz="2000" u="none" cap="none" strike="noStrike">
              <a:solidFill>
                <a:schemeClr val="accent1"/>
              </a:solidFill>
              <a:latin typeface="Arial"/>
              <a:ea typeface="Arial"/>
              <a:cs typeface="Arial"/>
              <a:sym typeface="Arial"/>
            </a:endParaRPr>
          </a:p>
        </p:txBody>
      </p:sp>
      <p:sp>
        <p:nvSpPr>
          <p:cNvPr id="1138" name="Google Shape;1138;p133"/>
          <p:cNvSpPr txBox="1"/>
          <p:nvPr/>
        </p:nvSpPr>
        <p:spPr>
          <a:xfrm>
            <a:off x="152400" y="4321575"/>
            <a:ext cx="978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Stress</a:t>
            </a:r>
            <a:endParaRPr b="1" i="0" sz="2000" u="none" cap="none" strike="noStrike">
              <a:solidFill>
                <a:schemeClr val="accent1"/>
              </a:solidFill>
              <a:latin typeface="Arial"/>
              <a:ea typeface="Arial"/>
              <a:cs typeface="Arial"/>
              <a:sym typeface="Arial"/>
            </a:endParaRPr>
          </a:p>
        </p:txBody>
      </p:sp>
      <p:sp>
        <p:nvSpPr>
          <p:cNvPr id="1139" name="Google Shape;1139;p133"/>
          <p:cNvSpPr txBox="1"/>
          <p:nvPr/>
        </p:nvSpPr>
        <p:spPr>
          <a:xfrm>
            <a:off x="2524550" y="1423200"/>
            <a:ext cx="27225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Reagerar snabbt utan att tänka sig för</a:t>
            </a:r>
            <a:endParaRPr b="1" i="0" sz="1100" u="none" cap="none" strike="noStrike">
              <a:solidFill>
                <a:schemeClr val="accent1"/>
              </a:solidFill>
              <a:latin typeface="Arial"/>
              <a:ea typeface="Arial"/>
              <a:cs typeface="Arial"/>
              <a:sym typeface="Arial"/>
            </a:endParaRPr>
          </a:p>
        </p:txBody>
      </p:sp>
      <p:sp>
        <p:nvSpPr>
          <p:cNvPr id="1140" name="Google Shape;1140;p133"/>
          <p:cNvSpPr txBox="1"/>
          <p:nvPr/>
        </p:nvSpPr>
        <p:spPr>
          <a:xfrm>
            <a:off x="2524550" y="1927013"/>
            <a:ext cx="222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accent1"/>
                </a:solidFill>
                <a:latin typeface="Arial"/>
                <a:ea typeface="Arial"/>
                <a:cs typeface="Arial"/>
                <a:sym typeface="Arial"/>
              </a:rPr>
              <a:t>Erkänner inte sina misstag</a:t>
            </a:r>
            <a:endParaRPr b="0" i="0" sz="1100" u="none" cap="none" strike="noStrike">
              <a:solidFill>
                <a:schemeClr val="accent1"/>
              </a:solidFill>
              <a:latin typeface="Arial"/>
              <a:ea typeface="Arial"/>
              <a:cs typeface="Arial"/>
              <a:sym typeface="Arial"/>
            </a:endParaRPr>
          </a:p>
        </p:txBody>
      </p:sp>
      <p:sp>
        <p:nvSpPr>
          <p:cNvPr id="1141" name="Google Shape;1141;p133"/>
          <p:cNvSpPr txBox="1"/>
          <p:nvPr/>
        </p:nvSpPr>
        <p:spPr>
          <a:xfrm>
            <a:off x="2524550" y="2430813"/>
            <a:ext cx="222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Förtränger obehag</a:t>
            </a:r>
            <a:endParaRPr b="1" i="0" sz="1100" u="none" cap="none" strike="noStrike">
              <a:solidFill>
                <a:schemeClr val="accent1"/>
              </a:solidFill>
              <a:latin typeface="Arial"/>
              <a:ea typeface="Arial"/>
              <a:cs typeface="Arial"/>
              <a:sym typeface="Arial"/>
            </a:endParaRPr>
          </a:p>
        </p:txBody>
      </p:sp>
      <p:sp>
        <p:nvSpPr>
          <p:cNvPr id="1142" name="Google Shape;1142;p133"/>
          <p:cNvSpPr txBox="1"/>
          <p:nvPr/>
        </p:nvSpPr>
        <p:spPr>
          <a:xfrm>
            <a:off x="2524550" y="2897075"/>
            <a:ext cx="222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accent1"/>
                </a:solidFill>
                <a:latin typeface="Arial"/>
                <a:ea typeface="Arial"/>
                <a:cs typeface="Arial"/>
                <a:sym typeface="Arial"/>
              </a:rPr>
              <a:t>Handlar tvärtemot</a:t>
            </a:r>
            <a:endParaRPr b="0" i="0" sz="1100" u="none" cap="none" strike="noStrike">
              <a:solidFill>
                <a:schemeClr val="accent1"/>
              </a:solidFill>
              <a:latin typeface="Arial"/>
              <a:ea typeface="Arial"/>
              <a:cs typeface="Arial"/>
              <a:sym typeface="Arial"/>
            </a:endParaRPr>
          </a:p>
        </p:txBody>
      </p:sp>
      <p:sp>
        <p:nvSpPr>
          <p:cNvPr id="1143" name="Google Shape;1143;p133"/>
          <p:cNvSpPr txBox="1"/>
          <p:nvPr/>
        </p:nvSpPr>
        <p:spPr>
          <a:xfrm>
            <a:off x="2524550" y="3414575"/>
            <a:ext cx="222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Accepterar inte att andra styr</a:t>
            </a:r>
            <a:endParaRPr b="1" i="0" sz="1100" u="none" cap="none" strike="noStrike">
              <a:solidFill>
                <a:schemeClr val="accent1"/>
              </a:solidFill>
              <a:latin typeface="Arial"/>
              <a:ea typeface="Arial"/>
              <a:cs typeface="Arial"/>
              <a:sym typeface="Arial"/>
            </a:endParaRPr>
          </a:p>
        </p:txBody>
      </p:sp>
      <p:sp>
        <p:nvSpPr>
          <p:cNvPr id="1144" name="Google Shape;1144;p133"/>
          <p:cNvSpPr txBox="1"/>
          <p:nvPr/>
        </p:nvSpPr>
        <p:spPr>
          <a:xfrm>
            <a:off x="2524550" y="3892763"/>
            <a:ext cx="222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accent1"/>
                </a:solidFill>
                <a:latin typeface="Arial"/>
                <a:ea typeface="Arial"/>
                <a:cs typeface="Arial"/>
                <a:sym typeface="Arial"/>
              </a:rPr>
              <a:t>Kan bäst, vet bäst</a:t>
            </a:r>
            <a:endParaRPr b="0" i="0" sz="1100" u="none" cap="none" strike="noStrike">
              <a:solidFill>
                <a:schemeClr val="accent1"/>
              </a:solidFill>
              <a:latin typeface="Arial"/>
              <a:ea typeface="Arial"/>
              <a:cs typeface="Arial"/>
              <a:sym typeface="Arial"/>
            </a:endParaRPr>
          </a:p>
        </p:txBody>
      </p:sp>
      <p:sp>
        <p:nvSpPr>
          <p:cNvPr id="1145" name="Google Shape;1145;p133"/>
          <p:cNvSpPr txBox="1"/>
          <p:nvPr/>
        </p:nvSpPr>
        <p:spPr>
          <a:xfrm>
            <a:off x="2524550" y="4370950"/>
            <a:ext cx="2229900" cy="4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Koncentrationssvårigheter, felbeteenden</a:t>
            </a:r>
            <a:endParaRPr b="1" i="0" sz="1100" u="none" cap="none" strike="noStrike">
              <a:solidFill>
                <a:schemeClr val="accent1"/>
              </a:solidFill>
              <a:latin typeface="Arial"/>
              <a:ea typeface="Arial"/>
              <a:cs typeface="Arial"/>
              <a:sym typeface="Arial"/>
            </a:endParaRPr>
          </a:p>
        </p:txBody>
      </p:sp>
      <p:graphicFrame>
        <p:nvGraphicFramePr>
          <p:cNvPr id="1146" name="Google Shape;1146;p133"/>
          <p:cNvGraphicFramePr/>
          <p:nvPr/>
        </p:nvGraphicFramePr>
        <p:xfrm>
          <a:off x="152400" y="152400"/>
          <a:ext cx="3000000" cy="3000000"/>
        </p:xfrm>
        <a:graphic>
          <a:graphicData uri="http://schemas.openxmlformats.org/drawingml/2006/table">
            <a:tbl>
              <a:tblPr>
                <a:noFill/>
                <a:tableStyleId>{23774B6B-D313-4BBB-818F-FE93282032EB}</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147" name="Google Shape;1147;p133"/>
          <p:cNvSpPr txBox="1"/>
          <p:nvPr/>
        </p:nvSpPr>
        <p:spPr>
          <a:xfrm>
            <a:off x="5266575" y="1423225"/>
            <a:ext cx="3738300" cy="4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“Jag ska bara testa den där backen” eller köra fort över ett isparti utan att ha koll på isens tjocklek.</a:t>
            </a:r>
            <a:endParaRPr b="1" i="0" sz="1100" u="none" cap="none" strike="noStrike">
              <a:solidFill>
                <a:schemeClr val="accent1"/>
              </a:solidFill>
              <a:latin typeface="Arial"/>
              <a:ea typeface="Arial"/>
              <a:cs typeface="Arial"/>
              <a:sym typeface="Arial"/>
            </a:endParaRPr>
          </a:p>
        </p:txBody>
      </p:sp>
      <p:sp>
        <p:nvSpPr>
          <p:cNvPr id="1148" name="Google Shape;1148;p133"/>
          <p:cNvSpPr txBox="1"/>
          <p:nvPr/>
        </p:nvSpPr>
        <p:spPr>
          <a:xfrm>
            <a:off x="5266575" y="1927025"/>
            <a:ext cx="3738300" cy="4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accent1"/>
                </a:solidFill>
                <a:latin typeface="Arial"/>
                <a:ea typeface="Arial"/>
                <a:cs typeface="Arial"/>
                <a:sym typeface="Arial"/>
              </a:rPr>
              <a:t>Skyller på skotern, snön eller kompisen i stället för att reflektera över eget agerande.</a:t>
            </a:r>
            <a:endParaRPr b="0" i="0" sz="1100" u="none" cap="none" strike="noStrike">
              <a:solidFill>
                <a:schemeClr val="accent1"/>
              </a:solidFill>
              <a:latin typeface="Arial"/>
              <a:ea typeface="Arial"/>
              <a:cs typeface="Arial"/>
              <a:sym typeface="Arial"/>
            </a:endParaRPr>
          </a:p>
        </p:txBody>
      </p:sp>
      <p:sp>
        <p:nvSpPr>
          <p:cNvPr id="1149" name="Google Shape;1149;p133"/>
          <p:cNvSpPr txBox="1"/>
          <p:nvPr/>
        </p:nvSpPr>
        <p:spPr>
          <a:xfrm>
            <a:off x="5247075" y="2430825"/>
            <a:ext cx="37773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Ignorerar nära-ögat-situationer i stället för att lära av dem  ”det gick ju bra den här gången”</a:t>
            </a:r>
            <a:endParaRPr b="1" i="0" sz="1100" u="none" cap="none" strike="noStrike">
              <a:solidFill>
                <a:schemeClr val="accent1"/>
              </a:solidFill>
              <a:latin typeface="Arial"/>
              <a:ea typeface="Arial"/>
              <a:cs typeface="Arial"/>
              <a:sym typeface="Arial"/>
            </a:endParaRPr>
          </a:p>
        </p:txBody>
      </p:sp>
      <p:sp>
        <p:nvSpPr>
          <p:cNvPr id="1150" name="Google Shape;1150;p133"/>
          <p:cNvSpPr txBox="1"/>
          <p:nvPr/>
        </p:nvSpPr>
        <p:spPr>
          <a:xfrm>
            <a:off x="5224275" y="2886925"/>
            <a:ext cx="3822900" cy="4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accent1"/>
                </a:solidFill>
                <a:latin typeface="Arial"/>
                <a:ea typeface="Arial"/>
                <a:cs typeface="Arial"/>
                <a:sym typeface="Arial"/>
              </a:rPr>
              <a:t>Blir övermodig när någon säger ”ta det lugnt” – kör ännu hårdare för att visa att man ”kan”</a:t>
            </a:r>
            <a:endParaRPr b="0" i="0" sz="1100" u="none" cap="none" strike="noStrike">
              <a:solidFill>
                <a:schemeClr val="accent1"/>
              </a:solidFill>
              <a:latin typeface="Arial"/>
              <a:ea typeface="Arial"/>
              <a:cs typeface="Arial"/>
              <a:sym typeface="Arial"/>
            </a:endParaRPr>
          </a:p>
        </p:txBody>
      </p:sp>
      <p:sp>
        <p:nvSpPr>
          <p:cNvPr id="1151" name="Google Shape;1151;p133"/>
          <p:cNvSpPr txBox="1"/>
          <p:nvPr/>
        </p:nvSpPr>
        <p:spPr>
          <a:xfrm>
            <a:off x="5224275" y="3414575"/>
            <a:ext cx="3738300" cy="4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Vägrar följa ledare eller gruppens plan, vill köra egen väg i fjällen</a:t>
            </a:r>
            <a:endParaRPr b="1" i="0" sz="1100" u="none" cap="none" strike="noStrike">
              <a:solidFill>
                <a:schemeClr val="accent1"/>
              </a:solidFill>
              <a:latin typeface="Arial"/>
              <a:ea typeface="Arial"/>
              <a:cs typeface="Arial"/>
              <a:sym typeface="Arial"/>
            </a:endParaRPr>
          </a:p>
        </p:txBody>
      </p:sp>
      <p:sp>
        <p:nvSpPr>
          <p:cNvPr id="1152" name="Google Shape;1152;p133"/>
          <p:cNvSpPr txBox="1"/>
          <p:nvPr/>
        </p:nvSpPr>
        <p:spPr>
          <a:xfrm>
            <a:off x="5247075" y="3846825"/>
            <a:ext cx="3777300" cy="4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accent1"/>
                </a:solidFill>
                <a:latin typeface="Arial"/>
                <a:ea typeface="Arial"/>
                <a:cs typeface="Arial"/>
                <a:sym typeface="Arial"/>
              </a:rPr>
              <a:t>Vill visa att man är skickligast - tävlar med kompisar, tar onödiga risker</a:t>
            </a:r>
            <a:endParaRPr b="0" i="0" sz="1100" u="none" cap="none" strike="noStrike">
              <a:solidFill>
                <a:schemeClr val="accent1"/>
              </a:solidFill>
              <a:latin typeface="Arial"/>
              <a:ea typeface="Arial"/>
              <a:cs typeface="Arial"/>
              <a:sym typeface="Arial"/>
            </a:endParaRPr>
          </a:p>
        </p:txBody>
      </p:sp>
      <p:sp>
        <p:nvSpPr>
          <p:cNvPr id="1153" name="Google Shape;1153;p133"/>
          <p:cNvSpPr txBox="1"/>
          <p:nvPr/>
        </p:nvSpPr>
        <p:spPr>
          <a:xfrm>
            <a:off x="5266575" y="4350625"/>
            <a:ext cx="3738300" cy="4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accent1"/>
                </a:solidFill>
                <a:latin typeface="Arial"/>
                <a:ea typeface="Arial"/>
                <a:cs typeface="Arial"/>
                <a:sym typeface="Arial"/>
              </a:rPr>
              <a:t>Tappar fokus, glömmer säkerhetsutrustning, tar sämre beslut under press</a:t>
            </a:r>
            <a:endParaRPr b="1" i="0" sz="11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34"/>
          <p:cNvSpPr txBox="1"/>
          <p:nvPr>
            <p:ph idx="1" type="body"/>
          </p:nvPr>
        </p:nvSpPr>
        <p:spPr>
          <a:xfrm>
            <a:off x="1095700" y="865600"/>
            <a:ext cx="1129500" cy="598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sv">
                <a:solidFill>
                  <a:schemeClr val="accent1"/>
                </a:solidFill>
              </a:rPr>
              <a:t>Alkohol</a:t>
            </a:r>
            <a:endParaRPr>
              <a:solidFill>
                <a:schemeClr val="accent1"/>
              </a:solidFill>
            </a:endParaRPr>
          </a:p>
        </p:txBody>
      </p:sp>
      <p:sp>
        <p:nvSpPr>
          <p:cNvPr id="1159" name="Google Shape;1159;p134"/>
          <p:cNvSpPr txBox="1"/>
          <p:nvPr>
            <p:ph idx="1" type="body"/>
          </p:nvPr>
        </p:nvSpPr>
        <p:spPr>
          <a:xfrm>
            <a:off x="3917650" y="865600"/>
            <a:ext cx="1129500" cy="598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sv">
                <a:solidFill>
                  <a:schemeClr val="accent1"/>
                </a:solidFill>
              </a:rPr>
              <a:t>Droger</a:t>
            </a:r>
            <a:endParaRPr>
              <a:solidFill>
                <a:schemeClr val="accent1"/>
              </a:solidFill>
            </a:endParaRPr>
          </a:p>
        </p:txBody>
      </p:sp>
      <p:sp>
        <p:nvSpPr>
          <p:cNvPr id="1160" name="Google Shape;1160;p134"/>
          <p:cNvSpPr txBox="1"/>
          <p:nvPr>
            <p:ph idx="1" type="body"/>
          </p:nvPr>
        </p:nvSpPr>
        <p:spPr>
          <a:xfrm>
            <a:off x="5911463" y="865600"/>
            <a:ext cx="3103500" cy="598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sv">
                <a:solidFill>
                  <a:schemeClr val="accent1"/>
                </a:solidFill>
              </a:rPr>
              <a:t>Mediciner &amp; Läkemedel</a:t>
            </a:r>
            <a:endParaRPr>
              <a:solidFill>
                <a:schemeClr val="accent1"/>
              </a:solidFill>
            </a:endParaRPr>
          </a:p>
        </p:txBody>
      </p:sp>
      <p:pic>
        <p:nvPicPr>
          <p:cNvPr id="1161" name="Google Shape;1161;p134"/>
          <p:cNvPicPr preferRelativeResize="0"/>
          <p:nvPr/>
        </p:nvPicPr>
        <p:blipFill rotWithShape="1">
          <a:blip r:embed="rId3">
            <a:alphaModFix/>
          </a:blip>
          <a:srcRect b="0" l="0" r="0" t="0"/>
          <a:stretch/>
        </p:blipFill>
        <p:spPr>
          <a:xfrm>
            <a:off x="5970912" y="1282725"/>
            <a:ext cx="2860323" cy="1694700"/>
          </a:xfrm>
          <a:prstGeom prst="rect">
            <a:avLst/>
          </a:prstGeom>
          <a:noFill/>
          <a:ln>
            <a:noFill/>
          </a:ln>
        </p:spPr>
      </p:pic>
      <p:pic>
        <p:nvPicPr>
          <p:cNvPr id="1162" name="Google Shape;1162;p134"/>
          <p:cNvPicPr preferRelativeResize="0"/>
          <p:nvPr/>
        </p:nvPicPr>
        <p:blipFill rotWithShape="1">
          <a:blip r:embed="rId4">
            <a:alphaModFix/>
          </a:blip>
          <a:srcRect b="0" l="0" r="0" t="0"/>
          <a:stretch/>
        </p:blipFill>
        <p:spPr>
          <a:xfrm>
            <a:off x="3159987" y="1282728"/>
            <a:ext cx="2644866" cy="1694700"/>
          </a:xfrm>
          <a:prstGeom prst="rect">
            <a:avLst/>
          </a:prstGeom>
          <a:noFill/>
          <a:ln>
            <a:noFill/>
          </a:ln>
        </p:spPr>
      </p:pic>
      <p:pic>
        <p:nvPicPr>
          <p:cNvPr id="1163" name="Google Shape;1163;p134"/>
          <p:cNvPicPr preferRelativeResize="0"/>
          <p:nvPr/>
        </p:nvPicPr>
        <p:blipFill rotWithShape="1">
          <a:blip r:embed="rId5">
            <a:alphaModFix/>
          </a:blip>
          <a:srcRect b="0" l="0" r="0" t="0"/>
          <a:stretch/>
        </p:blipFill>
        <p:spPr>
          <a:xfrm>
            <a:off x="451239" y="1282725"/>
            <a:ext cx="2542674" cy="1694699"/>
          </a:xfrm>
          <a:prstGeom prst="rect">
            <a:avLst/>
          </a:prstGeom>
          <a:noFill/>
          <a:ln>
            <a:noFill/>
          </a:ln>
        </p:spPr>
      </p:pic>
      <p:sp>
        <p:nvSpPr>
          <p:cNvPr id="1164" name="Google Shape;1164;p134"/>
          <p:cNvSpPr txBox="1"/>
          <p:nvPr/>
        </p:nvSpPr>
        <p:spPr>
          <a:xfrm>
            <a:off x="357750" y="2977425"/>
            <a:ext cx="2512200" cy="8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rgbClr val="333333"/>
                </a:solidFill>
                <a:latin typeface="Arial"/>
                <a:ea typeface="Arial"/>
                <a:cs typeface="Arial"/>
                <a:sym typeface="Arial"/>
              </a:rPr>
              <a:t>Redan små mängder alkohol försämrar </a:t>
            </a:r>
            <a:r>
              <a:rPr b="1" i="0" lang="sv" sz="1100" u="none" cap="none" strike="noStrike">
                <a:solidFill>
                  <a:srgbClr val="333333"/>
                </a:solidFill>
                <a:latin typeface="Arial"/>
                <a:ea typeface="Arial"/>
                <a:cs typeface="Arial"/>
                <a:sym typeface="Arial"/>
              </a:rPr>
              <a:t>balans, reaktionsförmåga och omdöme</a:t>
            </a:r>
            <a:r>
              <a:rPr b="0" i="0" lang="sv" sz="1100" u="none" cap="none" strike="noStrike">
                <a:solidFill>
                  <a:srgbClr val="333333"/>
                </a:solidFill>
                <a:latin typeface="Arial"/>
                <a:ea typeface="Arial"/>
                <a:cs typeface="Arial"/>
                <a:sym typeface="Arial"/>
              </a:rPr>
              <a:t> – tre nycklar för säker skoterkörning.</a:t>
            </a:r>
            <a:endParaRPr b="0" i="0" sz="1200" u="none" cap="none" strike="noStrike">
              <a:solidFill>
                <a:srgbClr val="333333"/>
              </a:solidFill>
              <a:latin typeface="Arial"/>
              <a:ea typeface="Arial"/>
              <a:cs typeface="Arial"/>
              <a:sym typeface="Arial"/>
            </a:endParaRPr>
          </a:p>
        </p:txBody>
      </p:sp>
      <p:sp>
        <p:nvSpPr>
          <p:cNvPr id="1165" name="Google Shape;1165;p134"/>
          <p:cNvSpPr txBox="1"/>
          <p:nvPr/>
        </p:nvSpPr>
        <p:spPr>
          <a:xfrm>
            <a:off x="357738" y="3684400"/>
            <a:ext cx="2512200" cy="8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rgbClr val="000000"/>
                </a:solidFill>
                <a:latin typeface="Arial"/>
                <a:ea typeface="Arial"/>
                <a:cs typeface="Arial"/>
                <a:sym typeface="Arial"/>
              </a:rPr>
              <a:t>Alkoholen gör att man </a:t>
            </a:r>
            <a:r>
              <a:rPr b="1" i="0" lang="sv" sz="1100" u="none" cap="none" strike="noStrike">
                <a:solidFill>
                  <a:srgbClr val="000000"/>
                </a:solidFill>
                <a:latin typeface="Arial"/>
                <a:ea typeface="Arial"/>
                <a:cs typeface="Arial"/>
                <a:sym typeface="Arial"/>
              </a:rPr>
              <a:t>underskattar risker</a:t>
            </a:r>
            <a:r>
              <a:rPr b="0" i="0" lang="sv" sz="1100" u="none" cap="none" strike="noStrike">
                <a:solidFill>
                  <a:srgbClr val="000000"/>
                </a:solidFill>
                <a:latin typeface="Arial"/>
                <a:ea typeface="Arial"/>
                <a:cs typeface="Arial"/>
                <a:sym typeface="Arial"/>
              </a:rPr>
              <a:t> och </a:t>
            </a:r>
            <a:r>
              <a:rPr b="1" i="0" lang="sv" sz="1100" u="none" cap="none" strike="noStrike">
                <a:solidFill>
                  <a:srgbClr val="000000"/>
                </a:solidFill>
                <a:latin typeface="Arial"/>
                <a:ea typeface="Arial"/>
                <a:cs typeface="Arial"/>
                <a:sym typeface="Arial"/>
              </a:rPr>
              <a:t>överskattar sin egen förmåga</a:t>
            </a:r>
            <a:r>
              <a:rPr b="0" i="0" lang="sv" sz="1100" u="none" cap="none" strike="noStrike">
                <a:solidFill>
                  <a:srgbClr val="000000"/>
                </a:solidFill>
                <a:latin typeface="Arial"/>
                <a:ea typeface="Arial"/>
                <a:cs typeface="Arial"/>
                <a:sym typeface="Arial"/>
              </a:rPr>
              <a:t> – farligt i terräng där felbeslut snabbt får stora följder.</a:t>
            </a:r>
            <a:endParaRPr b="0" i="0" sz="1200" u="none" cap="none" strike="noStrike">
              <a:solidFill>
                <a:srgbClr val="333333"/>
              </a:solidFill>
              <a:latin typeface="Arial"/>
              <a:ea typeface="Arial"/>
              <a:cs typeface="Arial"/>
              <a:sym typeface="Arial"/>
            </a:endParaRPr>
          </a:p>
        </p:txBody>
      </p:sp>
      <p:sp>
        <p:nvSpPr>
          <p:cNvPr id="1166" name="Google Shape;1166;p134"/>
          <p:cNvSpPr txBox="1"/>
          <p:nvPr/>
        </p:nvSpPr>
        <p:spPr>
          <a:xfrm>
            <a:off x="3115625" y="29774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rgbClr val="000000"/>
                </a:solidFill>
                <a:latin typeface="Arial"/>
                <a:ea typeface="Arial"/>
                <a:cs typeface="Arial"/>
                <a:sym typeface="Arial"/>
              </a:rPr>
              <a:t>Påverkar både </a:t>
            </a:r>
            <a:r>
              <a:rPr b="1" i="0" lang="sv" sz="1100" u="none" cap="none" strike="noStrike">
                <a:solidFill>
                  <a:srgbClr val="000000"/>
                </a:solidFill>
                <a:latin typeface="Arial"/>
                <a:ea typeface="Arial"/>
                <a:cs typeface="Arial"/>
                <a:sym typeface="Arial"/>
              </a:rPr>
              <a:t>koordination, reaktionsförmåga och uppmärksamhet</a:t>
            </a:r>
            <a:r>
              <a:rPr b="0" i="0" lang="sv" sz="11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67" name="Google Shape;1167;p134"/>
          <p:cNvSpPr txBox="1"/>
          <p:nvPr/>
        </p:nvSpPr>
        <p:spPr>
          <a:xfrm>
            <a:off x="3115625" y="3665200"/>
            <a:ext cx="3000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rgbClr val="000000"/>
                </a:solidFill>
                <a:latin typeface="Arial"/>
                <a:ea typeface="Arial"/>
                <a:cs typeface="Arial"/>
                <a:sym typeface="Arial"/>
              </a:rPr>
              <a:t>Flera droger, särskilt cannabis och centralstimulerande, gör att man </a:t>
            </a:r>
            <a:r>
              <a:rPr b="1" i="0" lang="sv" sz="1100" u="none" cap="none" strike="noStrike">
                <a:solidFill>
                  <a:srgbClr val="000000"/>
                </a:solidFill>
                <a:latin typeface="Arial"/>
                <a:ea typeface="Arial"/>
                <a:cs typeface="Arial"/>
                <a:sym typeface="Arial"/>
              </a:rPr>
              <a:t>inte uppfattar hastighet, lutning eller avstånd korrekt</a:t>
            </a:r>
            <a:r>
              <a:rPr b="0" i="0" lang="sv" sz="11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68" name="Google Shape;1168;p134"/>
          <p:cNvSpPr txBox="1"/>
          <p:nvPr/>
        </p:nvSpPr>
        <p:spPr>
          <a:xfrm>
            <a:off x="5901050" y="2977425"/>
            <a:ext cx="3000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rgbClr val="000000"/>
                </a:solidFill>
                <a:latin typeface="Arial"/>
                <a:ea typeface="Arial"/>
                <a:cs typeface="Arial"/>
                <a:sym typeface="Arial"/>
              </a:rPr>
              <a:t>Många vanliga mediciner (t.ex. smärtstillande, hostmedicin, sömntabletter, allergimedicin) kan påverka </a:t>
            </a:r>
            <a:r>
              <a:rPr b="1" i="0" lang="sv" sz="1100" u="none" cap="none" strike="noStrike">
                <a:solidFill>
                  <a:srgbClr val="000000"/>
                </a:solidFill>
                <a:latin typeface="Arial"/>
                <a:ea typeface="Arial"/>
                <a:cs typeface="Arial"/>
                <a:sym typeface="Arial"/>
              </a:rPr>
              <a:t>reaktionstid och koncentration</a:t>
            </a:r>
            <a:r>
              <a:rPr b="0" i="0" lang="sv" sz="11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69" name="Google Shape;1169;p134"/>
          <p:cNvSpPr txBox="1"/>
          <p:nvPr/>
        </p:nvSpPr>
        <p:spPr>
          <a:xfrm>
            <a:off x="5901050" y="3684400"/>
            <a:ext cx="32205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rgbClr val="000000"/>
                </a:solidFill>
                <a:latin typeface="Arial"/>
                <a:ea typeface="Arial"/>
                <a:cs typeface="Arial"/>
                <a:sym typeface="Arial"/>
              </a:rPr>
              <a:t>På vintern, med kyla och mörker, förstärks effekten. Allt ansvar ligger på </a:t>
            </a:r>
            <a:r>
              <a:rPr b="1" i="0" lang="sv" sz="1100" u="none" cap="none" strike="noStrike">
                <a:solidFill>
                  <a:srgbClr val="000000"/>
                </a:solidFill>
                <a:latin typeface="Arial"/>
                <a:ea typeface="Arial"/>
                <a:cs typeface="Arial"/>
                <a:sym typeface="Arial"/>
              </a:rPr>
              <a:t>föraren</a:t>
            </a:r>
            <a:r>
              <a:rPr b="0" i="0" lang="sv" sz="1100" u="none" cap="none" strike="noStrike">
                <a:solidFill>
                  <a:srgbClr val="000000"/>
                </a:solidFill>
                <a:latin typeface="Arial"/>
                <a:ea typeface="Arial"/>
                <a:cs typeface="Arial"/>
                <a:sym typeface="Arial"/>
              </a:rPr>
              <a:t> – det är alltid du som ska veta hur din kropp påverkas.</a:t>
            </a:r>
            <a:endParaRPr b="0" i="0" sz="1100" u="none" cap="none" strike="noStrike">
              <a:solidFill>
                <a:srgbClr val="000000"/>
              </a:solidFill>
              <a:latin typeface="Arial"/>
              <a:ea typeface="Arial"/>
              <a:cs typeface="Arial"/>
              <a:sym typeface="Arial"/>
            </a:endParaRPr>
          </a:p>
        </p:txBody>
      </p:sp>
      <p:sp>
        <p:nvSpPr>
          <p:cNvPr id="1170" name="Google Shape;1170;p134"/>
          <p:cNvSpPr txBox="1"/>
          <p:nvPr/>
        </p:nvSpPr>
        <p:spPr>
          <a:xfrm>
            <a:off x="633300" y="4377100"/>
            <a:ext cx="78774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Tror ni man märker själv när man är för påverkad för att köra?</a:t>
            </a:r>
            <a:endParaRPr b="1" i="0" sz="20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35"/>
          <p:cNvSpPr txBox="1"/>
          <p:nvPr>
            <p:ph type="title"/>
          </p:nvPr>
        </p:nvSpPr>
        <p:spPr>
          <a:xfrm>
            <a:off x="0" y="7805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Alkohol &amp; snöskoteråkning</a:t>
            </a:r>
            <a:endParaRPr/>
          </a:p>
        </p:txBody>
      </p:sp>
      <p:pic>
        <p:nvPicPr>
          <p:cNvPr id="1176" name="Google Shape;1176;p135" title="ChatGPT Image 29 okt. 2025 15_21_53.png"/>
          <p:cNvPicPr preferRelativeResize="0"/>
          <p:nvPr/>
        </p:nvPicPr>
        <p:blipFill rotWithShape="1">
          <a:blip r:embed="rId3">
            <a:alphaModFix/>
          </a:blip>
          <a:srcRect b="0" l="0" r="0" t="0"/>
          <a:stretch/>
        </p:blipFill>
        <p:spPr>
          <a:xfrm>
            <a:off x="176799" y="1454275"/>
            <a:ext cx="2136051" cy="3204077"/>
          </a:xfrm>
          <a:prstGeom prst="rect">
            <a:avLst/>
          </a:prstGeom>
          <a:noFill/>
          <a:ln>
            <a:noFill/>
          </a:ln>
        </p:spPr>
      </p:pic>
      <p:sp>
        <p:nvSpPr>
          <p:cNvPr id="1177" name="Google Shape;1177;p135"/>
          <p:cNvSpPr txBox="1"/>
          <p:nvPr/>
        </p:nvSpPr>
        <p:spPr>
          <a:xfrm>
            <a:off x="2734925" y="1306650"/>
            <a:ext cx="55008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sv" sz="1600" u="none" cap="none" strike="noStrike">
                <a:solidFill>
                  <a:schemeClr val="dk1"/>
                </a:solidFill>
                <a:latin typeface="Arial"/>
                <a:ea typeface="Arial"/>
                <a:cs typeface="Arial"/>
                <a:sym typeface="Arial"/>
              </a:rPr>
              <a:t>Förbränningen kan inte påskyndas</a:t>
            </a:r>
            <a:r>
              <a:rPr b="0" i="0" lang="sv" sz="1600" u="none" cap="none" strike="noStrike">
                <a:solidFill>
                  <a:schemeClr val="dk1"/>
                </a:solidFill>
                <a:latin typeface="Arial"/>
                <a:ea typeface="Arial"/>
                <a:cs typeface="Arial"/>
                <a:sym typeface="Arial"/>
              </a:rPr>
              <a:t> – kroppen bryter ner ungefär 2 cl starksprit per timme.</a:t>
            </a:r>
            <a:endParaRPr b="0" i="0" sz="1600" u="none" cap="none" strike="noStrike">
              <a:solidFill>
                <a:schemeClr val="dk1"/>
              </a:solidFill>
              <a:latin typeface="Arial"/>
              <a:ea typeface="Arial"/>
              <a:cs typeface="Arial"/>
              <a:sym typeface="Arial"/>
            </a:endParaRPr>
          </a:p>
        </p:txBody>
      </p:sp>
      <p:sp>
        <p:nvSpPr>
          <p:cNvPr id="1178" name="Google Shape;1178;p135"/>
          <p:cNvSpPr txBox="1"/>
          <p:nvPr/>
        </p:nvSpPr>
        <p:spPr>
          <a:xfrm>
            <a:off x="2734925" y="2734550"/>
            <a:ext cx="62079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sv" sz="1600" u="none" cap="none" strike="noStrike">
                <a:solidFill>
                  <a:schemeClr val="dk1"/>
                </a:solidFill>
                <a:latin typeface="Arial"/>
                <a:ea typeface="Arial"/>
                <a:cs typeface="Arial"/>
                <a:sym typeface="Arial"/>
              </a:rPr>
              <a:t>Är du påverkad på kvällen finns det </a:t>
            </a:r>
            <a:r>
              <a:rPr b="1" i="0" lang="sv" sz="1600" u="none" cap="none" strike="noStrike">
                <a:solidFill>
                  <a:schemeClr val="dk1"/>
                </a:solidFill>
                <a:latin typeface="Arial"/>
                <a:ea typeface="Arial"/>
                <a:cs typeface="Arial"/>
                <a:sym typeface="Arial"/>
              </a:rPr>
              <a:t>stor risk att du fortfarande har alkohol kvar i blodet på morgonen</a:t>
            </a:r>
            <a:r>
              <a:rPr b="0" i="0" lang="sv" sz="1600" u="none" cap="none" strike="noStrike">
                <a:solidFill>
                  <a:schemeClr val="dk1"/>
                </a:solidFill>
                <a:latin typeface="Arial"/>
                <a:ea typeface="Arial"/>
                <a:cs typeface="Arial"/>
                <a:sym typeface="Arial"/>
              </a:rPr>
              <a:t> när du ska köra skoter.</a:t>
            </a:r>
            <a:endParaRPr b="0" i="0" sz="2300" u="none" cap="none" strike="noStrike">
              <a:solidFill>
                <a:schemeClr val="dk1"/>
              </a:solidFill>
              <a:latin typeface="Arial"/>
              <a:ea typeface="Arial"/>
              <a:cs typeface="Arial"/>
              <a:sym typeface="Arial"/>
            </a:endParaRPr>
          </a:p>
        </p:txBody>
      </p:sp>
      <p:sp>
        <p:nvSpPr>
          <p:cNvPr id="1179" name="Google Shape;1179;p135"/>
          <p:cNvSpPr txBox="1"/>
          <p:nvPr/>
        </p:nvSpPr>
        <p:spPr>
          <a:xfrm>
            <a:off x="2734925" y="3401613"/>
            <a:ext cx="55008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sv" sz="1600" u="none" cap="none" strike="noStrike">
                <a:solidFill>
                  <a:schemeClr val="dk1"/>
                </a:solidFill>
                <a:latin typeface="Arial"/>
                <a:ea typeface="Arial"/>
                <a:cs typeface="Arial"/>
                <a:sym typeface="Arial"/>
              </a:rPr>
              <a:t>Kylan sänker kroppens ämnesomsättning → alkoholen bryts ner ännu långsammare.</a:t>
            </a:r>
            <a:endParaRPr b="0" i="0" sz="1600" u="none" cap="none" strike="noStrike">
              <a:solidFill>
                <a:schemeClr val="dk1"/>
              </a:solidFill>
              <a:latin typeface="Arial"/>
              <a:ea typeface="Arial"/>
              <a:cs typeface="Arial"/>
              <a:sym typeface="Arial"/>
            </a:endParaRPr>
          </a:p>
        </p:txBody>
      </p:sp>
      <p:sp>
        <p:nvSpPr>
          <p:cNvPr id="1180" name="Google Shape;1180;p135"/>
          <p:cNvSpPr txBox="1"/>
          <p:nvPr/>
        </p:nvSpPr>
        <p:spPr>
          <a:xfrm>
            <a:off x="2734925" y="2020600"/>
            <a:ext cx="55008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sv" sz="1600" u="none" cap="none" strike="noStrike">
                <a:solidFill>
                  <a:schemeClr val="dk1"/>
                </a:solidFill>
                <a:latin typeface="Arial"/>
                <a:ea typeface="Arial"/>
                <a:cs typeface="Arial"/>
                <a:sym typeface="Arial"/>
              </a:rPr>
              <a:t>Du kan inte "nyktra till" snabbare genom kaffe, frisk luft eller mat.</a:t>
            </a:r>
            <a:endParaRPr b="0" i="0" sz="1600" u="none" cap="none" strike="noStrike">
              <a:solidFill>
                <a:schemeClr val="dk1"/>
              </a:solidFill>
              <a:latin typeface="Arial"/>
              <a:ea typeface="Arial"/>
              <a:cs typeface="Arial"/>
              <a:sym typeface="Arial"/>
            </a:endParaRPr>
          </a:p>
        </p:txBody>
      </p:sp>
      <p:sp>
        <p:nvSpPr>
          <p:cNvPr id="1181" name="Google Shape;1181;p135"/>
          <p:cNvSpPr txBox="1"/>
          <p:nvPr/>
        </p:nvSpPr>
        <p:spPr>
          <a:xfrm>
            <a:off x="2734925" y="4107525"/>
            <a:ext cx="656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sv" sz="1600" u="none" cap="none" strike="noStrike">
                <a:solidFill>
                  <a:schemeClr val="dk1"/>
                </a:solidFill>
                <a:latin typeface="Arial"/>
                <a:ea typeface="Arial"/>
                <a:cs typeface="Arial"/>
                <a:sym typeface="Arial"/>
              </a:rPr>
              <a:t>Det kan alltså vara rattfylleri redan när du kör ut dagen efter festen i stugan – även om du känner dig pigg.</a:t>
            </a:r>
            <a:endParaRPr b="0"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36"/>
          <p:cNvSpPr txBox="1"/>
          <p:nvPr>
            <p:ph type="title"/>
          </p:nvPr>
        </p:nvSpPr>
        <p:spPr>
          <a:xfrm>
            <a:off x="591000" y="847475"/>
            <a:ext cx="7962000" cy="52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sv" sz="2100"/>
              <a:t>Hur påverkas vi av trötthet i samband med snöskoteråkning?</a:t>
            </a:r>
            <a:endParaRPr sz="2100"/>
          </a:p>
        </p:txBody>
      </p:sp>
      <p:pic>
        <p:nvPicPr>
          <p:cNvPr id="1187" name="Google Shape;1187;p136" title="ChatGPT Image 29 okt. 2025 15_36_01.png"/>
          <p:cNvPicPr preferRelativeResize="0"/>
          <p:nvPr/>
        </p:nvPicPr>
        <p:blipFill rotWithShape="1">
          <a:blip r:embed="rId3">
            <a:alphaModFix/>
          </a:blip>
          <a:srcRect b="0" l="0" r="0" t="0"/>
          <a:stretch/>
        </p:blipFill>
        <p:spPr>
          <a:xfrm>
            <a:off x="1249925" y="1402411"/>
            <a:ext cx="2260375" cy="3390574"/>
          </a:xfrm>
          <a:prstGeom prst="rect">
            <a:avLst/>
          </a:prstGeom>
          <a:noFill/>
          <a:ln>
            <a:noFill/>
          </a:ln>
        </p:spPr>
      </p:pic>
      <p:pic>
        <p:nvPicPr>
          <p:cNvPr id="1188" name="Google Shape;1188;p136" title="ChatGPT Image 29 okt. 2025 15_29_03.png"/>
          <p:cNvPicPr preferRelativeResize="0"/>
          <p:nvPr/>
        </p:nvPicPr>
        <p:blipFill rotWithShape="1">
          <a:blip r:embed="rId4">
            <a:alphaModFix/>
          </a:blip>
          <a:srcRect b="0" l="0" r="0" t="0"/>
          <a:stretch/>
        </p:blipFill>
        <p:spPr>
          <a:xfrm>
            <a:off x="5671816" y="1402398"/>
            <a:ext cx="2187860" cy="32817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37"/>
          <p:cNvSpPr txBox="1"/>
          <p:nvPr>
            <p:ph type="title"/>
          </p:nvPr>
        </p:nvSpPr>
        <p:spPr>
          <a:xfrm>
            <a:off x="1663950" y="813375"/>
            <a:ext cx="58161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Avgaser, utsläpp &amp; dess inverkan</a:t>
            </a:r>
            <a:endParaRPr/>
          </a:p>
        </p:txBody>
      </p:sp>
      <p:pic>
        <p:nvPicPr>
          <p:cNvPr id="1194" name="Google Shape;1194;p137" title="ChatGPT Image 25 sep. 2025 15_55_21.png"/>
          <p:cNvPicPr preferRelativeResize="0"/>
          <p:nvPr/>
        </p:nvPicPr>
        <p:blipFill rotWithShape="1">
          <a:blip r:embed="rId3">
            <a:alphaModFix/>
          </a:blip>
          <a:srcRect b="0" l="0" r="0" t="0"/>
          <a:stretch/>
        </p:blipFill>
        <p:spPr>
          <a:xfrm>
            <a:off x="5121099" y="1508750"/>
            <a:ext cx="3266975" cy="3267000"/>
          </a:xfrm>
          <a:prstGeom prst="rect">
            <a:avLst/>
          </a:prstGeom>
          <a:noFill/>
          <a:ln>
            <a:noFill/>
          </a:ln>
        </p:spPr>
      </p:pic>
      <p:pic>
        <p:nvPicPr>
          <p:cNvPr id="1195" name="Google Shape;1195;p137" title="ChatGPT Image 29 okt. 2025 16_47_04.png"/>
          <p:cNvPicPr preferRelativeResize="0"/>
          <p:nvPr/>
        </p:nvPicPr>
        <p:blipFill rotWithShape="1">
          <a:blip r:embed="rId4">
            <a:alphaModFix/>
          </a:blip>
          <a:srcRect b="0" l="0" r="0" t="0"/>
          <a:stretch/>
        </p:blipFill>
        <p:spPr>
          <a:xfrm>
            <a:off x="543875" y="1491275"/>
            <a:ext cx="3301949" cy="3301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38"/>
          <p:cNvSpPr txBox="1"/>
          <p:nvPr>
            <p:ph type="title"/>
          </p:nvPr>
        </p:nvSpPr>
        <p:spPr>
          <a:xfrm>
            <a:off x="1449300" y="735700"/>
            <a:ext cx="6245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Inlärningsmetoder &amp; dess betydelse</a:t>
            </a:r>
            <a:endParaRPr/>
          </a:p>
        </p:txBody>
      </p:sp>
      <p:sp>
        <p:nvSpPr>
          <p:cNvPr id="1201" name="Google Shape;1201;p138"/>
          <p:cNvSpPr txBox="1"/>
          <p:nvPr/>
        </p:nvSpPr>
        <p:spPr>
          <a:xfrm>
            <a:off x="256275" y="1246250"/>
            <a:ext cx="41646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Vad innebär imitationsinlärning?</a:t>
            </a:r>
            <a:endParaRPr b="1" i="0" sz="2000" u="none" cap="none" strike="noStrike">
              <a:solidFill>
                <a:schemeClr val="accent1"/>
              </a:solidFill>
              <a:latin typeface="Arial"/>
              <a:ea typeface="Arial"/>
              <a:cs typeface="Arial"/>
              <a:sym typeface="Arial"/>
            </a:endParaRPr>
          </a:p>
        </p:txBody>
      </p:sp>
      <p:sp>
        <p:nvSpPr>
          <p:cNvPr id="1202" name="Google Shape;1202;p138"/>
          <p:cNvSpPr txBox="1"/>
          <p:nvPr/>
        </p:nvSpPr>
        <p:spPr>
          <a:xfrm>
            <a:off x="108775" y="2927675"/>
            <a:ext cx="35841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Snabb motorisk inlärning</a:t>
            </a:r>
            <a:endParaRPr b="1" i="0" sz="1100" u="none" cap="none" strike="noStrike">
              <a:solidFill>
                <a:schemeClr val="accent1"/>
              </a:solidFill>
              <a:latin typeface="Arial"/>
              <a:ea typeface="Arial"/>
              <a:cs typeface="Arial"/>
              <a:sym typeface="Arial"/>
            </a:endParaRPr>
          </a:p>
        </p:txBody>
      </p:sp>
      <p:sp>
        <p:nvSpPr>
          <p:cNvPr id="1203" name="Google Shape;1203;p138"/>
          <p:cNvSpPr txBox="1"/>
          <p:nvPr/>
        </p:nvSpPr>
        <p:spPr>
          <a:xfrm>
            <a:off x="108775" y="3219050"/>
            <a:ext cx="31431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Visuell förståelse för viktfördelning, körställning, gas–broms och körlinje</a:t>
            </a:r>
            <a:endParaRPr b="1" i="0" sz="1100" u="none" cap="none" strike="noStrike">
              <a:solidFill>
                <a:schemeClr val="accent1"/>
              </a:solidFill>
              <a:latin typeface="Arial"/>
              <a:ea typeface="Arial"/>
              <a:cs typeface="Arial"/>
              <a:sym typeface="Arial"/>
            </a:endParaRPr>
          </a:p>
        </p:txBody>
      </p:sp>
      <p:sp>
        <p:nvSpPr>
          <p:cNvPr id="1204" name="Google Shape;1204;p138"/>
          <p:cNvSpPr txBox="1"/>
          <p:nvPr/>
        </p:nvSpPr>
        <p:spPr>
          <a:xfrm>
            <a:off x="108775" y="3663050"/>
            <a:ext cx="32076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Bättre riskmedvetenhet när instruktören visar rätt beteende</a:t>
            </a:r>
            <a:endParaRPr b="1" i="0" sz="1100" u="none" cap="none" strike="noStrike">
              <a:solidFill>
                <a:schemeClr val="accent1"/>
              </a:solidFill>
              <a:latin typeface="Arial"/>
              <a:ea typeface="Arial"/>
              <a:cs typeface="Arial"/>
              <a:sym typeface="Arial"/>
            </a:endParaRPr>
          </a:p>
        </p:txBody>
      </p:sp>
      <p:pic>
        <p:nvPicPr>
          <p:cNvPr id="1205" name="Google Shape;1205;p138" title="ChatGPT Image 5 nov. 2025 16_21_24.png"/>
          <p:cNvPicPr preferRelativeResize="0"/>
          <p:nvPr/>
        </p:nvPicPr>
        <p:blipFill rotWithShape="1">
          <a:blip r:embed="rId3">
            <a:alphaModFix/>
          </a:blip>
          <a:srcRect b="0" l="0" r="0" t="0"/>
          <a:stretch/>
        </p:blipFill>
        <p:spPr>
          <a:xfrm>
            <a:off x="6565200" y="1246255"/>
            <a:ext cx="1441526" cy="1441544"/>
          </a:xfrm>
          <a:prstGeom prst="rect">
            <a:avLst/>
          </a:prstGeom>
          <a:noFill/>
          <a:ln>
            <a:noFill/>
          </a:ln>
        </p:spPr>
      </p:pic>
      <p:sp>
        <p:nvSpPr>
          <p:cNvPr id="1206" name="Google Shape;1206;p138"/>
          <p:cNvSpPr txBox="1"/>
          <p:nvPr/>
        </p:nvSpPr>
        <p:spPr>
          <a:xfrm>
            <a:off x="256275" y="1761750"/>
            <a:ext cx="6245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sv" sz="1300" u="none" cap="none" strike="noStrike">
                <a:solidFill>
                  <a:schemeClr val="accent1"/>
                </a:solidFill>
                <a:latin typeface="Arial"/>
                <a:ea typeface="Arial"/>
                <a:cs typeface="Arial"/>
                <a:sym typeface="Arial"/>
              </a:rPr>
              <a:t>Imitationsinlärning</a:t>
            </a:r>
            <a:r>
              <a:rPr b="0" i="0" lang="sv" sz="1300" u="none" cap="none" strike="noStrike">
                <a:solidFill>
                  <a:schemeClr val="accent1"/>
                </a:solidFill>
                <a:latin typeface="Arial"/>
                <a:ea typeface="Arial"/>
                <a:cs typeface="Arial"/>
                <a:sym typeface="Arial"/>
              </a:rPr>
              <a:t> innebär att eleven </a:t>
            </a:r>
            <a:r>
              <a:rPr b="1" i="0" lang="sv" sz="1300" u="none" cap="none" strike="noStrike">
                <a:solidFill>
                  <a:schemeClr val="accent1"/>
                </a:solidFill>
                <a:latin typeface="Arial"/>
                <a:ea typeface="Arial"/>
                <a:cs typeface="Arial"/>
                <a:sym typeface="Arial"/>
              </a:rPr>
              <a:t>observerar</a:t>
            </a:r>
            <a:r>
              <a:rPr b="0" i="0" lang="sv" sz="1300" u="none" cap="none" strike="noStrike">
                <a:solidFill>
                  <a:schemeClr val="accent1"/>
                </a:solidFill>
                <a:latin typeface="Arial"/>
                <a:ea typeface="Arial"/>
                <a:cs typeface="Arial"/>
                <a:sym typeface="Arial"/>
              </a:rPr>
              <a:t> en erfaren förare (lärare, instruktör eller annan) och </a:t>
            </a:r>
            <a:r>
              <a:rPr b="1" i="0" lang="sv" sz="1300" u="none" cap="none" strike="noStrike">
                <a:solidFill>
                  <a:schemeClr val="accent1"/>
                </a:solidFill>
                <a:latin typeface="Arial"/>
                <a:ea typeface="Arial"/>
                <a:cs typeface="Arial"/>
                <a:sym typeface="Arial"/>
              </a:rPr>
              <a:t>imiterar</a:t>
            </a:r>
            <a:r>
              <a:rPr b="0" i="0" lang="sv" sz="1300" u="none" cap="none" strike="noStrike">
                <a:solidFill>
                  <a:schemeClr val="accent1"/>
                </a:solidFill>
                <a:latin typeface="Arial"/>
                <a:ea typeface="Arial"/>
                <a:cs typeface="Arial"/>
                <a:sym typeface="Arial"/>
              </a:rPr>
              <a:t> körteknik, beteenden och handlingsmönster.</a:t>
            </a:r>
            <a:endParaRPr b="0" i="0" sz="1900" u="none" cap="none" strike="noStrike">
              <a:solidFill>
                <a:schemeClr val="accent1"/>
              </a:solidFill>
              <a:latin typeface="Arial"/>
              <a:ea typeface="Arial"/>
              <a:cs typeface="Arial"/>
              <a:sym typeface="Arial"/>
            </a:endParaRPr>
          </a:p>
        </p:txBody>
      </p:sp>
      <p:sp>
        <p:nvSpPr>
          <p:cNvPr id="1207" name="Google Shape;1207;p138"/>
          <p:cNvSpPr txBox="1"/>
          <p:nvPr/>
        </p:nvSpPr>
        <p:spPr>
          <a:xfrm>
            <a:off x="256275" y="2454650"/>
            <a:ext cx="24477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rgbClr val="00FF00"/>
                </a:solidFill>
                <a:latin typeface="Arial"/>
                <a:ea typeface="Arial"/>
                <a:cs typeface="Arial"/>
                <a:sym typeface="Arial"/>
              </a:rPr>
              <a:t>POSITIV EFFEKT?</a:t>
            </a:r>
            <a:endParaRPr b="1" i="0" sz="2000" u="none" cap="none" strike="noStrike">
              <a:solidFill>
                <a:srgbClr val="00FF00"/>
              </a:solidFill>
              <a:latin typeface="Arial"/>
              <a:ea typeface="Arial"/>
              <a:cs typeface="Arial"/>
              <a:sym typeface="Arial"/>
            </a:endParaRPr>
          </a:p>
        </p:txBody>
      </p:sp>
      <p:sp>
        <p:nvSpPr>
          <p:cNvPr id="1208" name="Google Shape;1208;p138"/>
          <p:cNvSpPr txBox="1"/>
          <p:nvPr/>
        </p:nvSpPr>
        <p:spPr>
          <a:xfrm>
            <a:off x="4335275" y="2439063"/>
            <a:ext cx="25098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rgbClr val="FF0000"/>
                </a:solidFill>
                <a:latin typeface="Arial"/>
                <a:ea typeface="Arial"/>
                <a:cs typeface="Arial"/>
                <a:sym typeface="Arial"/>
              </a:rPr>
              <a:t>NEGATIV EFFEKT?</a:t>
            </a:r>
            <a:endParaRPr b="1" i="0" sz="2000" u="none" cap="none" strike="noStrike">
              <a:solidFill>
                <a:srgbClr val="FF0000"/>
              </a:solidFill>
              <a:latin typeface="Arial"/>
              <a:ea typeface="Arial"/>
              <a:cs typeface="Arial"/>
              <a:sym typeface="Arial"/>
            </a:endParaRPr>
          </a:p>
        </p:txBody>
      </p:sp>
      <p:sp>
        <p:nvSpPr>
          <p:cNvPr id="1209" name="Google Shape;1209;p138"/>
          <p:cNvSpPr txBox="1"/>
          <p:nvPr/>
        </p:nvSpPr>
        <p:spPr>
          <a:xfrm>
            <a:off x="108775" y="4104825"/>
            <a:ext cx="34659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Ökar motivation och självförtroende och perfekt för komplexa manövrar</a:t>
            </a:r>
            <a:endParaRPr b="1" i="0" sz="1100" u="none" cap="none" strike="noStrike">
              <a:solidFill>
                <a:schemeClr val="accent1"/>
              </a:solidFill>
              <a:latin typeface="Arial"/>
              <a:ea typeface="Arial"/>
              <a:cs typeface="Arial"/>
              <a:sym typeface="Arial"/>
            </a:endParaRPr>
          </a:p>
        </p:txBody>
      </p:sp>
      <p:sp>
        <p:nvSpPr>
          <p:cNvPr id="1210" name="Google Shape;1210;p138"/>
          <p:cNvSpPr txBox="1"/>
          <p:nvPr/>
        </p:nvSpPr>
        <p:spPr>
          <a:xfrm>
            <a:off x="4173850" y="2927700"/>
            <a:ext cx="35841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Eleven kan härma fel beteenden</a:t>
            </a:r>
            <a:endParaRPr b="1" i="0" sz="1100" u="none" cap="none" strike="noStrike">
              <a:solidFill>
                <a:schemeClr val="accent1"/>
              </a:solidFill>
              <a:latin typeface="Arial"/>
              <a:ea typeface="Arial"/>
              <a:cs typeface="Arial"/>
              <a:sym typeface="Arial"/>
            </a:endParaRPr>
          </a:p>
        </p:txBody>
      </p:sp>
      <p:sp>
        <p:nvSpPr>
          <p:cNvPr id="1211" name="Google Shape;1211;p138"/>
          <p:cNvSpPr txBox="1"/>
          <p:nvPr/>
        </p:nvSpPr>
        <p:spPr>
          <a:xfrm>
            <a:off x="4173850" y="3219050"/>
            <a:ext cx="31431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Risk för att ytliga rörelser imiteras utan förståelse</a:t>
            </a:r>
            <a:endParaRPr b="1" i="0" sz="1100" u="none" cap="none" strike="noStrike">
              <a:solidFill>
                <a:schemeClr val="accent1"/>
              </a:solidFill>
              <a:latin typeface="Arial"/>
              <a:ea typeface="Arial"/>
              <a:cs typeface="Arial"/>
              <a:sym typeface="Arial"/>
            </a:endParaRPr>
          </a:p>
        </p:txBody>
      </p:sp>
      <p:sp>
        <p:nvSpPr>
          <p:cNvPr id="1212" name="Google Shape;1212;p138"/>
          <p:cNvSpPr txBox="1"/>
          <p:nvPr/>
        </p:nvSpPr>
        <p:spPr>
          <a:xfrm>
            <a:off x="4173850" y="3663050"/>
            <a:ext cx="32076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Gruppdynamik kan föra vidare dåliga beteenden</a:t>
            </a:r>
            <a:endParaRPr b="1" i="0" sz="1100" u="none" cap="none" strike="noStrike">
              <a:solidFill>
                <a:schemeClr val="accent1"/>
              </a:solidFill>
              <a:latin typeface="Arial"/>
              <a:ea typeface="Arial"/>
              <a:cs typeface="Arial"/>
              <a:sym typeface="Arial"/>
            </a:endParaRPr>
          </a:p>
        </p:txBody>
      </p:sp>
      <p:sp>
        <p:nvSpPr>
          <p:cNvPr id="1213" name="Google Shape;1213;p138"/>
          <p:cNvSpPr txBox="1"/>
          <p:nvPr/>
        </p:nvSpPr>
        <p:spPr>
          <a:xfrm>
            <a:off x="4173850" y="4104825"/>
            <a:ext cx="34659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Begränsar elevens egen problemlösning</a:t>
            </a:r>
            <a:endParaRPr b="1" i="0" sz="11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139"/>
          <p:cNvSpPr txBox="1"/>
          <p:nvPr>
            <p:ph type="title"/>
          </p:nvPr>
        </p:nvSpPr>
        <p:spPr>
          <a:xfrm>
            <a:off x="1449300" y="735700"/>
            <a:ext cx="6245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Inlärningsmetoder &amp; dess betydelse</a:t>
            </a:r>
            <a:endParaRPr/>
          </a:p>
        </p:txBody>
      </p:sp>
      <p:sp>
        <p:nvSpPr>
          <p:cNvPr id="1219" name="Google Shape;1219;p139"/>
          <p:cNvSpPr txBox="1"/>
          <p:nvPr/>
        </p:nvSpPr>
        <p:spPr>
          <a:xfrm>
            <a:off x="256275" y="1246250"/>
            <a:ext cx="56103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Vad innebär sannolikhetsinlärning?</a:t>
            </a:r>
            <a:endParaRPr b="1" i="0" sz="2000" u="none" cap="none" strike="noStrike">
              <a:solidFill>
                <a:schemeClr val="accent1"/>
              </a:solidFill>
              <a:latin typeface="Arial"/>
              <a:ea typeface="Arial"/>
              <a:cs typeface="Arial"/>
              <a:sym typeface="Arial"/>
            </a:endParaRPr>
          </a:p>
        </p:txBody>
      </p:sp>
      <p:sp>
        <p:nvSpPr>
          <p:cNvPr id="1220" name="Google Shape;1220;p139"/>
          <p:cNvSpPr txBox="1"/>
          <p:nvPr/>
        </p:nvSpPr>
        <p:spPr>
          <a:xfrm>
            <a:off x="108775" y="2927675"/>
            <a:ext cx="35841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Självständig riskbedömning</a:t>
            </a:r>
            <a:endParaRPr b="1" i="0" sz="1100" u="none" cap="none" strike="noStrike">
              <a:solidFill>
                <a:schemeClr val="accent1"/>
              </a:solidFill>
              <a:latin typeface="Arial"/>
              <a:ea typeface="Arial"/>
              <a:cs typeface="Arial"/>
              <a:sym typeface="Arial"/>
            </a:endParaRPr>
          </a:p>
        </p:txBody>
      </p:sp>
      <p:sp>
        <p:nvSpPr>
          <p:cNvPr id="1221" name="Google Shape;1221;p139"/>
          <p:cNvSpPr txBox="1"/>
          <p:nvPr/>
        </p:nvSpPr>
        <p:spPr>
          <a:xfrm>
            <a:off x="108775" y="3323975"/>
            <a:ext cx="31431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Stark terräng- och snöförståelse</a:t>
            </a:r>
            <a:endParaRPr b="1" i="0" sz="1100" u="none" cap="none" strike="noStrike">
              <a:solidFill>
                <a:schemeClr val="accent1"/>
              </a:solidFill>
              <a:latin typeface="Arial"/>
              <a:ea typeface="Arial"/>
              <a:cs typeface="Arial"/>
              <a:sym typeface="Arial"/>
            </a:endParaRPr>
          </a:p>
        </p:txBody>
      </p:sp>
      <p:sp>
        <p:nvSpPr>
          <p:cNvPr id="1222" name="Google Shape;1222;p139"/>
          <p:cNvSpPr txBox="1"/>
          <p:nvPr/>
        </p:nvSpPr>
        <p:spPr>
          <a:xfrm>
            <a:off x="108775" y="3704800"/>
            <a:ext cx="32076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Snabbare beslut i terräng</a:t>
            </a:r>
            <a:endParaRPr b="1" i="0" sz="1100" u="none" cap="none" strike="noStrike">
              <a:solidFill>
                <a:schemeClr val="accent1"/>
              </a:solidFill>
              <a:latin typeface="Arial"/>
              <a:ea typeface="Arial"/>
              <a:cs typeface="Arial"/>
              <a:sym typeface="Arial"/>
            </a:endParaRPr>
          </a:p>
        </p:txBody>
      </p:sp>
      <p:pic>
        <p:nvPicPr>
          <p:cNvPr id="1223" name="Google Shape;1223;p139" title="ChatGPT Image 5 nov. 2025 16_21_24.png"/>
          <p:cNvPicPr preferRelativeResize="0"/>
          <p:nvPr/>
        </p:nvPicPr>
        <p:blipFill rotWithShape="1">
          <a:blip r:embed="rId3">
            <a:alphaModFix/>
          </a:blip>
          <a:srcRect b="0" l="0" r="0" t="0"/>
          <a:stretch/>
        </p:blipFill>
        <p:spPr>
          <a:xfrm>
            <a:off x="6565200" y="1246255"/>
            <a:ext cx="1441526" cy="1441544"/>
          </a:xfrm>
          <a:prstGeom prst="rect">
            <a:avLst/>
          </a:prstGeom>
          <a:noFill/>
          <a:ln>
            <a:noFill/>
          </a:ln>
        </p:spPr>
      </p:pic>
      <p:sp>
        <p:nvSpPr>
          <p:cNvPr id="1224" name="Google Shape;1224;p139"/>
          <p:cNvSpPr txBox="1"/>
          <p:nvPr/>
        </p:nvSpPr>
        <p:spPr>
          <a:xfrm>
            <a:off x="256275" y="1761750"/>
            <a:ext cx="65889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sv" sz="1300" u="none" cap="none" strike="noStrike">
                <a:solidFill>
                  <a:schemeClr val="accent1"/>
                </a:solidFill>
                <a:latin typeface="Arial"/>
                <a:ea typeface="Arial"/>
                <a:cs typeface="Arial"/>
                <a:sym typeface="Arial"/>
              </a:rPr>
              <a:t>Sannolikhetsinlärning</a:t>
            </a:r>
            <a:r>
              <a:rPr b="0" i="0" lang="sv" sz="1300" u="none" cap="none" strike="noStrike">
                <a:solidFill>
                  <a:schemeClr val="accent1"/>
                </a:solidFill>
                <a:latin typeface="Arial"/>
                <a:ea typeface="Arial"/>
                <a:cs typeface="Arial"/>
                <a:sym typeface="Arial"/>
              </a:rPr>
              <a:t> innebär att en person lär sig genom att koppla </a:t>
            </a:r>
            <a:r>
              <a:rPr b="1" i="0" lang="sv" sz="1300" u="none" cap="none" strike="noStrike">
                <a:solidFill>
                  <a:schemeClr val="accent1"/>
                </a:solidFill>
                <a:latin typeface="Arial"/>
                <a:ea typeface="Arial"/>
                <a:cs typeface="Arial"/>
                <a:sym typeface="Arial"/>
              </a:rPr>
              <a:t>orsak–verkan</a:t>
            </a:r>
            <a:r>
              <a:rPr b="0" i="0" lang="sv" sz="1300" u="none" cap="none" strike="noStrike">
                <a:solidFill>
                  <a:schemeClr val="accent1"/>
                </a:solidFill>
                <a:latin typeface="Arial"/>
                <a:ea typeface="Arial"/>
                <a:cs typeface="Arial"/>
                <a:sym typeface="Arial"/>
              </a:rPr>
              <a:t> och bygga erfarenhetsbaserade </a:t>
            </a:r>
            <a:r>
              <a:rPr b="1" i="0" lang="sv" sz="1300" u="none" cap="none" strike="noStrike">
                <a:solidFill>
                  <a:schemeClr val="accent1"/>
                </a:solidFill>
                <a:latin typeface="Arial"/>
                <a:ea typeface="Arial"/>
                <a:cs typeface="Arial"/>
                <a:sym typeface="Arial"/>
              </a:rPr>
              <a:t>förväntningar om vad som sannolikt händer</a:t>
            </a:r>
            <a:r>
              <a:rPr b="0" i="0" lang="sv" sz="1300" u="none" cap="none" strike="noStrike">
                <a:solidFill>
                  <a:schemeClr val="accent1"/>
                </a:solidFill>
                <a:latin typeface="Arial"/>
                <a:ea typeface="Arial"/>
                <a:cs typeface="Arial"/>
                <a:sym typeface="Arial"/>
              </a:rPr>
              <a:t> i en viss situation.</a:t>
            </a:r>
            <a:endParaRPr b="0" i="0" sz="2100" u="none" cap="none" strike="noStrike">
              <a:solidFill>
                <a:schemeClr val="accent1"/>
              </a:solidFill>
              <a:latin typeface="Arial"/>
              <a:ea typeface="Arial"/>
              <a:cs typeface="Arial"/>
              <a:sym typeface="Arial"/>
            </a:endParaRPr>
          </a:p>
        </p:txBody>
      </p:sp>
      <p:sp>
        <p:nvSpPr>
          <p:cNvPr id="1225" name="Google Shape;1225;p139"/>
          <p:cNvSpPr txBox="1"/>
          <p:nvPr/>
        </p:nvSpPr>
        <p:spPr>
          <a:xfrm>
            <a:off x="256275" y="2454650"/>
            <a:ext cx="24477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rgbClr val="00FF00"/>
                </a:solidFill>
                <a:latin typeface="Arial"/>
                <a:ea typeface="Arial"/>
                <a:cs typeface="Arial"/>
                <a:sym typeface="Arial"/>
              </a:rPr>
              <a:t>POSITIV EFFEKT?</a:t>
            </a:r>
            <a:endParaRPr b="1" i="0" sz="2000" u="none" cap="none" strike="noStrike">
              <a:solidFill>
                <a:srgbClr val="00FF00"/>
              </a:solidFill>
              <a:latin typeface="Arial"/>
              <a:ea typeface="Arial"/>
              <a:cs typeface="Arial"/>
              <a:sym typeface="Arial"/>
            </a:endParaRPr>
          </a:p>
        </p:txBody>
      </p:sp>
      <p:sp>
        <p:nvSpPr>
          <p:cNvPr id="1226" name="Google Shape;1226;p139"/>
          <p:cNvSpPr txBox="1"/>
          <p:nvPr/>
        </p:nvSpPr>
        <p:spPr>
          <a:xfrm>
            <a:off x="4335275" y="2439063"/>
            <a:ext cx="25098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rgbClr val="FF0000"/>
                </a:solidFill>
                <a:latin typeface="Arial"/>
                <a:ea typeface="Arial"/>
                <a:cs typeface="Arial"/>
                <a:sym typeface="Arial"/>
              </a:rPr>
              <a:t>NEGATIV EFFEKT?</a:t>
            </a:r>
            <a:endParaRPr b="1" i="0" sz="2000" u="none" cap="none" strike="noStrike">
              <a:solidFill>
                <a:srgbClr val="FF0000"/>
              </a:solidFill>
              <a:latin typeface="Arial"/>
              <a:ea typeface="Arial"/>
              <a:cs typeface="Arial"/>
              <a:sym typeface="Arial"/>
            </a:endParaRPr>
          </a:p>
        </p:txBody>
      </p:sp>
      <p:sp>
        <p:nvSpPr>
          <p:cNvPr id="1227" name="Google Shape;1227;p139"/>
          <p:cNvSpPr txBox="1"/>
          <p:nvPr/>
        </p:nvSpPr>
        <p:spPr>
          <a:xfrm>
            <a:off x="108775" y="4101100"/>
            <a:ext cx="34659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Bättre förutsägelse av skoterns beteende</a:t>
            </a:r>
            <a:endParaRPr b="1" i="0" sz="1100" u="none" cap="none" strike="noStrike">
              <a:solidFill>
                <a:schemeClr val="accent1"/>
              </a:solidFill>
              <a:latin typeface="Arial"/>
              <a:ea typeface="Arial"/>
              <a:cs typeface="Arial"/>
              <a:sym typeface="Arial"/>
            </a:endParaRPr>
          </a:p>
        </p:txBody>
      </p:sp>
      <p:sp>
        <p:nvSpPr>
          <p:cNvPr id="1228" name="Google Shape;1228;p139"/>
          <p:cNvSpPr txBox="1"/>
          <p:nvPr/>
        </p:nvSpPr>
        <p:spPr>
          <a:xfrm>
            <a:off x="4173850" y="2906800"/>
            <a:ext cx="35841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Överdrivet självförtroende</a:t>
            </a:r>
            <a:endParaRPr b="1" i="0" sz="1100" u="none" cap="none" strike="noStrike">
              <a:solidFill>
                <a:schemeClr val="accent1"/>
              </a:solidFill>
              <a:latin typeface="Arial"/>
              <a:ea typeface="Arial"/>
              <a:cs typeface="Arial"/>
              <a:sym typeface="Arial"/>
            </a:endParaRPr>
          </a:p>
        </p:txBody>
      </p:sp>
      <p:sp>
        <p:nvSpPr>
          <p:cNvPr id="1229" name="Google Shape;1229;p139"/>
          <p:cNvSpPr txBox="1"/>
          <p:nvPr/>
        </p:nvSpPr>
        <p:spPr>
          <a:xfrm>
            <a:off x="4173850" y="3323975"/>
            <a:ext cx="31431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Feltolkade mönster → farliga beslut</a:t>
            </a:r>
            <a:endParaRPr b="1" i="0" sz="1100" u="none" cap="none" strike="noStrike">
              <a:solidFill>
                <a:schemeClr val="accent1"/>
              </a:solidFill>
              <a:latin typeface="Arial"/>
              <a:ea typeface="Arial"/>
              <a:cs typeface="Arial"/>
              <a:sym typeface="Arial"/>
            </a:endParaRPr>
          </a:p>
        </p:txBody>
      </p:sp>
      <p:sp>
        <p:nvSpPr>
          <p:cNvPr id="1230" name="Google Shape;1230;p139"/>
          <p:cNvSpPr txBox="1"/>
          <p:nvPr/>
        </p:nvSpPr>
        <p:spPr>
          <a:xfrm>
            <a:off x="4173850" y="3704800"/>
            <a:ext cx="32076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Ignorerar ovanliga men farliga risker</a:t>
            </a:r>
            <a:endParaRPr b="1" i="0" sz="1100" u="none" cap="none" strike="noStrike">
              <a:solidFill>
                <a:schemeClr val="accent1"/>
              </a:solidFill>
              <a:latin typeface="Arial"/>
              <a:ea typeface="Arial"/>
              <a:cs typeface="Arial"/>
              <a:sym typeface="Arial"/>
            </a:endParaRPr>
          </a:p>
        </p:txBody>
      </p:sp>
      <p:sp>
        <p:nvSpPr>
          <p:cNvPr id="1231" name="Google Shape;1231;p139"/>
          <p:cNvSpPr txBox="1"/>
          <p:nvPr/>
        </p:nvSpPr>
        <p:spPr>
          <a:xfrm>
            <a:off x="4173850" y="4101100"/>
            <a:ext cx="34659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Generalisering av felaktiga erfarenheter</a:t>
            </a:r>
            <a:endParaRPr b="1" i="0" sz="11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40"/>
          <p:cNvSpPr txBox="1"/>
          <p:nvPr>
            <p:ph type="title"/>
          </p:nvPr>
        </p:nvSpPr>
        <p:spPr>
          <a:xfrm>
            <a:off x="1449300" y="735700"/>
            <a:ext cx="6245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Inlärningsmetoder &amp; dess betydelse</a:t>
            </a:r>
            <a:endParaRPr/>
          </a:p>
        </p:txBody>
      </p:sp>
      <p:sp>
        <p:nvSpPr>
          <p:cNvPr id="1237" name="Google Shape;1237;p140"/>
          <p:cNvSpPr txBox="1"/>
          <p:nvPr/>
        </p:nvSpPr>
        <p:spPr>
          <a:xfrm>
            <a:off x="256275" y="1246225"/>
            <a:ext cx="35199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Vad innebär djupinlärning?</a:t>
            </a:r>
            <a:endParaRPr b="1" i="0" sz="2000" u="none" cap="none" strike="noStrike">
              <a:solidFill>
                <a:schemeClr val="accent1"/>
              </a:solidFill>
              <a:latin typeface="Arial"/>
              <a:ea typeface="Arial"/>
              <a:cs typeface="Arial"/>
              <a:sym typeface="Arial"/>
            </a:endParaRPr>
          </a:p>
        </p:txBody>
      </p:sp>
      <p:sp>
        <p:nvSpPr>
          <p:cNvPr id="1238" name="Google Shape;1238;p140"/>
          <p:cNvSpPr txBox="1"/>
          <p:nvPr/>
        </p:nvSpPr>
        <p:spPr>
          <a:xfrm>
            <a:off x="108775" y="3075300"/>
            <a:ext cx="69201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Man förstår varför något är rätt eller fel, inte bara vad som är rätt eller fel, bättre riskbedömning.</a:t>
            </a:r>
            <a:endParaRPr b="1" i="0" sz="1100" u="none" cap="none" strike="noStrike">
              <a:solidFill>
                <a:schemeClr val="accent1"/>
              </a:solidFill>
              <a:latin typeface="Arial"/>
              <a:ea typeface="Arial"/>
              <a:cs typeface="Arial"/>
              <a:sym typeface="Arial"/>
            </a:endParaRPr>
          </a:p>
        </p:txBody>
      </p:sp>
      <p:sp>
        <p:nvSpPr>
          <p:cNvPr id="1239" name="Google Shape;1239;p140"/>
          <p:cNvSpPr txBox="1"/>
          <p:nvPr/>
        </p:nvSpPr>
        <p:spPr>
          <a:xfrm>
            <a:off x="108775" y="3545475"/>
            <a:ext cx="71460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Kunskapen blir </a:t>
            </a:r>
            <a:r>
              <a:rPr b="1" i="0" lang="sv" sz="1100" u="none" cap="none" strike="noStrike">
                <a:solidFill>
                  <a:schemeClr val="accent1"/>
                </a:solidFill>
                <a:latin typeface="Arial"/>
                <a:ea typeface="Arial"/>
                <a:cs typeface="Arial"/>
                <a:sym typeface="Arial"/>
              </a:rPr>
              <a:t>meningsfull</a:t>
            </a:r>
            <a:r>
              <a:rPr b="0" i="0" lang="sv" sz="1100" u="none" cap="none" strike="noStrike">
                <a:solidFill>
                  <a:schemeClr val="accent1"/>
                </a:solidFill>
                <a:latin typeface="Arial"/>
                <a:ea typeface="Arial"/>
                <a:cs typeface="Arial"/>
                <a:sym typeface="Arial"/>
              </a:rPr>
              <a:t>, </a:t>
            </a:r>
            <a:r>
              <a:rPr b="1" i="0" lang="sv" sz="1100" u="none" cap="none" strike="noStrike">
                <a:solidFill>
                  <a:schemeClr val="accent1"/>
                </a:solidFill>
                <a:latin typeface="Arial"/>
                <a:ea typeface="Arial"/>
                <a:cs typeface="Arial"/>
                <a:sym typeface="Arial"/>
              </a:rPr>
              <a:t>hållbar</a:t>
            </a:r>
            <a:r>
              <a:rPr b="0" i="0" lang="sv" sz="1100" u="none" cap="none" strike="noStrike">
                <a:solidFill>
                  <a:schemeClr val="accent1"/>
                </a:solidFill>
                <a:latin typeface="Arial"/>
                <a:ea typeface="Arial"/>
                <a:cs typeface="Arial"/>
                <a:sym typeface="Arial"/>
              </a:rPr>
              <a:t> och </a:t>
            </a:r>
            <a:r>
              <a:rPr b="1" i="0" lang="sv" sz="1100" u="none" cap="none" strike="noStrike">
                <a:solidFill>
                  <a:schemeClr val="accent1"/>
                </a:solidFill>
                <a:latin typeface="Arial"/>
                <a:ea typeface="Arial"/>
                <a:cs typeface="Arial"/>
                <a:sym typeface="Arial"/>
              </a:rPr>
              <a:t>användbar i nya situationer</a:t>
            </a:r>
            <a:r>
              <a:rPr b="0" i="0" lang="sv" sz="1100" u="none" cap="none" strike="noStrike">
                <a:solidFill>
                  <a:schemeClr val="accent1"/>
                </a:solidFill>
                <a:latin typeface="Arial"/>
                <a:ea typeface="Arial"/>
                <a:cs typeface="Arial"/>
                <a:sym typeface="Arial"/>
              </a:rPr>
              <a:t>. Långsiktigt minne och hållbar körstil.</a:t>
            </a:r>
            <a:endParaRPr b="1" i="0" sz="1100" u="none" cap="none" strike="noStrike">
              <a:solidFill>
                <a:schemeClr val="accent1"/>
              </a:solidFill>
              <a:latin typeface="Arial"/>
              <a:ea typeface="Arial"/>
              <a:cs typeface="Arial"/>
              <a:sym typeface="Arial"/>
            </a:endParaRPr>
          </a:p>
        </p:txBody>
      </p:sp>
      <p:sp>
        <p:nvSpPr>
          <p:cNvPr id="1240" name="Google Shape;1240;p140"/>
          <p:cNvSpPr txBox="1"/>
          <p:nvPr/>
        </p:nvSpPr>
        <p:spPr>
          <a:xfrm>
            <a:off x="108775" y="4063350"/>
            <a:ext cx="8910600" cy="396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1" i="0" lang="sv" sz="1100" u="none" cap="none" strike="noStrike">
                <a:solidFill>
                  <a:schemeClr val="accent1"/>
                </a:solidFill>
                <a:latin typeface="Arial"/>
                <a:ea typeface="Arial"/>
                <a:cs typeface="Arial"/>
                <a:sym typeface="Arial"/>
              </a:rPr>
              <a:t>Djupinlärning kräver reflektion, dialog och exempel från verkligheten – inte bara repetition. Starkare koppling teori–praktik.</a:t>
            </a:r>
            <a:endParaRPr b="1" i="0" sz="1100" u="none" cap="none" strike="noStrike">
              <a:solidFill>
                <a:schemeClr val="accent1"/>
              </a:solidFill>
              <a:latin typeface="Arial"/>
              <a:ea typeface="Arial"/>
              <a:cs typeface="Arial"/>
              <a:sym typeface="Arial"/>
            </a:endParaRPr>
          </a:p>
        </p:txBody>
      </p:sp>
      <p:pic>
        <p:nvPicPr>
          <p:cNvPr id="1241" name="Google Shape;1241;p140" title="ChatGPT Image 5 nov. 2025 16_21_24.png"/>
          <p:cNvPicPr preferRelativeResize="0"/>
          <p:nvPr/>
        </p:nvPicPr>
        <p:blipFill rotWithShape="1">
          <a:blip r:embed="rId3">
            <a:alphaModFix/>
          </a:blip>
          <a:srcRect b="0" l="0" r="0" t="0"/>
          <a:stretch/>
        </p:blipFill>
        <p:spPr>
          <a:xfrm>
            <a:off x="6684375" y="1246225"/>
            <a:ext cx="2183224" cy="2183250"/>
          </a:xfrm>
          <a:prstGeom prst="rect">
            <a:avLst/>
          </a:prstGeom>
          <a:noFill/>
          <a:ln>
            <a:noFill/>
          </a:ln>
        </p:spPr>
      </p:pic>
      <p:sp>
        <p:nvSpPr>
          <p:cNvPr id="1242" name="Google Shape;1242;p140"/>
          <p:cNvSpPr txBox="1"/>
          <p:nvPr/>
        </p:nvSpPr>
        <p:spPr>
          <a:xfrm>
            <a:off x="263275" y="1727850"/>
            <a:ext cx="66111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sv" sz="1400" u="none" cap="none" strike="noStrike">
                <a:solidFill>
                  <a:schemeClr val="accent1"/>
                </a:solidFill>
                <a:latin typeface="Arial"/>
                <a:ea typeface="Arial"/>
                <a:cs typeface="Arial"/>
                <a:sym typeface="Arial"/>
              </a:rPr>
              <a:t>Djupinlärning</a:t>
            </a:r>
            <a:r>
              <a:rPr b="0" i="0" lang="sv" sz="1400" u="none" cap="none" strike="noStrike">
                <a:solidFill>
                  <a:schemeClr val="accent1"/>
                </a:solidFill>
                <a:latin typeface="Arial"/>
                <a:ea typeface="Arial"/>
                <a:cs typeface="Arial"/>
                <a:sym typeface="Arial"/>
              </a:rPr>
              <a:t> innebär att eleven inte bara memorerar fakta utan verkligen </a:t>
            </a:r>
            <a:r>
              <a:rPr b="1" i="0" lang="sv" sz="1400" u="none" cap="none" strike="noStrike">
                <a:solidFill>
                  <a:schemeClr val="accent1"/>
                </a:solidFill>
                <a:latin typeface="Arial"/>
                <a:ea typeface="Arial"/>
                <a:cs typeface="Arial"/>
                <a:sym typeface="Arial"/>
              </a:rPr>
              <a:t>förstår sambanden, orsakerna och konsekvenserna</a:t>
            </a:r>
            <a:r>
              <a:rPr b="0" i="0" lang="sv" sz="1400" u="none" cap="none" strike="noStrike">
                <a:solidFill>
                  <a:schemeClr val="accent1"/>
                </a:solidFill>
                <a:latin typeface="Arial"/>
                <a:ea typeface="Arial"/>
                <a:cs typeface="Arial"/>
                <a:sym typeface="Arial"/>
              </a:rPr>
              <a:t> bakom ett beteende </a:t>
            </a:r>
            <a:br>
              <a:rPr b="0" i="0" lang="sv" sz="1400" u="none" cap="none" strike="noStrike">
                <a:solidFill>
                  <a:schemeClr val="accent1"/>
                </a:solidFill>
                <a:latin typeface="Arial"/>
                <a:ea typeface="Arial"/>
                <a:cs typeface="Arial"/>
                <a:sym typeface="Arial"/>
              </a:rPr>
            </a:br>
            <a:r>
              <a:rPr b="0" i="0" lang="sv" sz="1400" u="none" cap="none" strike="noStrike">
                <a:solidFill>
                  <a:schemeClr val="accent1"/>
                </a:solidFill>
                <a:latin typeface="Arial"/>
                <a:ea typeface="Arial"/>
                <a:cs typeface="Arial"/>
                <a:sym typeface="Arial"/>
              </a:rPr>
              <a:t>eller regel. Det är en grundläggande metod för att skapa ett säkert och ansvarsfullt trafikbeteende – särskilt viktigt för snöskoterförare som ofta </a:t>
            </a:r>
            <a:br>
              <a:rPr b="0" i="0" lang="sv" sz="1400" u="none" cap="none" strike="noStrike">
                <a:solidFill>
                  <a:schemeClr val="accent1"/>
                </a:solidFill>
                <a:latin typeface="Arial"/>
                <a:ea typeface="Arial"/>
                <a:cs typeface="Arial"/>
                <a:sym typeface="Arial"/>
              </a:rPr>
            </a:br>
            <a:r>
              <a:rPr b="0" i="0" lang="sv" sz="1400" u="none" cap="none" strike="noStrike">
                <a:solidFill>
                  <a:schemeClr val="accent1"/>
                </a:solidFill>
                <a:latin typeface="Arial"/>
                <a:ea typeface="Arial"/>
                <a:cs typeface="Arial"/>
                <a:sym typeface="Arial"/>
              </a:rPr>
              <a:t>kör i riskfylld och föränderlig miljö.</a:t>
            </a:r>
            <a:endParaRPr b="0" i="0" sz="23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41"/>
          <p:cNvSpPr txBox="1"/>
          <p:nvPr>
            <p:ph type="title"/>
          </p:nvPr>
        </p:nvSpPr>
        <p:spPr>
          <a:xfrm>
            <a:off x="1449300" y="735700"/>
            <a:ext cx="6245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sv"/>
              <a:t>Inlärningsmetoder &amp; dess betydelse</a:t>
            </a:r>
            <a:endParaRPr/>
          </a:p>
        </p:txBody>
      </p:sp>
      <p:sp>
        <p:nvSpPr>
          <p:cNvPr id="1248" name="Google Shape;1248;p141"/>
          <p:cNvSpPr txBox="1"/>
          <p:nvPr/>
        </p:nvSpPr>
        <p:spPr>
          <a:xfrm>
            <a:off x="256275" y="1246225"/>
            <a:ext cx="65343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sv" sz="2000" u="none" cap="none" strike="noStrike">
                <a:solidFill>
                  <a:schemeClr val="accent1"/>
                </a:solidFill>
                <a:latin typeface="Arial"/>
                <a:ea typeface="Arial"/>
                <a:cs typeface="Arial"/>
                <a:sym typeface="Arial"/>
              </a:rPr>
              <a:t>Varför är djupinlärning viktigt för snöskoterförare?</a:t>
            </a:r>
            <a:endParaRPr b="1" i="0" sz="2000" u="none" cap="none" strike="noStrike">
              <a:solidFill>
                <a:schemeClr val="accent1"/>
              </a:solidFill>
              <a:latin typeface="Arial"/>
              <a:ea typeface="Arial"/>
              <a:cs typeface="Arial"/>
              <a:sym typeface="Arial"/>
            </a:endParaRPr>
          </a:p>
        </p:txBody>
      </p:sp>
      <p:sp>
        <p:nvSpPr>
          <p:cNvPr id="1249" name="Google Shape;1249;p141"/>
          <p:cNvSpPr txBox="1"/>
          <p:nvPr/>
        </p:nvSpPr>
        <p:spPr>
          <a:xfrm>
            <a:off x="108775" y="1847700"/>
            <a:ext cx="5943900" cy="5142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rgbClr val="000000"/>
                </a:solidFill>
                <a:latin typeface="Arial"/>
                <a:ea typeface="Arial"/>
                <a:cs typeface="Arial"/>
                <a:sym typeface="Arial"/>
              </a:rPr>
              <a:t>🚨 </a:t>
            </a:r>
            <a:r>
              <a:rPr b="1" i="0" lang="sv" sz="1100" u="none" cap="none" strike="noStrike">
                <a:solidFill>
                  <a:schemeClr val="accent1"/>
                </a:solidFill>
                <a:latin typeface="Arial"/>
                <a:ea typeface="Arial"/>
                <a:cs typeface="Arial"/>
                <a:sym typeface="Arial"/>
              </a:rPr>
              <a:t>Situationsanpassning: Snöskoteråkning sker i miljöer som förändras snabbt – is, snö, väder, lavinfara – vilket kräver förmåga att tänka och anpassa sig.</a:t>
            </a:r>
            <a:endParaRPr b="1" i="0" sz="1100" u="none" cap="none" strike="noStrike">
              <a:solidFill>
                <a:schemeClr val="accent1"/>
              </a:solidFill>
              <a:latin typeface="Arial"/>
              <a:ea typeface="Arial"/>
              <a:cs typeface="Arial"/>
              <a:sym typeface="Arial"/>
            </a:endParaRPr>
          </a:p>
        </p:txBody>
      </p:sp>
      <p:sp>
        <p:nvSpPr>
          <p:cNvPr id="1250" name="Google Shape;1250;p141"/>
          <p:cNvSpPr txBox="1"/>
          <p:nvPr/>
        </p:nvSpPr>
        <p:spPr>
          <a:xfrm>
            <a:off x="108775" y="2318600"/>
            <a:ext cx="54000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rgbClr val="000000"/>
                </a:solidFill>
                <a:latin typeface="Arial"/>
                <a:ea typeface="Arial"/>
                <a:cs typeface="Arial"/>
                <a:sym typeface="Arial"/>
              </a:rPr>
              <a:t>🧭 </a:t>
            </a:r>
            <a:r>
              <a:rPr b="0" i="0" lang="sv" sz="1100" u="none" cap="none" strike="noStrike">
                <a:solidFill>
                  <a:schemeClr val="accent1"/>
                </a:solidFill>
                <a:latin typeface="Arial"/>
                <a:ea typeface="Arial"/>
                <a:cs typeface="Arial"/>
                <a:sym typeface="Arial"/>
              </a:rPr>
              <a:t>Beslutsförmåga: Djupinlärda kunskaper gör det möjligt att fatta rätt beslut även i nya, oväntade situationer.</a:t>
            </a:r>
            <a:endParaRPr b="0" i="0" sz="1100" u="none" cap="none" strike="noStrike">
              <a:solidFill>
                <a:schemeClr val="accent1"/>
              </a:solidFill>
              <a:latin typeface="Arial"/>
              <a:ea typeface="Arial"/>
              <a:cs typeface="Arial"/>
              <a:sym typeface="Arial"/>
            </a:endParaRPr>
          </a:p>
        </p:txBody>
      </p:sp>
      <p:sp>
        <p:nvSpPr>
          <p:cNvPr id="1251" name="Google Shape;1251;p141"/>
          <p:cNvSpPr txBox="1"/>
          <p:nvPr/>
        </p:nvSpPr>
        <p:spPr>
          <a:xfrm>
            <a:off x="108775" y="2762600"/>
            <a:ext cx="6681900" cy="444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rgbClr val="000000"/>
                </a:solidFill>
                <a:latin typeface="Arial"/>
                <a:ea typeface="Arial"/>
                <a:cs typeface="Arial"/>
                <a:sym typeface="Arial"/>
              </a:rPr>
              <a:t>🧠 </a:t>
            </a:r>
            <a:r>
              <a:rPr b="1" i="0" lang="sv" sz="1100" u="none" cap="none" strike="noStrike">
                <a:solidFill>
                  <a:schemeClr val="accent1"/>
                </a:solidFill>
                <a:latin typeface="Arial"/>
                <a:ea typeface="Arial"/>
                <a:cs typeface="Arial"/>
                <a:sym typeface="Arial"/>
              </a:rPr>
              <a:t>Bättre riskbedömning: Man förstår varför vissa handlingar är farliga och hur man kan förebygga olyckor.</a:t>
            </a:r>
            <a:endParaRPr b="1" i="0" sz="1100" u="none" cap="none" strike="noStrike">
              <a:solidFill>
                <a:schemeClr val="accent1"/>
              </a:solidFill>
              <a:latin typeface="Arial"/>
              <a:ea typeface="Arial"/>
              <a:cs typeface="Arial"/>
              <a:sym typeface="Arial"/>
            </a:endParaRPr>
          </a:p>
        </p:txBody>
      </p:sp>
      <p:pic>
        <p:nvPicPr>
          <p:cNvPr id="1252" name="Google Shape;1252;p141" title="ChatGPT Image 5 nov. 2025 16_21_24.png"/>
          <p:cNvPicPr preferRelativeResize="0"/>
          <p:nvPr/>
        </p:nvPicPr>
        <p:blipFill rotWithShape="1">
          <a:blip r:embed="rId3">
            <a:alphaModFix/>
          </a:blip>
          <a:srcRect b="0" l="0" r="0" t="0"/>
          <a:stretch/>
        </p:blipFill>
        <p:spPr>
          <a:xfrm>
            <a:off x="6747825" y="1342500"/>
            <a:ext cx="2396175" cy="2396201"/>
          </a:xfrm>
          <a:prstGeom prst="rect">
            <a:avLst/>
          </a:prstGeom>
          <a:noFill/>
          <a:ln>
            <a:noFill/>
          </a:ln>
        </p:spPr>
      </p:pic>
      <p:sp>
        <p:nvSpPr>
          <p:cNvPr id="1253" name="Google Shape;1253;p141"/>
          <p:cNvSpPr txBox="1"/>
          <p:nvPr/>
        </p:nvSpPr>
        <p:spPr>
          <a:xfrm>
            <a:off x="108775" y="3239925"/>
            <a:ext cx="6534300" cy="5232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00000"/>
              </a:lnSpc>
              <a:spcBef>
                <a:spcPts val="0"/>
              </a:spcBef>
              <a:spcAft>
                <a:spcPts val="0"/>
              </a:spcAft>
              <a:buClr>
                <a:schemeClr val="accent1"/>
              </a:buClr>
              <a:buSzPts val="1100"/>
              <a:buFont typeface="Arial"/>
              <a:buChar char="-"/>
            </a:pPr>
            <a:r>
              <a:rPr b="0" i="0" lang="sv" sz="1100" u="none" cap="none" strike="noStrike">
                <a:solidFill>
                  <a:schemeClr val="accent1"/>
                </a:solidFill>
                <a:latin typeface="Arial"/>
                <a:ea typeface="Arial"/>
                <a:cs typeface="Arial"/>
                <a:sym typeface="Arial"/>
              </a:rPr>
              <a:t>⛑️ Färre olyckor: Djupinlärning leder till mer genomtänkt, defensiv och hänsynsfull körning – vilket minskar olycksrisken.</a:t>
            </a:r>
            <a:endParaRPr b="0" i="0" sz="14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42"/>
          <p:cNvSpPr txBox="1"/>
          <p:nvPr>
            <p:ph type="title"/>
          </p:nvPr>
        </p:nvSpPr>
        <p:spPr>
          <a:xfrm>
            <a:off x="110400" y="3121800"/>
            <a:ext cx="2816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sv" sz="2200"/>
              <a:t>Positivt grupptryck</a:t>
            </a:r>
            <a:endParaRPr sz="2200"/>
          </a:p>
        </p:txBody>
      </p:sp>
      <p:sp>
        <p:nvSpPr>
          <p:cNvPr id="1259" name="Google Shape;1259;p142"/>
          <p:cNvSpPr txBox="1"/>
          <p:nvPr>
            <p:ph type="title"/>
          </p:nvPr>
        </p:nvSpPr>
        <p:spPr>
          <a:xfrm>
            <a:off x="2970100" y="1177150"/>
            <a:ext cx="3676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sv" sz="2200"/>
              <a:t>Negativt grupptryck</a:t>
            </a:r>
            <a:endParaRPr sz="2200"/>
          </a:p>
        </p:txBody>
      </p:sp>
      <p:sp>
        <p:nvSpPr>
          <p:cNvPr id="1260" name="Google Shape;1260;p142"/>
          <p:cNvSpPr txBox="1"/>
          <p:nvPr>
            <p:ph type="title"/>
          </p:nvPr>
        </p:nvSpPr>
        <p:spPr>
          <a:xfrm>
            <a:off x="2970100" y="762750"/>
            <a:ext cx="2031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sv" sz="2700"/>
              <a:t>Grupptryck</a:t>
            </a:r>
            <a:endParaRPr sz="2700"/>
          </a:p>
        </p:txBody>
      </p:sp>
      <p:sp>
        <p:nvSpPr>
          <p:cNvPr id="1261" name="Google Shape;1261;p142"/>
          <p:cNvSpPr txBox="1"/>
          <p:nvPr/>
        </p:nvSpPr>
        <p:spPr>
          <a:xfrm>
            <a:off x="2926800" y="1720200"/>
            <a:ext cx="5941800" cy="1703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000"/>
              <a:buFont typeface="Arial"/>
              <a:buNone/>
            </a:pPr>
            <a:r>
              <a:rPr b="0" i="0" lang="sv" sz="1000" u="none" cap="none" strike="noStrike">
                <a:solidFill>
                  <a:srgbClr val="000000"/>
                </a:solidFill>
                <a:latin typeface="Arial"/>
                <a:ea typeface="Arial"/>
                <a:cs typeface="Arial"/>
                <a:sym typeface="Arial"/>
              </a:rPr>
              <a:t> </a:t>
            </a:r>
            <a:r>
              <a:rPr b="0" i="0" lang="sv" sz="1100" u="none" cap="none" strike="noStrike">
                <a:solidFill>
                  <a:srgbClr val="000000"/>
                </a:solidFill>
                <a:latin typeface="Arial"/>
                <a:ea typeface="Arial"/>
                <a:cs typeface="Arial"/>
                <a:sym typeface="Arial"/>
              </a:rPr>
              <a:t>🚩 </a:t>
            </a:r>
            <a:r>
              <a:rPr b="1" i="0" lang="sv" sz="1100" u="none" cap="none" strike="noStrike">
                <a:solidFill>
                  <a:srgbClr val="000000"/>
                </a:solidFill>
                <a:latin typeface="Arial"/>
                <a:ea typeface="Arial"/>
                <a:cs typeface="Arial"/>
                <a:sym typeface="Arial"/>
              </a:rPr>
              <a:t>"Vi kör fortare, ingen vill vara sist!"</a:t>
            </a:r>
            <a:r>
              <a:rPr b="0" i="0" lang="sv" sz="1100" u="none" cap="none" strike="noStrike">
                <a:solidFill>
                  <a:srgbClr val="000000"/>
                </a:solidFill>
                <a:latin typeface="Arial"/>
                <a:ea typeface="Arial"/>
                <a:cs typeface="Arial"/>
                <a:sym typeface="Arial"/>
              </a:rPr>
              <a:t> → Hög fart + dålig sikt = hög risk för krasch</a:t>
            </a:r>
            <a:br>
              <a:rPr b="0" i="0" lang="sv" sz="1100" u="none" cap="none" strike="noStrike">
                <a:solidFill>
                  <a:srgbClr val="000000"/>
                </a:solidFill>
                <a:latin typeface="Arial"/>
                <a:ea typeface="Arial"/>
                <a:cs typeface="Arial"/>
                <a:sym typeface="Arial"/>
              </a:rPr>
            </a:br>
            <a:br>
              <a:rPr b="0" i="0" lang="sv" sz="1100" u="none" cap="none" strike="noStrike">
                <a:solidFill>
                  <a:srgbClr val="000000"/>
                </a:solidFill>
                <a:latin typeface="Arial"/>
                <a:ea typeface="Arial"/>
                <a:cs typeface="Arial"/>
                <a:sym typeface="Arial"/>
              </a:rPr>
            </a:br>
            <a:r>
              <a:rPr b="0" i="0" lang="sv" sz="1100" u="none" cap="none" strike="noStrike">
                <a:solidFill>
                  <a:srgbClr val="000000"/>
                </a:solidFill>
                <a:latin typeface="Arial"/>
                <a:ea typeface="Arial"/>
                <a:cs typeface="Arial"/>
                <a:sym typeface="Arial"/>
              </a:rPr>
              <a:t> 🚩 </a:t>
            </a:r>
            <a:r>
              <a:rPr b="1" i="0" lang="sv" sz="1100" u="none" cap="none" strike="noStrike">
                <a:solidFill>
                  <a:srgbClr val="000000"/>
                </a:solidFill>
                <a:latin typeface="Arial"/>
                <a:ea typeface="Arial"/>
                <a:cs typeface="Arial"/>
                <a:sym typeface="Arial"/>
              </a:rPr>
              <a:t>"Kolla den där sluttningen, du är väl ingen mes?!"</a:t>
            </a:r>
            <a:r>
              <a:rPr b="0" i="0" lang="sv" sz="1100" u="none" cap="none" strike="noStrike">
                <a:solidFill>
                  <a:srgbClr val="000000"/>
                </a:solidFill>
                <a:latin typeface="Arial"/>
                <a:ea typeface="Arial"/>
                <a:cs typeface="Arial"/>
                <a:sym typeface="Arial"/>
              </a:rPr>
              <a:t> → Kan leda till att någon tappar kontrollen eller utlöser en lavin.</a:t>
            </a:r>
            <a:br>
              <a:rPr b="0" i="0" lang="sv" sz="1100" u="none" cap="none" strike="noStrike">
                <a:solidFill>
                  <a:srgbClr val="000000"/>
                </a:solidFill>
                <a:latin typeface="Arial"/>
                <a:ea typeface="Arial"/>
                <a:cs typeface="Arial"/>
                <a:sym typeface="Arial"/>
              </a:rPr>
            </a:br>
            <a:br>
              <a:rPr b="0" i="0" lang="sv" sz="1100" u="none" cap="none" strike="noStrike">
                <a:solidFill>
                  <a:srgbClr val="000000"/>
                </a:solidFill>
                <a:latin typeface="Arial"/>
                <a:ea typeface="Arial"/>
                <a:cs typeface="Arial"/>
                <a:sym typeface="Arial"/>
              </a:rPr>
            </a:br>
            <a:r>
              <a:rPr b="0" i="0" lang="sv" sz="1100" u="none" cap="none" strike="noStrike">
                <a:solidFill>
                  <a:srgbClr val="000000"/>
                </a:solidFill>
                <a:latin typeface="Arial"/>
                <a:ea typeface="Arial"/>
                <a:cs typeface="Arial"/>
                <a:sym typeface="Arial"/>
              </a:rPr>
              <a:t> 🚩 </a:t>
            </a:r>
            <a:r>
              <a:rPr b="1" i="0" lang="sv" sz="1100" u="none" cap="none" strike="noStrike">
                <a:solidFill>
                  <a:srgbClr val="000000"/>
                </a:solidFill>
                <a:latin typeface="Arial"/>
                <a:ea typeface="Arial"/>
                <a:cs typeface="Arial"/>
                <a:sym typeface="Arial"/>
              </a:rPr>
              <a:t>"Kom igen! Vi genar över isen, vi sparar tid."</a:t>
            </a:r>
            <a:r>
              <a:rPr b="0" i="0" lang="sv" sz="1100" u="none" cap="none" strike="noStrike">
                <a:solidFill>
                  <a:srgbClr val="000000"/>
                </a:solidFill>
                <a:latin typeface="Arial"/>
                <a:ea typeface="Arial"/>
                <a:cs typeface="Arial"/>
                <a:sym typeface="Arial"/>
              </a:rPr>
              <a:t> → Om isen är för tunn? </a:t>
            </a:r>
            <a:br>
              <a:rPr b="0" i="0" lang="sv" sz="1100" u="none" cap="none" strike="noStrike">
                <a:solidFill>
                  <a:srgbClr val="000000"/>
                </a:solidFill>
                <a:latin typeface="Arial"/>
                <a:ea typeface="Arial"/>
                <a:cs typeface="Arial"/>
                <a:sym typeface="Arial"/>
              </a:rPr>
            </a:br>
            <a:br>
              <a:rPr b="0" i="0" lang="sv" sz="1100" u="none" cap="none" strike="noStrike">
                <a:solidFill>
                  <a:srgbClr val="000000"/>
                </a:solidFill>
                <a:latin typeface="Arial"/>
                <a:ea typeface="Arial"/>
                <a:cs typeface="Arial"/>
                <a:sym typeface="Arial"/>
              </a:rPr>
            </a:br>
            <a:r>
              <a:rPr b="0" i="0" lang="sv" sz="1100" u="none" cap="none" strike="noStrike">
                <a:solidFill>
                  <a:srgbClr val="000000"/>
                </a:solidFill>
                <a:latin typeface="Arial"/>
                <a:ea typeface="Arial"/>
                <a:cs typeface="Arial"/>
                <a:sym typeface="Arial"/>
              </a:rPr>
              <a:t> 🚩 </a:t>
            </a:r>
            <a:r>
              <a:rPr b="1" i="0" lang="sv" sz="1100" u="none" cap="none" strike="noStrike">
                <a:solidFill>
                  <a:srgbClr val="000000"/>
                </a:solidFill>
                <a:latin typeface="Arial"/>
                <a:ea typeface="Arial"/>
                <a:cs typeface="Arial"/>
                <a:sym typeface="Arial"/>
              </a:rPr>
              <a:t>"Skit i hjälmen, det är bara en kort tur."</a:t>
            </a:r>
            <a:r>
              <a:rPr b="0" i="0" lang="sv" sz="1100" u="none" cap="none" strike="noStrike">
                <a:solidFill>
                  <a:srgbClr val="000000"/>
                </a:solidFill>
                <a:latin typeface="Arial"/>
                <a:ea typeface="Arial"/>
                <a:cs typeface="Arial"/>
                <a:sym typeface="Arial"/>
              </a:rPr>
              <a:t> → Hjälmen räddar ditt liv!</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1262" name="Google Shape;1262;p142"/>
          <p:cNvSpPr txBox="1"/>
          <p:nvPr/>
        </p:nvSpPr>
        <p:spPr>
          <a:xfrm>
            <a:off x="43425" y="3630300"/>
            <a:ext cx="9144000" cy="1513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000"/>
              <a:buFont typeface="Arial"/>
              <a:buNone/>
            </a:pPr>
            <a:r>
              <a:rPr b="0" i="0" lang="sv" sz="1000" u="none" cap="none" strike="noStrike">
                <a:solidFill>
                  <a:srgbClr val="000000"/>
                </a:solidFill>
                <a:latin typeface="Arial"/>
                <a:ea typeface="Arial"/>
                <a:cs typeface="Arial"/>
                <a:sym typeface="Arial"/>
              </a:rPr>
              <a:t> </a:t>
            </a:r>
            <a:r>
              <a:rPr b="0" i="0" lang="sv" sz="1100" u="none" cap="none" strike="noStrike">
                <a:solidFill>
                  <a:srgbClr val="000000"/>
                </a:solidFill>
                <a:latin typeface="Arial"/>
                <a:ea typeface="Arial"/>
                <a:cs typeface="Arial"/>
                <a:sym typeface="Arial"/>
              </a:rPr>
              <a:t>💚 </a:t>
            </a:r>
            <a:r>
              <a:rPr b="1" i="0" lang="sv" sz="1100" u="none" cap="none" strike="noStrike">
                <a:solidFill>
                  <a:srgbClr val="000000"/>
                </a:solidFill>
                <a:latin typeface="Arial"/>
                <a:ea typeface="Arial"/>
                <a:cs typeface="Arial"/>
                <a:sym typeface="Arial"/>
              </a:rPr>
              <a:t>"Vi ser till att alla har rätt kunskap och rätt utrustning innan vi åker ut"</a:t>
            </a:r>
            <a:r>
              <a:rPr b="0" i="0" lang="sv" sz="1100" u="none" cap="none" strike="noStrike">
                <a:solidFill>
                  <a:srgbClr val="000000"/>
                </a:solidFill>
                <a:latin typeface="Arial"/>
                <a:ea typeface="Arial"/>
                <a:cs typeface="Arial"/>
                <a:sym typeface="Arial"/>
              </a:rPr>
              <a:t>    💚 </a:t>
            </a:r>
            <a:r>
              <a:rPr b="1" i="0" lang="sv" sz="1100" u="none" cap="none" strike="noStrike">
                <a:solidFill>
                  <a:srgbClr val="000000"/>
                </a:solidFill>
                <a:latin typeface="Arial"/>
                <a:ea typeface="Arial"/>
                <a:cs typeface="Arial"/>
                <a:sym typeface="Arial"/>
              </a:rPr>
              <a:t>"Vi saktar ner om någon känner sig osäker"</a:t>
            </a:r>
            <a:br>
              <a:rPr b="1" i="0" lang="sv" sz="1100" u="none" cap="none" strike="noStrike">
                <a:solidFill>
                  <a:srgbClr val="000000"/>
                </a:solidFill>
                <a:latin typeface="Arial"/>
                <a:ea typeface="Arial"/>
                <a:cs typeface="Arial"/>
                <a:sym typeface="Arial"/>
              </a:rPr>
            </a:br>
            <a:br>
              <a:rPr b="1" i="0" lang="sv" sz="1100" u="none" cap="none" strike="noStrike">
                <a:solidFill>
                  <a:srgbClr val="000000"/>
                </a:solidFill>
                <a:latin typeface="Arial"/>
                <a:ea typeface="Arial"/>
                <a:cs typeface="Arial"/>
                <a:sym typeface="Arial"/>
              </a:rPr>
            </a:br>
            <a:r>
              <a:rPr b="0" i="0" lang="sv" sz="1100" u="none" cap="none" strike="noStrike">
                <a:solidFill>
                  <a:srgbClr val="000000"/>
                </a:solidFill>
                <a:latin typeface="Arial"/>
                <a:ea typeface="Arial"/>
                <a:cs typeface="Arial"/>
                <a:sym typeface="Arial"/>
              </a:rPr>
              <a:t> 💚 </a:t>
            </a:r>
            <a:r>
              <a:rPr b="1" i="0" lang="sv" sz="1100" u="none" cap="none" strike="noStrike">
                <a:solidFill>
                  <a:srgbClr val="000000"/>
                </a:solidFill>
                <a:latin typeface="Arial"/>
                <a:ea typeface="Arial"/>
                <a:cs typeface="Arial"/>
                <a:sym typeface="Arial"/>
              </a:rPr>
              <a:t>"Vi kör bara där vi vet att det är säkert, inget onödigt risktagande"           </a:t>
            </a:r>
            <a:r>
              <a:rPr b="0" i="0" lang="sv" sz="1100" u="none" cap="none" strike="noStrike">
                <a:solidFill>
                  <a:srgbClr val="000000"/>
                </a:solidFill>
                <a:latin typeface="Arial"/>
                <a:ea typeface="Arial"/>
                <a:cs typeface="Arial"/>
                <a:sym typeface="Arial"/>
              </a:rPr>
              <a:t>💚 </a:t>
            </a:r>
            <a:r>
              <a:rPr b="1" i="0" lang="sv" sz="1100" u="none" cap="none" strike="noStrike">
                <a:solidFill>
                  <a:srgbClr val="000000"/>
                </a:solidFill>
                <a:latin typeface="Arial"/>
                <a:ea typeface="Arial"/>
                <a:cs typeface="Arial"/>
                <a:sym typeface="Arial"/>
              </a:rPr>
              <a:t>"Om vi ska ut på is, kollar vi alltid istjockleken först"</a:t>
            </a:r>
            <a:r>
              <a:rPr b="0" i="0" lang="sv" sz="1100" u="none" cap="none" strike="noStrike">
                <a:solidFill>
                  <a:srgbClr val="000000"/>
                </a:solidFill>
                <a:latin typeface="Arial"/>
                <a:ea typeface="Arial"/>
                <a:cs typeface="Arial"/>
                <a:sym typeface="Arial"/>
              </a:rPr>
              <a:t> </a:t>
            </a:r>
            <a:br>
              <a:rPr b="0" i="0" lang="sv" sz="1100" u="none" cap="none" strike="noStrike">
                <a:solidFill>
                  <a:srgbClr val="000000"/>
                </a:solidFill>
                <a:latin typeface="Arial"/>
                <a:ea typeface="Arial"/>
                <a:cs typeface="Arial"/>
                <a:sym typeface="Arial"/>
              </a:rPr>
            </a:br>
            <a:br>
              <a:rPr b="0" i="0" lang="sv" sz="1100" u="none" cap="none" strike="noStrike">
                <a:solidFill>
                  <a:srgbClr val="000000"/>
                </a:solidFill>
                <a:latin typeface="Arial"/>
                <a:ea typeface="Arial"/>
                <a:cs typeface="Arial"/>
                <a:sym typeface="Arial"/>
              </a:rPr>
            </a:br>
            <a:r>
              <a:rPr b="0" i="0" lang="sv" sz="1100" u="none" cap="none" strike="noStrike">
                <a:solidFill>
                  <a:srgbClr val="000000"/>
                </a:solidFill>
                <a:latin typeface="Arial"/>
                <a:ea typeface="Arial"/>
                <a:cs typeface="Arial"/>
                <a:sym typeface="Arial"/>
              </a:rPr>
              <a:t> 💚 </a:t>
            </a:r>
            <a:r>
              <a:rPr b="1" i="0" lang="sv" sz="1100" u="none" cap="none" strike="noStrike">
                <a:solidFill>
                  <a:srgbClr val="000000"/>
                </a:solidFill>
                <a:latin typeface="Arial"/>
                <a:ea typeface="Arial"/>
                <a:cs typeface="Arial"/>
                <a:sym typeface="Arial"/>
              </a:rPr>
              <a:t>"Vi säger till om någon kör som en idiot – vi vill alla komma hem hela</a:t>
            </a:r>
            <a:r>
              <a:rPr b="1" i="0" lang="sv" sz="1000" u="none" cap="none" strike="noStrike">
                <a:solidFill>
                  <a:srgbClr val="000000"/>
                </a:solidFill>
                <a:latin typeface="Arial"/>
                <a:ea typeface="Arial"/>
                <a:cs typeface="Arial"/>
                <a:sym typeface="Arial"/>
              </a:rPr>
              <a:t>"    </a:t>
            </a:r>
            <a:r>
              <a:rPr b="0" i="0" lang="sv" sz="1100" u="none" cap="none" strike="noStrike">
                <a:solidFill>
                  <a:srgbClr val="000000"/>
                </a:solidFill>
                <a:latin typeface="Arial"/>
                <a:ea typeface="Arial"/>
                <a:cs typeface="Arial"/>
                <a:sym typeface="Arial"/>
              </a:rPr>
              <a:t>💚 </a:t>
            </a:r>
            <a:r>
              <a:rPr b="1" i="0" lang="sv" sz="1100" u="none" cap="none" strike="noStrike">
                <a:solidFill>
                  <a:srgbClr val="000000"/>
                </a:solidFill>
                <a:latin typeface="Arial"/>
                <a:ea typeface="Arial"/>
                <a:cs typeface="Arial"/>
                <a:sym typeface="Arial"/>
              </a:rPr>
              <a:t>"Vi stöttar och hjälper varandra i alla lägen"</a:t>
            </a:r>
            <a:r>
              <a:rPr b="0" i="0" lang="sv" sz="1100" u="none" cap="none" strike="noStrike">
                <a:solidFill>
                  <a:srgbClr val="000000"/>
                </a:solidFill>
                <a:latin typeface="Arial"/>
                <a:ea typeface="Arial"/>
                <a:cs typeface="Arial"/>
                <a:sym typeface="Arial"/>
              </a:rPr>
              <a:t> </a:t>
            </a:r>
            <a:endParaRPr b="1" i="0" sz="1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900"/>
              <a:buFont typeface="Arial"/>
              <a:buNone/>
            </a:pPr>
            <a:r>
              <a:t/>
            </a:r>
            <a:endParaRPr b="0" i="0" sz="1900" u="none" cap="none" strike="noStrike">
              <a:solidFill>
                <a:schemeClr val="dk2"/>
              </a:solidFill>
              <a:latin typeface="Arial"/>
              <a:ea typeface="Arial"/>
              <a:cs typeface="Arial"/>
              <a:sym typeface="Arial"/>
            </a:endParaRPr>
          </a:p>
        </p:txBody>
      </p:sp>
      <p:pic>
        <p:nvPicPr>
          <p:cNvPr id="1263" name="Google Shape;1263;p142" title="ChatGPT Image 25 sep. 2025 16_08_28.png"/>
          <p:cNvPicPr preferRelativeResize="0"/>
          <p:nvPr/>
        </p:nvPicPr>
        <p:blipFill rotWithShape="1">
          <a:blip r:embed="rId3">
            <a:alphaModFix/>
          </a:blip>
          <a:srcRect b="0" l="0" r="0" t="0"/>
          <a:stretch/>
        </p:blipFill>
        <p:spPr>
          <a:xfrm>
            <a:off x="110400" y="992482"/>
            <a:ext cx="2816402" cy="18776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143"/>
          <p:cNvSpPr txBox="1"/>
          <p:nvPr>
            <p:ph type="title"/>
          </p:nvPr>
        </p:nvSpPr>
        <p:spPr>
          <a:xfrm>
            <a:off x="0" y="85812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Våga säga ifrån!</a:t>
            </a:r>
            <a:endParaRPr/>
          </a:p>
        </p:txBody>
      </p:sp>
      <p:pic>
        <p:nvPicPr>
          <p:cNvPr id="1269" name="Google Shape;1269;p143" title="ChatGPT Image 25 sep. 2025 16_13_44.png"/>
          <p:cNvPicPr preferRelativeResize="0"/>
          <p:nvPr/>
        </p:nvPicPr>
        <p:blipFill rotWithShape="1">
          <a:blip r:embed="rId3">
            <a:alphaModFix/>
          </a:blip>
          <a:srcRect b="0" l="0" r="0" t="0"/>
          <a:stretch/>
        </p:blipFill>
        <p:spPr>
          <a:xfrm>
            <a:off x="2072225" y="1377350"/>
            <a:ext cx="4999538" cy="3333025"/>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3" name="Shape 1273"/>
        <p:cNvGrpSpPr/>
        <p:nvPr/>
      </p:nvGrpSpPr>
      <p:grpSpPr>
        <a:xfrm>
          <a:off x="0" y="0"/>
          <a:ext cx="0" cy="0"/>
          <a:chOff x="0" y="0"/>
          <a:chExt cx="0" cy="0"/>
        </a:xfrm>
      </p:grpSpPr>
      <p:pic>
        <p:nvPicPr>
          <p:cNvPr id="1274" name="Google Shape;1274;p145"/>
          <p:cNvPicPr preferRelativeResize="0"/>
          <p:nvPr/>
        </p:nvPicPr>
        <p:blipFill rotWithShape="1">
          <a:blip r:embed="rId3">
            <a:alphaModFix/>
          </a:blip>
          <a:srcRect b="0" l="0" r="0" t="0"/>
          <a:stretch/>
        </p:blipFill>
        <p:spPr>
          <a:xfrm>
            <a:off x="1111063" y="830950"/>
            <a:ext cx="6921875" cy="3886851"/>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pic>
        <p:nvPicPr>
          <p:cNvPr id="1279" name="Google Shape;1279;p146"/>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1280" name="Google Shape;1280;p14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0"/>
              </a:spcAft>
              <a:buSzPts val="2800"/>
              <a:buNone/>
            </a:pPr>
            <a:r>
              <a:rPr lang="sv"/>
              <a:t>MANÖVERTRÄNING &amp; PRAKTISK TILLÄMPNING</a:t>
            </a:r>
            <a:endParaRPr/>
          </a:p>
        </p:txBody>
      </p:sp>
      <p:cxnSp>
        <p:nvCxnSpPr>
          <p:cNvPr id="1281" name="Google Shape;1281;p146"/>
          <p:cNvCxnSpPr/>
          <p:nvPr/>
        </p:nvCxnSpPr>
        <p:spPr>
          <a:xfrm>
            <a:off x="2405775" y="3012900"/>
            <a:ext cx="4218000" cy="0"/>
          </a:xfrm>
          <a:prstGeom prst="straightConnector1">
            <a:avLst/>
          </a:prstGeom>
          <a:noFill/>
          <a:ln cap="flat" cmpd="sng" w="19050">
            <a:solidFill>
              <a:srgbClr val="999999"/>
            </a:solidFill>
            <a:prstDash val="solid"/>
            <a:round/>
            <a:headEnd len="med" w="med" type="diamond"/>
            <a:tailEnd len="med" w="med" type="diamond"/>
          </a:ln>
        </p:spPr>
      </p:cxnSp>
      <p:sp>
        <p:nvSpPr>
          <p:cNvPr id="1282" name="Google Shape;1282;p146"/>
          <p:cNvSpPr txBox="1"/>
          <p:nvPr/>
        </p:nvSpPr>
        <p:spPr>
          <a:xfrm>
            <a:off x="4028550" y="1977050"/>
            <a:ext cx="1086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sv" sz="1200" u="none" cap="none" strike="noStrike">
                <a:solidFill>
                  <a:srgbClr val="000000"/>
                </a:solidFill>
                <a:latin typeface="Arial"/>
                <a:ea typeface="Arial"/>
                <a:cs typeface="Arial"/>
                <a:sym typeface="Arial"/>
              </a:rPr>
              <a:t>KAPITEL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6" name="Shape 1286"/>
        <p:cNvGrpSpPr/>
        <p:nvPr/>
      </p:nvGrpSpPr>
      <p:grpSpPr>
        <a:xfrm>
          <a:off x="0" y="0"/>
          <a:ext cx="0" cy="0"/>
          <a:chOff x="0" y="0"/>
          <a:chExt cx="0" cy="0"/>
        </a:xfrm>
      </p:grpSpPr>
      <p:pic>
        <p:nvPicPr>
          <p:cNvPr id="1287" name="Google Shape;1287;p147"/>
          <p:cNvPicPr preferRelativeResize="0"/>
          <p:nvPr/>
        </p:nvPicPr>
        <p:blipFill rotWithShape="1">
          <a:blip r:embed="rId3">
            <a:alphaModFix amt="6000"/>
          </a:blip>
          <a:srcRect b="-699" l="0" r="0" t="11005"/>
          <a:stretch/>
        </p:blipFill>
        <p:spPr>
          <a:xfrm>
            <a:off x="0" y="561975"/>
            <a:ext cx="9144003" cy="4581526"/>
          </a:xfrm>
          <a:prstGeom prst="rect">
            <a:avLst/>
          </a:prstGeom>
          <a:noFill/>
          <a:ln>
            <a:noFill/>
          </a:ln>
        </p:spPr>
      </p:pic>
      <p:sp>
        <p:nvSpPr>
          <p:cNvPr id="1288" name="Google Shape;1288;p147"/>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Mål/Syfte</a:t>
            </a:r>
            <a:endParaRPr/>
          </a:p>
        </p:txBody>
      </p:sp>
      <p:sp>
        <p:nvSpPr>
          <p:cNvPr id="1289" name="Google Shape;1289;p147"/>
          <p:cNvSpPr txBox="1"/>
          <p:nvPr>
            <p:ph idx="1" type="body"/>
          </p:nvPr>
        </p:nvSpPr>
        <p:spPr>
          <a:xfrm>
            <a:off x="703375" y="1640425"/>
            <a:ext cx="8141400" cy="302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sv">
                <a:solidFill>
                  <a:schemeClr val="dk1"/>
                </a:solidFill>
              </a:rPr>
              <a:t>öka den personliga färdigheten avseende att framföra en snöskoter med olika körställningar på olika underlag och olika slags terräng. Att förstå syftet och behovet av att göra en säkerhetskontroll på sin snöskoter innan avfärd samt förstå de grundläggande principerna i hur man tar lös en fastkörd snöskoter.</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pic>
        <p:nvPicPr>
          <p:cNvPr id="1294" name="Google Shape;1294;p148" title="körtekniker 4 ojämnt underlag 1080p">
            <a:hlinkClick r:id="rId3"/>
          </p:cNvPr>
          <p:cNvPicPr preferRelativeResize="0"/>
          <p:nvPr/>
        </p:nvPicPr>
        <p:blipFill rotWithShape="1">
          <a:blip r:embed="rId4">
            <a:alphaModFix/>
          </a:blip>
          <a:srcRect b="0" l="0" r="0" t="0"/>
          <a:stretch/>
        </p:blipFill>
        <p:spPr>
          <a:xfrm>
            <a:off x="0" y="-857250"/>
            <a:ext cx="9144000" cy="685799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49"/>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sv"/>
              <a:t>Körställningar</a:t>
            </a:r>
            <a:endParaRPr/>
          </a:p>
        </p:txBody>
      </p:sp>
      <p:pic>
        <p:nvPicPr>
          <p:cNvPr id="1300" name="Google Shape;1300;p149"/>
          <p:cNvPicPr preferRelativeResize="0"/>
          <p:nvPr/>
        </p:nvPicPr>
        <p:blipFill rotWithShape="1">
          <a:blip r:embed="rId3">
            <a:alphaModFix/>
          </a:blip>
          <a:srcRect b="0" l="0" r="0" t="0"/>
          <a:stretch/>
        </p:blipFill>
        <p:spPr>
          <a:xfrm>
            <a:off x="152400" y="1505675"/>
            <a:ext cx="8839199" cy="3155103"/>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pic>
        <p:nvPicPr>
          <p:cNvPr id="1305" name="Google Shape;1305;p150"/>
          <p:cNvPicPr preferRelativeResize="0"/>
          <p:nvPr/>
        </p:nvPicPr>
        <p:blipFill rotWithShape="1">
          <a:blip r:embed="rId3">
            <a:alphaModFix/>
          </a:blip>
          <a:srcRect b="0" l="0" r="0" t="0"/>
          <a:stretch/>
        </p:blipFill>
        <p:spPr>
          <a:xfrm>
            <a:off x="152400" y="995975"/>
            <a:ext cx="8839199" cy="357251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pic>
        <p:nvPicPr>
          <p:cNvPr id="1310" name="Google Shape;1310;p151" title="körtekniker 5 backa med skoter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pic>
        <p:nvPicPr>
          <p:cNvPr id="1315" name="Google Shape;1315;p152"/>
          <p:cNvPicPr preferRelativeResize="0"/>
          <p:nvPr/>
        </p:nvPicPr>
        <p:blipFill rotWithShape="1">
          <a:blip r:embed="rId3">
            <a:alphaModFix/>
          </a:blip>
          <a:srcRect b="0" l="0" r="0" t="0"/>
          <a:stretch/>
        </p:blipFill>
        <p:spPr>
          <a:xfrm>
            <a:off x="228600" y="815375"/>
            <a:ext cx="8731224" cy="3922975"/>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pic>
        <p:nvPicPr>
          <p:cNvPr id="1320" name="Google Shape;1320;p153" title="körtekniker 3 utför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pic>
        <p:nvPicPr>
          <p:cNvPr id="1325" name="Google Shape;1325;p154"/>
          <p:cNvPicPr preferRelativeResize="0"/>
          <p:nvPr/>
        </p:nvPicPr>
        <p:blipFill rotWithShape="1">
          <a:blip r:embed="rId3">
            <a:alphaModFix/>
          </a:blip>
          <a:srcRect b="0" l="0" r="0" t="0"/>
          <a:stretch/>
        </p:blipFill>
        <p:spPr>
          <a:xfrm>
            <a:off x="152400" y="777275"/>
            <a:ext cx="8839199" cy="3977639"/>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pic>
        <p:nvPicPr>
          <p:cNvPr id="1330" name="Google Shape;1330;p155"/>
          <p:cNvPicPr preferRelativeResize="0"/>
          <p:nvPr/>
        </p:nvPicPr>
        <p:blipFill rotWithShape="1">
          <a:blip r:embed="rId3">
            <a:alphaModFix/>
          </a:blip>
          <a:srcRect b="0" l="228" r="238" t="0"/>
          <a:stretch/>
        </p:blipFill>
        <p:spPr>
          <a:xfrm>
            <a:off x="152400" y="777275"/>
            <a:ext cx="8839199" cy="3977639"/>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pic>
        <p:nvPicPr>
          <p:cNvPr id="1335" name="Google Shape;1335;p156"/>
          <p:cNvPicPr preferRelativeResize="0"/>
          <p:nvPr/>
        </p:nvPicPr>
        <p:blipFill rotWithShape="1">
          <a:blip r:embed="rId3">
            <a:alphaModFix/>
          </a:blip>
          <a:srcRect b="0" l="308" r="308" t="0"/>
          <a:stretch/>
        </p:blipFill>
        <p:spPr>
          <a:xfrm>
            <a:off x="152400" y="777275"/>
            <a:ext cx="8839199" cy="3977639"/>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pic>
        <p:nvPicPr>
          <p:cNvPr id="1340" name="Google Shape;1340;p157"/>
          <p:cNvPicPr preferRelativeResize="0"/>
          <p:nvPr/>
        </p:nvPicPr>
        <p:blipFill rotWithShape="1">
          <a:blip r:embed="rId3">
            <a:alphaModFix/>
          </a:blip>
          <a:srcRect b="0" l="308" r="308" t="0"/>
          <a:stretch/>
        </p:blipFill>
        <p:spPr>
          <a:xfrm>
            <a:off x="152400" y="777275"/>
            <a:ext cx="8839199" cy="3977639"/>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pic>
        <p:nvPicPr>
          <p:cNvPr id="1345" name="Google Shape;1345;p158" title="körtekniker 1 gyroeffekt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pic>
        <p:nvPicPr>
          <p:cNvPr id="1350" name="Google Shape;1350;p159" title="körtekniker 6 tippning 1080p">
            <a:hlinkClick r:id="rId3"/>
          </p:cNvPr>
          <p:cNvPicPr preferRelativeResize="0"/>
          <p:nvPr/>
        </p:nvPicPr>
        <p:blipFill rotWithShape="1">
          <a:blip r:embed="rId4">
            <a:alphaModFix/>
          </a:blip>
          <a:srcRect b="0" l="0" r="0" t="0"/>
          <a:stretch/>
        </p:blipFill>
        <p:spPr>
          <a:xfrm>
            <a:off x="0" y="-857250"/>
            <a:ext cx="9144000" cy="685800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pic>
        <p:nvPicPr>
          <p:cNvPr id="1355" name="Google Shape;1355;p160"/>
          <p:cNvPicPr preferRelativeResize="0"/>
          <p:nvPr/>
        </p:nvPicPr>
        <p:blipFill rotWithShape="1">
          <a:blip r:embed="rId3">
            <a:alphaModFix/>
          </a:blip>
          <a:srcRect b="8306" l="0" r="0" t="15275"/>
          <a:stretch/>
        </p:blipFill>
        <p:spPr>
          <a:xfrm>
            <a:off x="0" y="753550"/>
            <a:ext cx="9144001" cy="4389950"/>
          </a:xfrm>
          <a:prstGeom prst="rect">
            <a:avLst/>
          </a:prstGeom>
          <a:noFill/>
          <a:ln>
            <a:noFill/>
          </a:ln>
        </p:spPr>
      </p:pic>
      <p:pic>
        <p:nvPicPr>
          <p:cNvPr id="1356" name="Google Shape;1356;p160"/>
          <p:cNvPicPr preferRelativeResize="0"/>
          <p:nvPr/>
        </p:nvPicPr>
        <p:blipFill rotWithShape="1">
          <a:blip r:embed="rId4">
            <a:alphaModFix/>
          </a:blip>
          <a:srcRect b="0" l="0" r="0" t="0"/>
          <a:stretch/>
        </p:blipFill>
        <p:spPr>
          <a:xfrm>
            <a:off x="0" y="4762750"/>
            <a:ext cx="9143999" cy="380750"/>
          </a:xfrm>
          <a:prstGeom prst="rect">
            <a:avLst/>
          </a:prstGeom>
          <a:noFill/>
          <a:ln>
            <a:noFill/>
          </a:ln>
        </p:spPr>
      </p:pic>
      <p:sp>
        <p:nvSpPr>
          <p:cNvPr id="1357" name="Google Shape;1357;p160"/>
          <p:cNvSpPr txBox="1"/>
          <p:nvPr/>
        </p:nvSpPr>
        <p:spPr>
          <a:xfrm>
            <a:off x="66675" y="4829175"/>
            <a:ext cx="113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sv" sz="1000" u="none" cap="none" strike="noStrike">
                <a:solidFill>
                  <a:schemeClr val="lt1"/>
                </a:solidFill>
                <a:latin typeface="Arial"/>
                <a:ea typeface="Arial"/>
                <a:cs typeface="Arial"/>
                <a:sym typeface="Arial"/>
              </a:rPr>
              <a:t>snofed.se</a:t>
            </a:r>
            <a:endParaRPr b="0" i="0" sz="1000" u="none" cap="none" strike="noStrike">
              <a:solidFill>
                <a:schemeClr val="lt1"/>
              </a:solidFill>
              <a:latin typeface="Arial"/>
              <a:ea typeface="Arial"/>
              <a:cs typeface="Arial"/>
              <a:sym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161"/>
          <p:cNvSpPr txBox="1"/>
          <p:nvPr>
            <p:ph type="title"/>
          </p:nvPr>
        </p:nvSpPr>
        <p:spPr>
          <a:xfrm>
            <a:off x="0" y="932975"/>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SzPct val="111111"/>
              <a:buNone/>
            </a:pPr>
            <a:r>
              <a:rPr lang="sv"/>
              <a:t>Om du kört fast</a:t>
            </a:r>
            <a:endParaRPr/>
          </a:p>
        </p:txBody>
      </p:sp>
      <p:pic>
        <p:nvPicPr>
          <p:cNvPr id="1363" name="Google Shape;1363;p161"/>
          <p:cNvPicPr preferRelativeResize="0"/>
          <p:nvPr/>
        </p:nvPicPr>
        <p:blipFill rotWithShape="1">
          <a:blip r:embed="rId3">
            <a:alphaModFix/>
          </a:blip>
          <a:srcRect b="4141" l="0" r="0" t="0"/>
          <a:stretch/>
        </p:blipFill>
        <p:spPr>
          <a:xfrm>
            <a:off x="518550" y="1439375"/>
            <a:ext cx="8106901" cy="31951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144"/>
          <p:cNvSpPr txBox="1"/>
          <p:nvPr>
            <p:ph type="ctrTitle"/>
          </p:nvPr>
        </p:nvSpPr>
        <p:spPr>
          <a:xfrm>
            <a:off x="434975" y="339800"/>
            <a:ext cx="8438400" cy="972300"/>
          </a:xfrm>
          <a:prstGeom prst="rect">
            <a:avLst/>
          </a:prstGeom>
          <a:noFill/>
          <a:ln>
            <a:noFill/>
          </a:ln>
          <a:effectLst>
            <a:outerShdw blurRad="42863" rotWithShape="0" algn="bl" dir="5400000" dist="19050">
              <a:schemeClr val="dk2">
                <a:alpha val="50196"/>
              </a:schemeClr>
            </a:outerShdw>
          </a:effectLst>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lang="sv" sz="4200">
                <a:solidFill>
                  <a:srgbClr val="05A0D6"/>
                </a:solidFill>
              </a:rPr>
              <a:t>Lycka till!</a:t>
            </a:r>
            <a:endParaRPr sz="4200">
              <a:solidFill>
                <a:srgbClr val="05A0D6"/>
              </a:solidFill>
            </a:endParaRPr>
          </a:p>
        </p:txBody>
      </p:sp>
      <p:pic>
        <p:nvPicPr>
          <p:cNvPr id="1369" name="Google Shape;1369;p144"/>
          <p:cNvPicPr preferRelativeResize="0"/>
          <p:nvPr/>
        </p:nvPicPr>
        <p:blipFill rotWithShape="1">
          <a:blip r:embed="rId3">
            <a:alphaModFix/>
          </a:blip>
          <a:srcRect b="0" l="0" r="0" t="0"/>
          <a:stretch/>
        </p:blipFill>
        <p:spPr>
          <a:xfrm>
            <a:off x="6562175" y="609975"/>
            <a:ext cx="1849675" cy="1531900"/>
          </a:xfrm>
          <a:prstGeom prst="rect">
            <a:avLst/>
          </a:prstGeom>
          <a:noFill/>
          <a:ln>
            <a:noFill/>
          </a:ln>
        </p:spPr>
      </p:pic>
      <p:pic>
        <p:nvPicPr>
          <p:cNvPr id="1370" name="Google Shape;1370;p144"/>
          <p:cNvPicPr preferRelativeResize="0"/>
          <p:nvPr/>
        </p:nvPicPr>
        <p:blipFill rotWithShape="1">
          <a:blip r:embed="rId4">
            <a:alphaModFix/>
          </a:blip>
          <a:srcRect b="0" l="0" r="0" t="0"/>
          <a:stretch/>
        </p:blipFill>
        <p:spPr>
          <a:xfrm>
            <a:off x="434975" y="3519563"/>
            <a:ext cx="1935873" cy="972174"/>
          </a:xfrm>
          <a:prstGeom prst="rect">
            <a:avLst/>
          </a:prstGeom>
          <a:noFill/>
          <a:ln>
            <a:noFill/>
          </a:ln>
        </p:spPr>
      </p:pic>
      <p:pic>
        <p:nvPicPr>
          <p:cNvPr id="1371" name="Google Shape;1371;p144"/>
          <p:cNvPicPr preferRelativeResize="0"/>
          <p:nvPr/>
        </p:nvPicPr>
        <p:blipFill rotWithShape="1">
          <a:blip r:embed="rId5">
            <a:alphaModFix/>
          </a:blip>
          <a:srcRect b="0" l="0" r="0" t="0"/>
          <a:stretch/>
        </p:blipFill>
        <p:spPr>
          <a:xfrm>
            <a:off x="4023125" y="3065175"/>
            <a:ext cx="3287950" cy="1661275"/>
          </a:xfrm>
          <a:prstGeom prst="rect">
            <a:avLst/>
          </a:prstGeom>
          <a:noFill/>
          <a:ln>
            <a:noFill/>
          </a:ln>
          <a:effectLst>
            <a:outerShdw blurRad="314325" rotWithShape="0" algn="bl" dir="5400000" dist="47625">
              <a:srgbClr val="000000">
                <a:alpha val="89019"/>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595959"/>
      </a:dk1>
      <a:lt1>
        <a:srgbClr val="FFFFFF"/>
      </a:lt1>
      <a:dk2>
        <a:srgbClr val="595959"/>
      </a:dk2>
      <a:lt2>
        <a:srgbClr val="EEEEEE"/>
      </a:lt2>
      <a:accent1>
        <a:srgbClr val="4285F4"/>
      </a:accent1>
      <a:accent2>
        <a:srgbClr val="595959"/>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